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D6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320040"/>
            <a:ext cx="3246120" cy="301752"/>
          </a:xfrm>
          <a:prstGeom prst="roundRect">
            <a:avLst/>
          </a:prstGeom>
          <a:solidFill>
            <a:srgbClr val="1D6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27432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 Docker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4652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F6B7A"/>
                </a:solidFill>
                <a:latin typeface="Aptos"/>
              </a:rPr>
              <a:t>01/90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263640"/>
            <a:ext cx="10789920" cy="9144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713232"/>
            <a:ext cx="685800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72033"/>
                </a:solidFill>
                <a:latin typeface="Aptos"/>
              </a:rPr>
              <a:t>Docker : concepts, utilisation et bonnes pratiques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64208"/>
            <a:ext cx="612648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Comprendre les conteneurs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Lancer des applications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Travailler proprement en équipe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95160" y="914400"/>
            <a:ext cx="621792" cy="384048"/>
          </a:xfrm>
          <a:prstGeom prst="roundRect">
            <a:avLst/>
          </a:prstGeom>
          <a:solidFill>
            <a:srgbClr val="1D6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44968" y="914400"/>
            <a:ext cx="621792" cy="384048"/>
          </a:xfrm>
          <a:prstGeom prst="roundRect">
            <a:avLst/>
          </a:prstGeom>
          <a:solidFill>
            <a:srgbClr val="1D6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494776" y="914400"/>
            <a:ext cx="621792" cy="384048"/>
          </a:xfrm>
          <a:prstGeom prst="roundRect">
            <a:avLst/>
          </a:prstGeom>
          <a:solidFill>
            <a:srgbClr val="1D6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244584" y="914400"/>
            <a:ext cx="621792" cy="384048"/>
          </a:xfrm>
          <a:prstGeom prst="roundRect">
            <a:avLst/>
          </a:prstGeom>
          <a:solidFill>
            <a:srgbClr val="1D6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70064" y="1481328"/>
            <a:ext cx="621792" cy="384048"/>
          </a:xfrm>
          <a:prstGeom prst="roundRect">
            <a:avLst/>
          </a:prstGeom>
          <a:solidFill>
            <a:srgbClr val="D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19872" y="1481328"/>
            <a:ext cx="621792" cy="384048"/>
          </a:xfrm>
          <a:prstGeom prst="roundRect">
            <a:avLst/>
          </a:prstGeom>
          <a:solidFill>
            <a:srgbClr val="D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869679" y="1481328"/>
            <a:ext cx="621792" cy="384048"/>
          </a:xfrm>
          <a:prstGeom prst="roundRect">
            <a:avLst/>
          </a:prstGeom>
          <a:solidFill>
            <a:srgbClr val="D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744968" y="2048256"/>
            <a:ext cx="621792" cy="384048"/>
          </a:xfrm>
          <a:prstGeom prst="roundRect">
            <a:avLst/>
          </a:prstGeom>
          <a:solidFill>
            <a:srgbClr val="D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94776" y="2048256"/>
            <a:ext cx="621792" cy="384048"/>
          </a:xfrm>
          <a:prstGeom prst="roundRect">
            <a:avLst/>
          </a:prstGeom>
          <a:solidFill>
            <a:srgbClr val="D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922008" y="2907792"/>
            <a:ext cx="3246120" cy="384048"/>
          </a:xfrm>
          <a:prstGeom prst="roundRect">
            <a:avLst/>
          </a:prstGeom>
          <a:solidFill>
            <a:srgbClr val="1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95160" y="3017520"/>
            <a:ext cx="306324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containers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D6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320040"/>
            <a:ext cx="3246120" cy="301752"/>
          </a:xfrm>
          <a:prstGeom prst="roundRect">
            <a:avLst/>
          </a:prstGeom>
          <a:solidFill>
            <a:srgbClr val="1D6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27432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 Docker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4652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F6B7A"/>
                </a:solidFill>
                <a:latin typeface="Aptos"/>
              </a:rPr>
              <a:t>02/90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263640"/>
            <a:ext cx="10789920" cy="9144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713232"/>
            <a:ext cx="685800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72033"/>
                </a:solidFill>
                <a:latin typeface="Aptos"/>
              </a:rPr>
              <a:t>Objectifs de la formation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64208"/>
            <a:ext cx="612648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Identifier les bons usages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Manipuler images et conteneurs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Préparer des projets reproductibles</a:t>
            </a:r>
          </a:p>
        </p:txBody>
      </p:sp>
      <p:sp>
        <p:nvSpPr>
          <p:cNvPr id="9" name="Oval 8"/>
          <p:cNvSpPr/>
          <p:nvPr/>
        </p:nvSpPr>
        <p:spPr>
          <a:xfrm>
            <a:off x="7680960" y="1645920"/>
            <a:ext cx="402336" cy="402336"/>
          </a:xfrm>
          <a:prstGeom prst="ellipse">
            <a:avLst/>
          </a:prstGeom>
          <a:solidFill>
            <a:srgbClr val="1D6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0" y="1755648"/>
            <a:ext cx="402336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1737360"/>
            <a:ext cx="24688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72033"/>
                </a:solidFill>
                <a:latin typeface="Aptos"/>
              </a:rPr>
              <a:t>Comprendre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882128" y="2048256"/>
            <a:ext cx="0" cy="512064"/>
          </a:xfrm>
          <a:prstGeom prst="line">
            <a:avLst/>
          </a:prstGeom>
          <a:ln w="15240">
            <a:solidFill>
              <a:srgbClr val="B7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7680960" y="2560320"/>
            <a:ext cx="402336" cy="402336"/>
          </a:xfrm>
          <a:prstGeom prst="ellipse">
            <a:avLst/>
          </a:prstGeom>
          <a:solidFill>
            <a:srgbClr val="1D6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0" y="2670048"/>
            <a:ext cx="402336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651760"/>
            <a:ext cx="24688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72033"/>
                </a:solidFill>
                <a:latin typeface="Aptos"/>
              </a:rPr>
              <a:t>Lancer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882128" y="2962656"/>
            <a:ext cx="0" cy="512064"/>
          </a:xfrm>
          <a:prstGeom prst="line">
            <a:avLst/>
          </a:prstGeom>
          <a:ln w="15240">
            <a:solidFill>
              <a:srgbClr val="B7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7680960" y="3474720"/>
            <a:ext cx="402336" cy="402336"/>
          </a:xfrm>
          <a:prstGeom prst="ellipse">
            <a:avLst/>
          </a:prstGeom>
          <a:solidFill>
            <a:srgbClr val="1D6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0" y="3584448"/>
            <a:ext cx="402336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566160"/>
            <a:ext cx="24688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72033"/>
                </a:solidFill>
                <a:latin typeface="Aptos"/>
              </a:rPr>
              <a:t>Organiser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D6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320040"/>
            <a:ext cx="3246120" cy="301752"/>
          </a:xfrm>
          <a:prstGeom prst="roundRect">
            <a:avLst/>
          </a:prstGeom>
          <a:solidFill>
            <a:srgbClr val="1D6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27432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 Docker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4652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F6B7A"/>
                </a:solidFill>
                <a:latin typeface="Aptos"/>
              </a:rPr>
              <a:t>03/90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263640"/>
            <a:ext cx="10789920" cy="9144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713232"/>
            <a:ext cx="685800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72033"/>
                </a:solidFill>
                <a:latin typeface="Aptos"/>
              </a:rPr>
              <a:t>Docker en trois briques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64208"/>
            <a:ext cx="612648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Image : modèle de départ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Conteneur : application lancée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Engine : moteur d’exécution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2103120"/>
            <a:ext cx="1024128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D6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2377440"/>
            <a:ext cx="102412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D63ED"/>
                </a:solidFill>
                <a:latin typeface="Aptos"/>
              </a:rPr>
              <a:t>IMAGE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577071" y="2496312"/>
            <a:ext cx="201169" cy="0"/>
          </a:xfrm>
          <a:prstGeom prst="line">
            <a:avLst/>
          </a:prstGeom>
          <a:ln w="19050">
            <a:solidFill>
              <a:srgbClr val="B7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778240" y="2103120"/>
            <a:ext cx="1024128" cy="777240"/>
          </a:xfrm>
          <a:prstGeom prst="roundRect">
            <a:avLst/>
          </a:prstGeom>
          <a:solidFill>
            <a:srgbClr val="1D63ED"/>
          </a:solidFill>
          <a:ln w="12700">
            <a:solidFill>
              <a:srgbClr val="1D6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0" y="2377440"/>
            <a:ext cx="102412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CONTENEUR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811511" y="2496312"/>
            <a:ext cx="201169" cy="0"/>
          </a:xfrm>
          <a:prstGeom prst="line">
            <a:avLst/>
          </a:prstGeom>
          <a:ln w="19050">
            <a:solidFill>
              <a:srgbClr val="B7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0012680" y="2103120"/>
            <a:ext cx="1024128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D6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12680" y="2377440"/>
            <a:ext cx="102412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D63ED"/>
                </a:solidFill>
                <a:latin typeface="Aptos"/>
              </a:rPr>
              <a:t>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379476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Aptos"/>
              </a:rPr>
              <a:t>modèle → exécution → moteur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9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320040"/>
            <a:ext cx="3246120" cy="301752"/>
          </a:xfrm>
          <a:prstGeom prst="roundRect">
            <a:avLst/>
          </a:prstGeom>
          <a:solidFill>
            <a:srgbClr val="D9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27432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2.1 Problématique (Pourquoi Docker ?)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4652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F6B7A"/>
                </a:solidFill>
                <a:latin typeface="Aptos"/>
              </a:rPr>
              <a:t>04/90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263640"/>
            <a:ext cx="10789920" cy="9144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713232"/>
            <a:ext cx="685800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72033"/>
                </a:solidFill>
                <a:latin typeface="Aptos"/>
              </a:rPr>
              <a:t>Problèmes avant Docker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64208"/>
            <a:ext cx="612648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Applications installées à la main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Dépendances dispersées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Corrections lentes et risquées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60920" y="1600200"/>
            <a:ext cx="1078992" cy="1280160"/>
          </a:xfrm>
          <a:prstGeom prst="roundRect">
            <a:avLst/>
          </a:prstGeom>
          <a:solidFill>
            <a:srgbClr val="FFF3E9"/>
          </a:solidFill>
          <a:ln w="12700">
            <a:solidFill>
              <a:srgbClr val="D8B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60920" y="1828800"/>
            <a:ext cx="107899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72033"/>
                </a:solidFill>
                <a:latin typeface="Aptos"/>
              </a:rPr>
              <a:t>DEV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0920" y="2286000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F6B7A"/>
                </a:solidFill>
                <a:latin typeface="Aptos"/>
              </a:rPr>
              <a:t>v1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0" y="1920240"/>
            <a:ext cx="1078992" cy="1280160"/>
          </a:xfrm>
          <a:prstGeom prst="roundRect">
            <a:avLst/>
          </a:prstGeom>
          <a:solidFill>
            <a:srgbClr val="FFF9DF"/>
          </a:solidFill>
          <a:ln w="12700">
            <a:solidFill>
              <a:srgbClr val="D8B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2148840"/>
            <a:ext cx="107899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72033"/>
                </a:solidFill>
                <a:latin typeface="Aptos"/>
              </a:rPr>
              <a:t>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2606040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F6B7A"/>
                </a:solidFill>
                <a:latin typeface="Aptos"/>
              </a:rPr>
              <a:t>v2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12680" y="1600200"/>
            <a:ext cx="1078992" cy="1280160"/>
          </a:xfrm>
          <a:prstGeom prst="roundRect">
            <a:avLst/>
          </a:prstGeom>
          <a:solidFill>
            <a:srgbClr val="FEEDEE"/>
          </a:solidFill>
          <a:ln w="12700">
            <a:solidFill>
              <a:srgbClr val="D96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12680" y="1828800"/>
            <a:ext cx="107899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72033"/>
                </a:solidFill>
                <a:latin typeface="Aptos"/>
              </a:rPr>
              <a:t>PROD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12680" y="2286000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F6B7A"/>
                </a:solidFill>
                <a:latin typeface="Aptos"/>
              </a:rPr>
              <a:t>v3</a:t>
            </a:r>
          </a:p>
        </p:txBody>
      </p:sp>
      <p:sp>
        <p:nvSpPr>
          <p:cNvPr id="18" name="Isosceles Triangle 17"/>
          <p:cNvSpPr/>
          <p:nvPr/>
        </p:nvSpPr>
        <p:spPr>
          <a:xfrm>
            <a:off x="8531352" y="3657600"/>
            <a:ext cx="1188720" cy="1051560"/>
          </a:xfrm>
          <a:prstGeom prst="triangle">
            <a:avLst/>
          </a:prstGeom>
          <a:solidFill>
            <a:srgbClr val="D9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31352" y="3867912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493776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F6B7A"/>
                </a:solidFill>
                <a:latin typeface="Aptos"/>
              </a:rPr>
              <a:t>écarts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9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320040"/>
            <a:ext cx="3246120" cy="301752"/>
          </a:xfrm>
          <a:prstGeom prst="roundRect">
            <a:avLst/>
          </a:prstGeom>
          <a:solidFill>
            <a:srgbClr val="D9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27432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2.1 Problématique (Pourquoi Docker ?)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4652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F6B7A"/>
                </a:solidFill>
                <a:latin typeface="Aptos"/>
              </a:rPr>
              <a:t>05/90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263640"/>
            <a:ext cx="10789920" cy="9144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713232"/>
            <a:ext cx="685800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72033"/>
                </a:solidFill>
                <a:latin typeface="Aptos"/>
              </a:rPr>
              <a:t>Limites des installations classiques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64208"/>
            <a:ext cx="612648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Chaque serveur devient unique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Mises à jour manuelles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Retour arrière compliqué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60920" y="1600200"/>
            <a:ext cx="1078992" cy="1280160"/>
          </a:xfrm>
          <a:prstGeom prst="roundRect">
            <a:avLst/>
          </a:prstGeom>
          <a:solidFill>
            <a:srgbClr val="FFF3E9"/>
          </a:solidFill>
          <a:ln w="12700">
            <a:solidFill>
              <a:srgbClr val="D8B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60920" y="1828800"/>
            <a:ext cx="107899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72033"/>
                </a:solidFill>
                <a:latin typeface="Aptos"/>
              </a:rPr>
              <a:t>DEV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0920" y="2286000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F6B7A"/>
                </a:solidFill>
                <a:latin typeface="Aptos"/>
              </a:rPr>
              <a:t>v1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0" y="1920240"/>
            <a:ext cx="1078992" cy="1280160"/>
          </a:xfrm>
          <a:prstGeom prst="roundRect">
            <a:avLst/>
          </a:prstGeom>
          <a:solidFill>
            <a:srgbClr val="FFF9DF"/>
          </a:solidFill>
          <a:ln w="12700">
            <a:solidFill>
              <a:srgbClr val="D8B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2148840"/>
            <a:ext cx="107899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72033"/>
                </a:solidFill>
                <a:latin typeface="Aptos"/>
              </a:rPr>
              <a:t>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2606040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F6B7A"/>
                </a:solidFill>
                <a:latin typeface="Aptos"/>
              </a:rPr>
              <a:t>v2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12680" y="1600200"/>
            <a:ext cx="1078992" cy="1280160"/>
          </a:xfrm>
          <a:prstGeom prst="roundRect">
            <a:avLst/>
          </a:prstGeom>
          <a:solidFill>
            <a:srgbClr val="FEEDEE"/>
          </a:solidFill>
          <a:ln w="12700">
            <a:solidFill>
              <a:srgbClr val="D96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12680" y="1828800"/>
            <a:ext cx="107899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72033"/>
                </a:solidFill>
                <a:latin typeface="Aptos"/>
              </a:rPr>
              <a:t>PROD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12680" y="2286000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F6B7A"/>
                </a:solidFill>
                <a:latin typeface="Aptos"/>
              </a:rPr>
              <a:t>v3</a:t>
            </a:r>
          </a:p>
        </p:txBody>
      </p:sp>
      <p:sp>
        <p:nvSpPr>
          <p:cNvPr id="18" name="Isosceles Triangle 17"/>
          <p:cNvSpPr/>
          <p:nvPr/>
        </p:nvSpPr>
        <p:spPr>
          <a:xfrm>
            <a:off x="8531352" y="3657600"/>
            <a:ext cx="1188720" cy="1051560"/>
          </a:xfrm>
          <a:prstGeom prst="triangle">
            <a:avLst/>
          </a:prstGeom>
          <a:solidFill>
            <a:srgbClr val="D9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31352" y="3867912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493776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F6B7A"/>
                </a:solidFill>
                <a:latin typeface="Aptos"/>
              </a:rPr>
              <a:t>écarts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9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320040"/>
            <a:ext cx="3246120" cy="301752"/>
          </a:xfrm>
          <a:prstGeom prst="roundRect">
            <a:avLst/>
          </a:prstGeom>
          <a:solidFill>
            <a:srgbClr val="D9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27432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2.1 Problématique (Pourquoi Docker ?)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4652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F6B7A"/>
                </a:solidFill>
                <a:latin typeface="Aptos"/>
              </a:rPr>
              <a:t>06/90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263640"/>
            <a:ext cx="10789920" cy="9144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713232"/>
            <a:ext cx="685800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72033"/>
                </a:solidFill>
                <a:latin typeface="Aptos"/>
              </a:rPr>
              <a:t>Environnements incohérents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64208"/>
            <a:ext cx="612648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Développement, test et production diffèrent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Versions parfois incompatibles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Erreurs difficiles à reproduire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60920" y="1600200"/>
            <a:ext cx="1078992" cy="1280160"/>
          </a:xfrm>
          <a:prstGeom prst="roundRect">
            <a:avLst/>
          </a:prstGeom>
          <a:solidFill>
            <a:srgbClr val="FFF3E9"/>
          </a:solidFill>
          <a:ln w="12700">
            <a:solidFill>
              <a:srgbClr val="D8B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60920" y="1828800"/>
            <a:ext cx="107899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72033"/>
                </a:solidFill>
                <a:latin typeface="Aptos"/>
              </a:rPr>
              <a:t>DEV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0920" y="2286000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F6B7A"/>
                </a:solidFill>
                <a:latin typeface="Aptos"/>
              </a:rPr>
              <a:t>v1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0" y="1920240"/>
            <a:ext cx="1078992" cy="1280160"/>
          </a:xfrm>
          <a:prstGeom prst="roundRect">
            <a:avLst/>
          </a:prstGeom>
          <a:solidFill>
            <a:srgbClr val="FFF9DF"/>
          </a:solidFill>
          <a:ln w="12700">
            <a:solidFill>
              <a:srgbClr val="D8B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2148840"/>
            <a:ext cx="107899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72033"/>
                </a:solidFill>
                <a:latin typeface="Aptos"/>
              </a:rPr>
              <a:t>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2606040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F6B7A"/>
                </a:solidFill>
                <a:latin typeface="Aptos"/>
              </a:rPr>
              <a:t>v2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12680" y="1600200"/>
            <a:ext cx="1078992" cy="1280160"/>
          </a:xfrm>
          <a:prstGeom prst="roundRect">
            <a:avLst/>
          </a:prstGeom>
          <a:solidFill>
            <a:srgbClr val="FEEDEE"/>
          </a:solidFill>
          <a:ln w="12700">
            <a:solidFill>
              <a:srgbClr val="D96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12680" y="1828800"/>
            <a:ext cx="107899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72033"/>
                </a:solidFill>
                <a:latin typeface="Aptos"/>
              </a:rPr>
              <a:t>PROD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12680" y="2286000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F6B7A"/>
                </a:solidFill>
                <a:latin typeface="Aptos"/>
              </a:rPr>
              <a:t>v3</a:t>
            </a:r>
          </a:p>
        </p:txBody>
      </p:sp>
      <p:sp>
        <p:nvSpPr>
          <p:cNvPr id="18" name="Isosceles Triangle 17"/>
          <p:cNvSpPr/>
          <p:nvPr/>
        </p:nvSpPr>
        <p:spPr>
          <a:xfrm>
            <a:off x="8531352" y="3657600"/>
            <a:ext cx="1188720" cy="1051560"/>
          </a:xfrm>
          <a:prstGeom prst="triangle">
            <a:avLst/>
          </a:prstGeom>
          <a:solidFill>
            <a:srgbClr val="D9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31352" y="3867912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493776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F6B7A"/>
                </a:solidFill>
                <a:latin typeface="Aptos"/>
              </a:rPr>
              <a:t>écarts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9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320040"/>
            <a:ext cx="3246120" cy="301752"/>
          </a:xfrm>
          <a:prstGeom prst="roundRect">
            <a:avLst/>
          </a:prstGeom>
          <a:solidFill>
            <a:srgbClr val="D9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27432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2.1 Problématique (Pourquoi Docker ?)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4652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F6B7A"/>
                </a:solidFill>
                <a:latin typeface="Aptos"/>
              </a:rPr>
              <a:t>07/90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263640"/>
            <a:ext cx="10789920" cy="9144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713232"/>
            <a:ext cx="685800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72033"/>
                </a:solidFill>
                <a:latin typeface="Aptos"/>
              </a:rPr>
              <a:t>« It works on my machine 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64208"/>
            <a:ext cx="612648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Le poste local cache le vrai problème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La production n’a pas les mêmes réglages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Le diagnostic prend du temps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60920" y="1600200"/>
            <a:ext cx="1078992" cy="1280160"/>
          </a:xfrm>
          <a:prstGeom prst="roundRect">
            <a:avLst/>
          </a:prstGeom>
          <a:solidFill>
            <a:srgbClr val="FFF3E9"/>
          </a:solidFill>
          <a:ln w="12700">
            <a:solidFill>
              <a:srgbClr val="D8B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60920" y="1828800"/>
            <a:ext cx="107899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72033"/>
                </a:solidFill>
                <a:latin typeface="Aptos"/>
              </a:rPr>
              <a:t>DEV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0920" y="2286000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F6B7A"/>
                </a:solidFill>
                <a:latin typeface="Aptos"/>
              </a:rPr>
              <a:t>v1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0" y="1920240"/>
            <a:ext cx="1078992" cy="1280160"/>
          </a:xfrm>
          <a:prstGeom prst="roundRect">
            <a:avLst/>
          </a:prstGeom>
          <a:solidFill>
            <a:srgbClr val="FFF9DF"/>
          </a:solidFill>
          <a:ln w="12700">
            <a:solidFill>
              <a:srgbClr val="D8B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2148840"/>
            <a:ext cx="107899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72033"/>
                </a:solidFill>
                <a:latin typeface="Aptos"/>
              </a:rPr>
              <a:t>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2606040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F6B7A"/>
                </a:solidFill>
                <a:latin typeface="Aptos"/>
              </a:rPr>
              <a:t>v2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12680" y="1600200"/>
            <a:ext cx="1078992" cy="1280160"/>
          </a:xfrm>
          <a:prstGeom prst="roundRect">
            <a:avLst/>
          </a:prstGeom>
          <a:solidFill>
            <a:srgbClr val="FEEDEE"/>
          </a:solidFill>
          <a:ln w="12700">
            <a:solidFill>
              <a:srgbClr val="D96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12680" y="1828800"/>
            <a:ext cx="107899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72033"/>
                </a:solidFill>
                <a:latin typeface="Aptos"/>
              </a:rPr>
              <a:t>PROD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12680" y="2286000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F6B7A"/>
                </a:solidFill>
                <a:latin typeface="Aptos"/>
              </a:rPr>
              <a:t>v3</a:t>
            </a:r>
          </a:p>
        </p:txBody>
      </p:sp>
      <p:sp>
        <p:nvSpPr>
          <p:cNvPr id="18" name="Isosceles Triangle 17"/>
          <p:cNvSpPr/>
          <p:nvPr/>
        </p:nvSpPr>
        <p:spPr>
          <a:xfrm>
            <a:off x="8531352" y="3657600"/>
            <a:ext cx="1188720" cy="1051560"/>
          </a:xfrm>
          <a:prstGeom prst="triangle">
            <a:avLst/>
          </a:prstGeom>
          <a:solidFill>
            <a:srgbClr val="D9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31352" y="3867912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493776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F6B7A"/>
                </a:solidFill>
                <a:latin typeface="Aptos"/>
              </a:rPr>
              <a:t>écarts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9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320040"/>
            <a:ext cx="3246120" cy="301752"/>
          </a:xfrm>
          <a:prstGeom prst="roundRect">
            <a:avLst/>
          </a:prstGeom>
          <a:solidFill>
            <a:srgbClr val="D9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27432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2.1 Problématique (Pourquoi Docker ?)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4652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F6B7A"/>
                </a:solidFill>
                <a:latin typeface="Aptos"/>
              </a:rPr>
              <a:t>08/90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263640"/>
            <a:ext cx="10789920" cy="9144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713232"/>
            <a:ext cx="685800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72033"/>
                </a:solidFill>
                <a:latin typeface="Aptos"/>
              </a:rPr>
              <a:t>Besoin de portabilité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64208"/>
            <a:ext cx="612648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Emballer l’application avec ses dépendances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Déplacer le même paquet partout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Réduire les surprises au déploiement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60920" y="1600200"/>
            <a:ext cx="1078992" cy="1280160"/>
          </a:xfrm>
          <a:prstGeom prst="roundRect">
            <a:avLst/>
          </a:prstGeom>
          <a:solidFill>
            <a:srgbClr val="FFF3E9"/>
          </a:solidFill>
          <a:ln w="12700">
            <a:solidFill>
              <a:srgbClr val="D8B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60920" y="1828800"/>
            <a:ext cx="107899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72033"/>
                </a:solidFill>
                <a:latin typeface="Aptos"/>
              </a:rPr>
              <a:t>DEV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0920" y="2286000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F6B7A"/>
                </a:solidFill>
                <a:latin typeface="Aptos"/>
              </a:rPr>
              <a:t>v1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0" y="1920240"/>
            <a:ext cx="1078992" cy="1280160"/>
          </a:xfrm>
          <a:prstGeom prst="roundRect">
            <a:avLst/>
          </a:prstGeom>
          <a:solidFill>
            <a:srgbClr val="FFF9DF"/>
          </a:solidFill>
          <a:ln w="12700">
            <a:solidFill>
              <a:srgbClr val="D8B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2148840"/>
            <a:ext cx="107899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72033"/>
                </a:solidFill>
                <a:latin typeface="Aptos"/>
              </a:rPr>
              <a:t>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2606040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F6B7A"/>
                </a:solidFill>
                <a:latin typeface="Aptos"/>
              </a:rPr>
              <a:t>v2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12680" y="1600200"/>
            <a:ext cx="1078992" cy="1280160"/>
          </a:xfrm>
          <a:prstGeom prst="roundRect">
            <a:avLst/>
          </a:prstGeom>
          <a:solidFill>
            <a:srgbClr val="FEEDEE"/>
          </a:solidFill>
          <a:ln w="12700">
            <a:solidFill>
              <a:srgbClr val="D96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12680" y="1828800"/>
            <a:ext cx="107899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72033"/>
                </a:solidFill>
                <a:latin typeface="Aptos"/>
              </a:rPr>
              <a:t>PROD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12680" y="2286000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F6B7A"/>
                </a:solidFill>
                <a:latin typeface="Aptos"/>
              </a:rPr>
              <a:t>v3</a:t>
            </a:r>
          </a:p>
        </p:txBody>
      </p:sp>
      <p:sp>
        <p:nvSpPr>
          <p:cNvPr id="18" name="Isosceles Triangle 17"/>
          <p:cNvSpPr/>
          <p:nvPr/>
        </p:nvSpPr>
        <p:spPr>
          <a:xfrm>
            <a:off x="8531352" y="3657600"/>
            <a:ext cx="1188720" cy="1051560"/>
          </a:xfrm>
          <a:prstGeom prst="triangle">
            <a:avLst/>
          </a:prstGeom>
          <a:solidFill>
            <a:srgbClr val="D9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31352" y="3867912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493776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F6B7A"/>
                </a:solidFill>
                <a:latin typeface="Aptos"/>
              </a:rPr>
              <a:t>écarts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9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320040"/>
            <a:ext cx="3246120" cy="301752"/>
          </a:xfrm>
          <a:prstGeom prst="roundRect">
            <a:avLst/>
          </a:prstGeom>
          <a:solidFill>
            <a:srgbClr val="D9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27432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2.1 Problématique (Pourquoi Docker ?)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4652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F6B7A"/>
                </a:solidFill>
                <a:latin typeface="Aptos"/>
              </a:rPr>
              <a:t>09/90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263640"/>
            <a:ext cx="10789920" cy="9144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713232"/>
            <a:ext cx="685800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72033"/>
                </a:solidFill>
                <a:latin typeface="Aptos"/>
              </a:rPr>
              <a:t>Besoin de rapidité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64208"/>
            <a:ext cx="612648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Installer moins de choses à la main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Démarrer en quelques secondes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Tester plus souvent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60920" y="1600200"/>
            <a:ext cx="1078992" cy="1280160"/>
          </a:xfrm>
          <a:prstGeom prst="roundRect">
            <a:avLst/>
          </a:prstGeom>
          <a:solidFill>
            <a:srgbClr val="FFF3E9"/>
          </a:solidFill>
          <a:ln w="12700">
            <a:solidFill>
              <a:srgbClr val="D8B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60920" y="1828800"/>
            <a:ext cx="107899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72033"/>
                </a:solidFill>
                <a:latin typeface="Aptos"/>
              </a:rPr>
              <a:t>DEV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0920" y="2286000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F6B7A"/>
                </a:solidFill>
                <a:latin typeface="Aptos"/>
              </a:rPr>
              <a:t>v1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0" y="1920240"/>
            <a:ext cx="1078992" cy="1280160"/>
          </a:xfrm>
          <a:prstGeom prst="roundRect">
            <a:avLst/>
          </a:prstGeom>
          <a:solidFill>
            <a:srgbClr val="FFF9DF"/>
          </a:solidFill>
          <a:ln w="12700">
            <a:solidFill>
              <a:srgbClr val="D8B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2148840"/>
            <a:ext cx="107899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72033"/>
                </a:solidFill>
                <a:latin typeface="Aptos"/>
              </a:rPr>
              <a:t>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2606040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F6B7A"/>
                </a:solidFill>
                <a:latin typeface="Aptos"/>
              </a:rPr>
              <a:t>v2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12680" y="1600200"/>
            <a:ext cx="1078992" cy="1280160"/>
          </a:xfrm>
          <a:prstGeom prst="roundRect">
            <a:avLst/>
          </a:prstGeom>
          <a:solidFill>
            <a:srgbClr val="FEEDEE"/>
          </a:solidFill>
          <a:ln w="12700">
            <a:solidFill>
              <a:srgbClr val="D96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12680" y="1828800"/>
            <a:ext cx="107899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72033"/>
                </a:solidFill>
                <a:latin typeface="Aptos"/>
              </a:rPr>
              <a:t>PROD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12680" y="2286000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F6B7A"/>
                </a:solidFill>
                <a:latin typeface="Aptos"/>
              </a:rPr>
              <a:t>v3</a:t>
            </a:r>
          </a:p>
        </p:txBody>
      </p:sp>
      <p:sp>
        <p:nvSpPr>
          <p:cNvPr id="18" name="Isosceles Triangle 17"/>
          <p:cNvSpPr/>
          <p:nvPr/>
        </p:nvSpPr>
        <p:spPr>
          <a:xfrm>
            <a:off x="8531352" y="3657600"/>
            <a:ext cx="1188720" cy="1051560"/>
          </a:xfrm>
          <a:prstGeom prst="triangle">
            <a:avLst/>
          </a:prstGeom>
          <a:solidFill>
            <a:srgbClr val="D9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31352" y="3867912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493776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F6B7A"/>
                </a:solidFill>
                <a:latin typeface="Aptos"/>
              </a:rPr>
              <a:t>écarts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9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320040"/>
            <a:ext cx="3246120" cy="301752"/>
          </a:xfrm>
          <a:prstGeom prst="roundRect">
            <a:avLst/>
          </a:prstGeom>
          <a:solidFill>
            <a:srgbClr val="D9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27432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2.1 Problématique (Pourquoi Docker ?)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4652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F6B7A"/>
                </a:solidFill>
                <a:latin typeface="Aptos"/>
              </a:rPr>
              <a:t>10/90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263640"/>
            <a:ext cx="10789920" cy="9144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713232"/>
            <a:ext cx="685800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72033"/>
                </a:solidFill>
                <a:latin typeface="Aptos"/>
              </a:rPr>
              <a:t>Besoin de standardisation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64208"/>
            <a:ext cx="612648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Même format pour livrer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Mêmes commandes pour exécuter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Pipeline CI/CD plus simple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60920" y="1600200"/>
            <a:ext cx="1078992" cy="1280160"/>
          </a:xfrm>
          <a:prstGeom prst="roundRect">
            <a:avLst/>
          </a:prstGeom>
          <a:solidFill>
            <a:srgbClr val="FFF3E9"/>
          </a:solidFill>
          <a:ln w="12700">
            <a:solidFill>
              <a:srgbClr val="D8B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60920" y="1828800"/>
            <a:ext cx="107899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72033"/>
                </a:solidFill>
                <a:latin typeface="Aptos"/>
              </a:rPr>
              <a:t>DEV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0920" y="2286000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F6B7A"/>
                </a:solidFill>
                <a:latin typeface="Aptos"/>
              </a:rPr>
              <a:t>v1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0" y="1920240"/>
            <a:ext cx="1078992" cy="1280160"/>
          </a:xfrm>
          <a:prstGeom prst="roundRect">
            <a:avLst/>
          </a:prstGeom>
          <a:solidFill>
            <a:srgbClr val="FFF9DF"/>
          </a:solidFill>
          <a:ln w="12700">
            <a:solidFill>
              <a:srgbClr val="D8B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2148840"/>
            <a:ext cx="107899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72033"/>
                </a:solidFill>
                <a:latin typeface="Aptos"/>
              </a:rPr>
              <a:t>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2606040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F6B7A"/>
                </a:solidFill>
                <a:latin typeface="Aptos"/>
              </a:rPr>
              <a:t>v2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12680" y="1600200"/>
            <a:ext cx="1078992" cy="1280160"/>
          </a:xfrm>
          <a:prstGeom prst="roundRect">
            <a:avLst/>
          </a:prstGeom>
          <a:solidFill>
            <a:srgbClr val="FEEDEE"/>
          </a:solidFill>
          <a:ln w="12700">
            <a:solidFill>
              <a:srgbClr val="D96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12680" y="1828800"/>
            <a:ext cx="107899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72033"/>
                </a:solidFill>
                <a:latin typeface="Aptos"/>
              </a:rPr>
              <a:t>PROD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12680" y="2286000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F6B7A"/>
                </a:solidFill>
                <a:latin typeface="Aptos"/>
              </a:rPr>
              <a:t>v3</a:t>
            </a:r>
          </a:p>
        </p:txBody>
      </p:sp>
      <p:sp>
        <p:nvSpPr>
          <p:cNvPr id="18" name="Isosceles Triangle 17"/>
          <p:cNvSpPr/>
          <p:nvPr/>
        </p:nvSpPr>
        <p:spPr>
          <a:xfrm>
            <a:off x="8531352" y="3657600"/>
            <a:ext cx="1188720" cy="1051560"/>
          </a:xfrm>
          <a:prstGeom prst="triangle">
            <a:avLst/>
          </a:prstGeom>
          <a:solidFill>
            <a:srgbClr val="D9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31352" y="3867912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493776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F6B7A"/>
                </a:solidFill>
                <a:latin typeface="Aptos"/>
              </a:rPr>
              <a:t>écarts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320040"/>
            <a:ext cx="3246120" cy="301752"/>
          </a:xfrm>
          <a:prstGeom prst="roundRect">
            <a:avLst/>
          </a:prstGeom>
          <a:solidFill>
            <a:srgbClr val="16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27432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2.2 Conteneurisation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4652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F6B7A"/>
                </a:solidFill>
                <a:latin typeface="Aptos"/>
              </a:rPr>
              <a:t>11/90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263640"/>
            <a:ext cx="10789920" cy="9144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713232"/>
            <a:ext cx="685800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72033"/>
                </a:solidFill>
                <a:latin typeface="Aptos"/>
              </a:rPr>
              <a:t>Définition de la conteneurisation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64208"/>
            <a:ext cx="612648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Isoler une application dans un conteneur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Inclure ses dépendances utiles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Partager le noyau de la machine hôte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1234440"/>
            <a:ext cx="3977639" cy="3429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A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53528" y="143560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5F6B7A"/>
                </a:solidFill>
                <a:latin typeface="Aptos"/>
              </a:rPr>
              <a:t>HÔTE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36408" y="1984248"/>
            <a:ext cx="1417320" cy="1737360"/>
          </a:xfrm>
          <a:prstGeom prst="roundRect">
            <a:avLst/>
          </a:prstGeom>
          <a:solidFill>
            <a:srgbClr val="EFF7F6"/>
          </a:solidFill>
          <a:ln w="13970">
            <a:solidFill>
              <a:srgbClr val="168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36408" y="216712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72033"/>
                </a:solidFill>
                <a:latin typeface="Aptos"/>
              </a:rPr>
              <a:t>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36408" y="2624328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F6B7A"/>
                </a:solidFill>
                <a:latin typeface="Aptos"/>
              </a:rPr>
              <a:t>deps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36408" y="2971800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F6B7A"/>
                </a:solidFill>
                <a:latin typeface="Aptos"/>
              </a:rPr>
              <a:t>bin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10928" y="1984248"/>
            <a:ext cx="1417320" cy="1737360"/>
          </a:xfrm>
          <a:prstGeom prst="roundRect">
            <a:avLst/>
          </a:prstGeom>
          <a:solidFill>
            <a:srgbClr val="F4F1FB"/>
          </a:solidFill>
          <a:ln w="13970">
            <a:solidFill>
              <a:srgbClr val="705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10928" y="216712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72033"/>
                </a:solidFill>
                <a:latin typeface="Aptos"/>
              </a:rPr>
              <a:t>DB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10928" y="2624328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F6B7A"/>
                </a:solidFill>
                <a:latin typeface="Aptos"/>
              </a:rPr>
              <a:t>deps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10928" y="2971800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F6B7A"/>
                </a:solidFill>
                <a:latin typeface="Aptos"/>
              </a:rPr>
              <a:t>bin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36408" y="3977640"/>
            <a:ext cx="3246120" cy="347472"/>
          </a:xfrm>
          <a:prstGeom prst="rect">
            <a:avLst/>
          </a:prstGeom>
          <a:solidFill>
            <a:srgbClr val="16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36408" y="4050792"/>
            <a:ext cx="32461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noyau partagé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320040"/>
            <a:ext cx="3246120" cy="301752"/>
          </a:xfrm>
          <a:prstGeom prst="roundRect">
            <a:avLst/>
          </a:prstGeom>
          <a:solidFill>
            <a:srgbClr val="16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27432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2.2 Conteneurisation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4652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F6B7A"/>
                </a:solidFill>
                <a:latin typeface="Aptos"/>
              </a:rPr>
              <a:t>12/90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263640"/>
            <a:ext cx="10789920" cy="9144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713232"/>
            <a:ext cx="685800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72033"/>
                </a:solidFill>
                <a:latin typeface="Aptos"/>
              </a:rPr>
              <a:t>Conteneur vs machine virtuelle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64208"/>
            <a:ext cx="612648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Une VM embarque un OS complet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Un conteneur partage le noyau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Le conteneur est souvent plus léger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1188720"/>
            <a:ext cx="169164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0" y="141732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4B6078"/>
                </a:solidFill>
                <a:latin typeface="Aptos"/>
              </a:rPr>
              <a:t>VM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43800" y="1965960"/>
            <a:ext cx="1234440" cy="384048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43800" y="2057400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72033"/>
                </a:solidFill>
                <a:latin typeface="Aptos"/>
              </a:rPr>
              <a:t>APP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43800" y="2587752"/>
            <a:ext cx="1234440" cy="384048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43800" y="2679192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72033"/>
                </a:solidFill>
                <a:latin typeface="Aptos"/>
              </a:rPr>
              <a:t>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43800" y="3209544"/>
            <a:ext cx="1234440" cy="384048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43800" y="3300984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72033"/>
                </a:solidFill>
                <a:latin typeface="Aptos"/>
              </a:rPr>
              <a:t>HYP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81160" y="1188720"/>
            <a:ext cx="169164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81160" y="141732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68A7A"/>
                </a:solidFill>
                <a:latin typeface="Aptos"/>
              </a:rPr>
              <a:t>CONTENEUR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509760" y="1965960"/>
            <a:ext cx="1234440" cy="384048"/>
          </a:xfrm>
          <a:prstGeom prst="rect">
            <a:avLst/>
          </a:prstGeom>
          <a:solidFill>
            <a:srgbClr val="16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0" y="2057400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APP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509760" y="2587752"/>
            <a:ext cx="1234440" cy="384048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0" y="2679192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72033"/>
                </a:solidFill>
                <a:latin typeface="Aptos"/>
              </a:rPr>
              <a:t>DEPS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509760" y="3209544"/>
            <a:ext cx="1234440" cy="384048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0" y="3300984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72033"/>
                </a:solidFill>
                <a:latin typeface="Aptos"/>
              </a:rPr>
              <a:t>NOYAU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320040"/>
            <a:ext cx="3246120" cy="301752"/>
          </a:xfrm>
          <a:prstGeom prst="roundRect">
            <a:avLst/>
          </a:prstGeom>
          <a:solidFill>
            <a:srgbClr val="16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27432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2.2 Conteneurisation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4652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F6B7A"/>
                </a:solidFill>
                <a:latin typeface="Aptos"/>
              </a:rPr>
              <a:t>13/90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263640"/>
            <a:ext cx="10789920" cy="9144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713232"/>
            <a:ext cx="685800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72033"/>
                </a:solidFill>
                <a:latin typeface="Aptos"/>
              </a:rPr>
              <a:t>Isolation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64208"/>
            <a:ext cx="612648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Processus séparés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Système de fichiers isolé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Ressources contrôlables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1234440"/>
            <a:ext cx="3977639" cy="3429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A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53528" y="143560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5F6B7A"/>
                </a:solidFill>
                <a:latin typeface="Aptos"/>
              </a:rPr>
              <a:t>HÔTE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36408" y="1984248"/>
            <a:ext cx="1417320" cy="1737360"/>
          </a:xfrm>
          <a:prstGeom prst="roundRect">
            <a:avLst/>
          </a:prstGeom>
          <a:solidFill>
            <a:srgbClr val="EFF7F6"/>
          </a:solidFill>
          <a:ln w="13970">
            <a:solidFill>
              <a:srgbClr val="168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36408" y="216712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72033"/>
                </a:solidFill>
                <a:latin typeface="Aptos"/>
              </a:rPr>
              <a:t>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36408" y="2624328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F6B7A"/>
                </a:solidFill>
                <a:latin typeface="Aptos"/>
              </a:rPr>
              <a:t>deps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36408" y="2971800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F6B7A"/>
                </a:solidFill>
                <a:latin typeface="Aptos"/>
              </a:rPr>
              <a:t>bin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10928" y="1984248"/>
            <a:ext cx="1417320" cy="1737360"/>
          </a:xfrm>
          <a:prstGeom prst="roundRect">
            <a:avLst/>
          </a:prstGeom>
          <a:solidFill>
            <a:srgbClr val="F4F1FB"/>
          </a:solidFill>
          <a:ln w="13970">
            <a:solidFill>
              <a:srgbClr val="705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10928" y="216712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72033"/>
                </a:solidFill>
                <a:latin typeface="Aptos"/>
              </a:rPr>
              <a:t>DB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10928" y="2624328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F6B7A"/>
                </a:solidFill>
                <a:latin typeface="Aptos"/>
              </a:rPr>
              <a:t>deps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10928" y="2971800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F6B7A"/>
                </a:solidFill>
                <a:latin typeface="Aptos"/>
              </a:rPr>
              <a:t>bin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36408" y="3977640"/>
            <a:ext cx="3246120" cy="347472"/>
          </a:xfrm>
          <a:prstGeom prst="rect">
            <a:avLst/>
          </a:prstGeom>
          <a:solidFill>
            <a:srgbClr val="16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36408" y="4050792"/>
            <a:ext cx="32461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noyau partagé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320040"/>
            <a:ext cx="3246120" cy="301752"/>
          </a:xfrm>
          <a:prstGeom prst="roundRect">
            <a:avLst/>
          </a:prstGeom>
          <a:solidFill>
            <a:srgbClr val="16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27432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2.2 Conteneurisation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4652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F6B7A"/>
                </a:solidFill>
                <a:latin typeface="Aptos"/>
              </a:rPr>
              <a:t>14/90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263640"/>
            <a:ext cx="10789920" cy="9144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713232"/>
            <a:ext cx="685800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72033"/>
                </a:solidFill>
                <a:latin typeface="Aptos"/>
              </a:rPr>
              <a:t>Légèreté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64208"/>
            <a:ext cx="612648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Pas d’OS complet par application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Images souvent petites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Moins de mémoire utilisée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1234440"/>
            <a:ext cx="3977639" cy="3429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A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53528" y="143560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5F6B7A"/>
                </a:solidFill>
                <a:latin typeface="Aptos"/>
              </a:rPr>
              <a:t>HÔTE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36408" y="1984248"/>
            <a:ext cx="1417320" cy="1737360"/>
          </a:xfrm>
          <a:prstGeom prst="roundRect">
            <a:avLst/>
          </a:prstGeom>
          <a:solidFill>
            <a:srgbClr val="EFF7F6"/>
          </a:solidFill>
          <a:ln w="13970">
            <a:solidFill>
              <a:srgbClr val="168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36408" y="216712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72033"/>
                </a:solidFill>
                <a:latin typeface="Aptos"/>
              </a:rPr>
              <a:t>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36408" y="2624328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F6B7A"/>
                </a:solidFill>
                <a:latin typeface="Aptos"/>
              </a:rPr>
              <a:t>deps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36408" y="2971800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F6B7A"/>
                </a:solidFill>
                <a:latin typeface="Aptos"/>
              </a:rPr>
              <a:t>bin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10928" y="1984248"/>
            <a:ext cx="1417320" cy="1737360"/>
          </a:xfrm>
          <a:prstGeom prst="roundRect">
            <a:avLst/>
          </a:prstGeom>
          <a:solidFill>
            <a:srgbClr val="F4F1FB"/>
          </a:solidFill>
          <a:ln w="13970">
            <a:solidFill>
              <a:srgbClr val="705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10928" y="216712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72033"/>
                </a:solidFill>
                <a:latin typeface="Aptos"/>
              </a:rPr>
              <a:t>DB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10928" y="2624328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F6B7A"/>
                </a:solidFill>
                <a:latin typeface="Aptos"/>
              </a:rPr>
              <a:t>deps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10928" y="2971800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F6B7A"/>
                </a:solidFill>
                <a:latin typeface="Aptos"/>
              </a:rPr>
              <a:t>bin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36408" y="3977640"/>
            <a:ext cx="3246120" cy="347472"/>
          </a:xfrm>
          <a:prstGeom prst="rect">
            <a:avLst/>
          </a:prstGeom>
          <a:solidFill>
            <a:srgbClr val="16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36408" y="4050792"/>
            <a:ext cx="32461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noyau partagé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320040"/>
            <a:ext cx="3246120" cy="301752"/>
          </a:xfrm>
          <a:prstGeom prst="roundRect">
            <a:avLst/>
          </a:prstGeom>
          <a:solidFill>
            <a:srgbClr val="16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27432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2.2 Conteneurisation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4652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F6B7A"/>
                </a:solidFill>
                <a:latin typeface="Aptos"/>
              </a:rPr>
              <a:t>15/90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263640"/>
            <a:ext cx="10789920" cy="9144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713232"/>
            <a:ext cx="685800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72033"/>
                </a:solidFill>
                <a:latin typeface="Aptos"/>
              </a:rPr>
              <a:t>Démarrage rapide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64208"/>
            <a:ext cx="612648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Lancement en secondes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Cycle test plus court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Redémarrage simple après incident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1234440"/>
            <a:ext cx="3977639" cy="3429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A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53528" y="143560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5F6B7A"/>
                </a:solidFill>
                <a:latin typeface="Aptos"/>
              </a:rPr>
              <a:t>HÔTE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36408" y="1984248"/>
            <a:ext cx="1417320" cy="1737360"/>
          </a:xfrm>
          <a:prstGeom prst="roundRect">
            <a:avLst/>
          </a:prstGeom>
          <a:solidFill>
            <a:srgbClr val="EFF7F6"/>
          </a:solidFill>
          <a:ln w="13970">
            <a:solidFill>
              <a:srgbClr val="168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36408" y="216712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72033"/>
                </a:solidFill>
                <a:latin typeface="Aptos"/>
              </a:rPr>
              <a:t>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36408" y="2624328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F6B7A"/>
                </a:solidFill>
                <a:latin typeface="Aptos"/>
              </a:rPr>
              <a:t>deps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36408" y="2971800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F6B7A"/>
                </a:solidFill>
                <a:latin typeface="Aptos"/>
              </a:rPr>
              <a:t>bin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10928" y="1984248"/>
            <a:ext cx="1417320" cy="1737360"/>
          </a:xfrm>
          <a:prstGeom prst="roundRect">
            <a:avLst/>
          </a:prstGeom>
          <a:solidFill>
            <a:srgbClr val="F4F1FB"/>
          </a:solidFill>
          <a:ln w="13970">
            <a:solidFill>
              <a:srgbClr val="705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10928" y="216712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72033"/>
                </a:solidFill>
                <a:latin typeface="Aptos"/>
              </a:rPr>
              <a:t>DB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10928" y="2624328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F6B7A"/>
                </a:solidFill>
                <a:latin typeface="Aptos"/>
              </a:rPr>
              <a:t>deps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10928" y="2971800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F6B7A"/>
                </a:solidFill>
                <a:latin typeface="Aptos"/>
              </a:rPr>
              <a:t>bin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36408" y="3977640"/>
            <a:ext cx="3246120" cy="347472"/>
          </a:xfrm>
          <a:prstGeom prst="rect">
            <a:avLst/>
          </a:prstGeom>
          <a:solidFill>
            <a:srgbClr val="16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36408" y="4050792"/>
            <a:ext cx="32461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noyau partagé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320040"/>
            <a:ext cx="3246120" cy="301752"/>
          </a:xfrm>
          <a:prstGeom prst="roundRect">
            <a:avLst/>
          </a:prstGeom>
          <a:solidFill>
            <a:srgbClr val="16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27432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2.2 Conteneurisation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4652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F6B7A"/>
                </a:solidFill>
                <a:latin typeface="Aptos"/>
              </a:rPr>
              <a:t>16/90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263640"/>
            <a:ext cx="10789920" cy="9144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713232"/>
            <a:ext cx="685800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72033"/>
                </a:solidFill>
                <a:latin typeface="Aptos"/>
              </a:rPr>
              <a:t>Cas d’usage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64208"/>
            <a:ext cx="612648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API web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Base de données de test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Jobs batch et outils CLI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Environnements de formation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1234440"/>
            <a:ext cx="3977639" cy="3429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A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53528" y="143560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5F6B7A"/>
                </a:solidFill>
                <a:latin typeface="Aptos"/>
              </a:rPr>
              <a:t>HÔTE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36408" y="1984248"/>
            <a:ext cx="1417320" cy="1737360"/>
          </a:xfrm>
          <a:prstGeom prst="roundRect">
            <a:avLst/>
          </a:prstGeom>
          <a:solidFill>
            <a:srgbClr val="EFF7F6"/>
          </a:solidFill>
          <a:ln w="13970">
            <a:solidFill>
              <a:srgbClr val="168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36408" y="216712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72033"/>
                </a:solidFill>
                <a:latin typeface="Aptos"/>
              </a:rPr>
              <a:t>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36408" y="2624328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F6B7A"/>
                </a:solidFill>
                <a:latin typeface="Aptos"/>
              </a:rPr>
              <a:t>deps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36408" y="2971800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F6B7A"/>
                </a:solidFill>
                <a:latin typeface="Aptos"/>
              </a:rPr>
              <a:t>bin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10928" y="1984248"/>
            <a:ext cx="1417320" cy="1737360"/>
          </a:xfrm>
          <a:prstGeom prst="roundRect">
            <a:avLst/>
          </a:prstGeom>
          <a:solidFill>
            <a:srgbClr val="F4F1FB"/>
          </a:solidFill>
          <a:ln w="13970">
            <a:solidFill>
              <a:srgbClr val="705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10928" y="216712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72033"/>
                </a:solidFill>
                <a:latin typeface="Aptos"/>
              </a:rPr>
              <a:t>DB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10928" y="2624328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F6B7A"/>
                </a:solidFill>
                <a:latin typeface="Aptos"/>
              </a:rPr>
              <a:t>deps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10928" y="2971800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F6B7A"/>
                </a:solidFill>
                <a:latin typeface="Aptos"/>
              </a:rPr>
              <a:t>bin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36408" y="3977640"/>
            <a:ext cx="3246120" cy="347472"/>
          </a:xfrm>
          <a:prstGeom prst="rect">
            <a:avLst/>
          </a:prstGeom>
          <a:solidFill>
            <a:srgbClr val="16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36408" y="4050792"/>
            <a:ext cx="32461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noyau partagé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320040"/>
            <a:ext cx="3246120" cy="301752"/>
          </a:xfrm>
          <a:prstGeom prst="roundRect">
            <a:avLst/>
          </a:prstGeom>
          <a:solidFill>
            <a:srgbClr val="16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27432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2.2 Conteneurisation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4652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F6B7A"/>
                </a:solidFill>
                <a:latin typeface="Aptos"/>
              </a:rPr>
              <a:t>17/90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263640"/>
            <a:ext cx="10789920" cy="9144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713232"/>
            <a:ext cx="685800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72033"/>
                </a:solidFill>
                <a:latin typeface="Aptos"/>
              </a:rPr>
              <a:t>Avantages clés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64208"/>
            <a:ext cx="612648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Portabilité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Reproductibilité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Déploiements plus prévisibles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Meilleure isolation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1234440"/>
            <a:ext cx="3977639" cy="3429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A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53528" y="143560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5F6B7A"/>
                </a:solidFill>
                <a:latin typeface="Aptos"/>
              </a:rPr>
              <a:t>HÔTE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36408" y="1984248"/>
            <a:ext cx="1417320" cy="1737360"/>
          </a:xfrm>
          <a:prstGeom prst="roundRect">
            <a:avLst/>
          </a:prstGeom>
          <a:solidFill>
            <a:srgbClr val="EFF7F6"/>
          </a:solidFill>
          <a:ln w="13970">
            <a:solidFill>
              <a:srgbClr val="168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36408" y="216712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72033"/>
                </a:solidFill>
                <a:latin typeface="Aptos"/>
              </a:rPr>
              <a:t>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36408" y="2624328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F6B7A"/>
                </a:solidFill>
                <a:latin typeface="Aptos"/>
              </a:rPr>
              <a:t>deps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36408" y="2971800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F6B7A"/>
                </a:solidFill>
                <a:latin typeface="Aptos"/>
              </a:rPr>
              <a:t>bin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10928" y="1984248"/>
            <a:ext cx="1417320" cy="1737360"/>
          </a:xfrm>
          <a:prstGeom prst="roundRect">
            <a:avLst/>
          </a:prstGeom>
          <a:solidFill>
            <a:srgbClr val="F4F1FB"/>
          </a:solidFill>
          <a:ln w="13970">
            <a:solidFill>
              <a:srgbClr val="705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10928" y="216712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72033"/>
                </a:solidFill>
                <a:latin typeface="Aptos"/>
              </a:rPr>
              <a:t>DB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10928" y="2624328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F6B7A"/>
                </a:solidFill>
                <a:latin typeface="Aptos"/>
              </a:rPr>
              <a:t>deps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10928" y="2971800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F6B7A"/>
                </a:solidFill>
                <a:latin typeface="Aptos"/>
              </a:rPr>
              <a:t>bin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36408" y="3977640"/>
            <a:ext cx="3246120" cy="347472"/>
          </a:xfrm>
          <a:prstGeom prst="rect">
            <a:avLst/>
          </a:prstGeom>
          <a:solidFill>
            <a:srgbClr val="16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36408" y="4050792"/>
            <a:ext cx="32461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noyau partagé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D6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320040"/>
            <a:ext cx="3246120" cy="301752"/>
          </a:xfrm>
          <a:prstGeom prst="roundRect">
            <a:avLst/>
          </a:prstGeom>
          <a:solidFill>
            <a:srgbClr val="1D6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27432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2.3 Installation de Docker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4652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F6B7A"/>
                </a:solidFill>
                <a:latin typeface="Aptos"/>
              </a:rPr>
              <a:t>18/90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263640"/>
            <a:ext cx="10789920" cy="9144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713232"/>
            <a:ext cx="685800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72033"/>
                </a:solidFill>
                <a:latin typeface="Aptos"/>
              </a:rPr>
              <a:t>Docker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64208"/>
            <a:ext cx="612648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Moteur principal de Docker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Gère images, conteneurs et réseaux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Expose une API et une CLI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1234440"/>
            <a:ext cx="384048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7D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52360" y="1234440"/>
            <a:ext cx="3840480" cy="320040"/>
          </a:xfrm>
          <a:prstGeom prst="rect">
            <a:avLst/>
          </a:prstGeom>
          <a:solidFill>
            <a:srgbClr val="1D6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53528" y="1307592"/>
            <a:ext cx="10058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Docker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2057400"/>
            <a:ext cx="822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72033"/>
                </a:solidFill>
                <a:latin typeface="Aptos"/>
              </a:rPr>
              <a:t>CLI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2057400"/>
            <a:ext cx="274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D63ED"/>
                </a:solidFill>
                <a:latin typeface="Aptos"/>
              </a:rPr>
              <a:t>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81160" y="2057400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72033"/>
                </a:solidFill>
                <a:latin typeface="Aptos"/>
              </a:rPr>
              <a:t>Engine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52560" y="3566160"/>
            <a:ext cx="640080" cy="256032"/>
          </a:xfrm>
          <a:prstGeom prst="rect">
            <a:avLst/>
          </a:prstGeom>
          <a:solidFill>
            <a:srgbClr val="C7D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549640" y="3813048"/>
            <a:ext cx="1645920" cy="164592"/>
          </a:xfrm>
          <a:prstGeom prst="roundRect">
            <a:avLst/>
          </a:prstGeom>
          <a:solidFill>
            <a:srgbClr val="C7D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D6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320040"/>
            <a:ext cx="3246120" cy="301752"/>
          </a:xfrm>
          <a:prstGeom prst="roundRect">
            <a:avLst/>
          </a:prstGeom>
          <a:solidFill>
            <a:srgbClr val="1D6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27432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2.3 Installation de Docker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4652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F6B7A"/>
                </a:solidFill>
                <a:latin typeface="Aptos"/>
              </a:rPr>
              <a:t>19/90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263640"/>
            <a:ext cx="10789920" cy="9144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713232"/>
            <a:ext cx="685800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72033"/>
                </a:solidFill>
                <a:latin typeface="Aptos"/>
              </a:rPr>
              <a:t>Docker Desktop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64208"/>
            <a:ext cx="612648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Application graphique pour poste de travail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Inclut Docker Engine et Compose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Pratique sur Windows et macOS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1234440"/>
            <a:ext cx="384048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7D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52360" y="1234440"/>
            <a:ext cx="3840480" cy="320040"/>
          </a:xfrm>
          <a:prstGeom prst="rect">
            <a:avLst/>
          </a:prstGeom>
          <a:solidFill>
            <a:srgbClr val="1D6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53528" y="1307592"/>
            <a:ext cx="10058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Docker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2057400"/>
            <a:ext cx="822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72033"/>
                </a:solidFill>
                <a:latin typeface="Aptos"/>
              </a:rPr>
              <a:t>CLI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2057400"/>
            <a:ext cx="274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D63ED"/>
                </a:solidFill>
                <a:latin typeface="Aptos"/>
              </a:rPr>
              <a:t>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81160" y="2057400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72033"/>
                </a:solidFill>
                <a:latin typeface="Aptos"/>
              </a:rPr>
              <a:t>Engine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52560" y="3566160"/>
            <a:ext cx="640080" cy="256032"/>
          </a:xfrm>
          <a:prstGeom prst="rect">
            <a:avLst/>
          </a:prstGeom>
          <a:solidFill>
            <a:srgbClr val="C7D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549640" y="3813048"/>
            <a:ext cx="1645920" cy="164592"/>
          </a:xfrm>
          <a:prstGeom prst="roundRect">
            <a:avLst/>
          </a:prstGeom>
          <a:solidFill>
            <a:srgbClr val="C7D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D6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320040"/>
            <a:ext cx="3246120" cy="301752"/>
          </a:xfrm>
          <a:prstGeom prst="roundRect">
            <a:avLst/>
          </a:prstGeom>
          <a:solidFill>
            <a:srgbClr val="1D6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27432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2.3 Installation de Docker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4652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F6B7A"/>
                </a:solidFill>
                <a:latin typeface="Aptos"/>
              </a:rPr>
              <a:t>20/90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263640"/>
            <a:ext cx="10789920" cy="9144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713232"/>
            <a:ext cx="685800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72033"/>
                </a:solidFill>
                <a:latin typeface="Aptos"/>
              </a:rPr>
              <a:t>Installation Linux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64208"/>
            <a:ext cx="612648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Installer depuis le dépôt officiel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Activer le service Docker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Ajouter l’utilisateur au groupe si besoin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1234440"/>
            <a:ext cx="384048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7D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52360" y="1234440"/>
            <a:ext cx="3840480" cy="320040"/>
          </a:xfrm>
          <a:prstGeom prst="rect">
            <a:avLst/>
          </a:prstGeom>
          <a:solidFill>
            <a:srgbClr val="1D6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53528" y="1307592"/>
            <a:ext cx="10058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Docker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2057400"/>
            <a:ext cx="822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72033"/>
                </a:solidFill>
                <a:latin typeface="Aptos"/>
              </a:rPr>
              <a:t>CLI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2057400"/>
            <a:ext cx="274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D63ED"/>
                </a:solidFill>
                <a:latin typeface="Aptos"/>
              </a:rPr>
              <a:t>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81160" y="2057400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72033"/>
                </a:solidFill>
                <a:latin typeface="Aptos"/>
              </a:rPr>
              <a:t>Engine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52560" y="3566160"/>
            <a:ext cx="640080" cy="256032"/>
          </a:xfrm>
          <a:prstGeom prst="rect">
            <a:avLst/>
          </a:prstGeom>
          <a:solidFill>
            <a:srgbClr val="C7D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549640" y="3813048"/>
            <a:ext cx="1645920" cy="164592"/>
          </a:xfrm>
          <a:prstGeom prst="roundRect">
            <a:avLst/>
          </a:prstGeom>
          <a:solidFill>
            <a:srgbClr val="C7D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D6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320040"/>
            <a:ext cx="3246120" cy="301752"/>
          </a:xfrm>
          <a:prstGeom prst="roundRect">
            <a:avLst/>
          </a:prstGeom>
          <a:solidFill>
            <a:srgbClr val="1D6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27432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2.3 Installation de Docker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4652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F6B7A"/>
                </a:solidFill>
                <a:latin typeface="Aptos"/>
              </a:rPr>
              <a:t>21/90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263640"/>
            <a:ext cx="10789920" cy="9144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713232"/>
            <a:ext cx="685800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72033"/>
                </a:solidFill>
                <a:latin typeface="Aptos"/>
              </a:rPr>
              <a:t>Installation Windows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64208"/>
            <a:ext cx="612648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Installer Docker Desktop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Activer WSL 2 si demandé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Redémarrer puis tester la CLI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1234440"/>
            <a:ext cx="384048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7D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52360" y="1234440"/>
            <a:ext cx="3840480" cy="320040"/>
          </a:xfrm>
          <a:prstGeom prst="rect">
            <a:avLst/>
          </a:prstGeom>
          <a:solidFill>
            <a:srgbClr val="1D6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53528" y="1307592"/>
            <a:ext cx="10058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Docker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2057400"/>
            <a:ext cx="822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72033"/>
                </a:solidFill>
                <a:latin typeface="Aptos"/>
              </a:rPr>
              <a:t>CLI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2057400"/>
            <a:ext cx="274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D63ED"/>
                </a:solidFill>
                <a:latin typeface="Aptos"/>
              </a:rPr>
              <a:t>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81160" y="2057400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72033"/>
                </a:solidFill>
                <a:latin typeface="Aptos"/>
              </a:rPr>
              <a:t>Engine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52560" y="3566160"/>
            <a:ext cx="640080" cy="256032"/>
          </a:xfrm>
          <a:prstGeom prst="rect">
            <a:avLst/>
          </a:prstGeom>
          <a:solidFill>
            <a:srgbClr val="C7D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549640" y="3813048"/>
            <a:ext cx="1645920" cy="164592"/>
          </a:xfrm>
          <a:prstGeom prst="roundRect">
            <a:avLst/>
          </a:prstGeom>
          <a:solidFill>
            <a:srgbClr val="C7D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D6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320040"/>
            <a:ext cx="3246120" cy="301752"/>
          </a:xfrm>
          <a:prstGeom prst="roundRect">
            <a:avLst/>
          </a:prstGeom>
          <a:solidFill>
            <a:srgbClr val="1D6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27432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2.3 Installation de Docker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4652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F6B7A"/>
                </a:solidFill>
                <a:latin typeface="Aptos"/>
              </a:rPr>
              <a:t>22/90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263640"/>
            <a:ext cx="10789920" cy="9144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713232"/>
            <a:ext cx="685800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72033"/>
                </a:solidFill>
                <a:latin typeface="Aptos"/>
              </a:rPr>
              <a:t>Installation macOS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64208"/>
            <a:ext cx="612648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Installer Docker Desktop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Choisir la version Intel ou Apple Silicon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Lancer Docker avant la CLI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1234440"/>
            <a:ext cx="384048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7D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52360" y="1234440"/>
            <a:ext cx="3840480" cy="320040"/>
          </a:xfrm>
          <a:prstGeom prst="rect">
            <a:avLst/>
          </a:prstGeom>
          <a:solidFill>
            <a:srgbClr val="1D6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53528" y="1307592"/>
            <a:ext cx="10058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Docker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2057400"/>
            <a:ext cx="822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72033"/>
                </a:solidFill>
                <a:latin typeface="Aptos"/>
              </a:rPr>
              <a:t>CLI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2057400"/>
            <a:ext cx="274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D63ED"/>
                </a:solidFill>
                <a:latin typeface="Aptos"/>
              </a:rPr>
              <a:t>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81160" y="2057400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72033"/>
                </a:solidFill>
                <a:latin typeface="Aptos"/>
              </a:rPr>
              <a:t>Engine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52560" y="3566160"/>
            <a:ext cx="640080" cy="256032"/>
          </a:xfrm>
          <a:prstGeom prst="rect">
            <a:avLst/>
          </a:prstGeom>
          <a:solidFill>
            <a:srgbClr val="C7D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549640" y="3813048"/>
            <a:ext cx="1645920" cy="164592"/>
          </a:xfrm>
          <a:prstGeom prst="roundRect">
            <a:avLst/>
          </a:prstGeom>
          <a:solidFill>
            <a:srgbClr val="C7D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D6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320040"/>
            <a:ext cx="3246120" cy="301752"/>
          </a:xfrm>
          <a:prstGeom prst="roundRect">
            <a:avLst/>
          </a:prstGeom>
          <a:solidFill>
            <a:srgbClr val="1D6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27432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2.3 Installation de Docker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4652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F6B7A"/>
                </a:solidFill>
                <a:latin typeface="Aptos"/>
              </a:rPr>
              <a:t>23/90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263640"/>
            <a:ext cx="10789920" cy="9144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713232"/>
            <a:ext cx="685800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72033"/>
                </a:solidFill>
                <a:latin typeface="Aptos"/>
              </a:rPr>
              <a:t>Vérification de l’installation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64208"/>
            <a:ext cx="612648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Contrôler que le service répond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Lancer un conteneur de test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Valider les droits utilisateur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1234440"/>
            <a:ext cx="384048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7D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52360" y="1234440"/>
            <a:ext cx="3840480" cy="320040"/>
          </a:xfrm>
          <a:prstGeom prst="rect">
            <a:avLst/>
          </a:prstGeom>
          <a:solidFill>
            <a:srgbClr val="1D6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53528" y="1307592"/>
            <a:ext cx="10058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Docker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2057400"/>
            <a:ext cx="822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72033"/>
                </a:solidFill>
                <a:latin typeface="Aptos"/>
              </a:rPr>
              <a:t>CLI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2057400"/>
            <a:ext cx="274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D63ED"/>
                </a:solidFill>
                <a:latin typeface="Aptos"/>
              </a:rPr>
              <a:t>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81160" y="2057400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72033"/>
                </a:solidFill>
                <a:latin typeface="Aptos"/>
              </a:rPr>
              <a:t>Engine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52560" y="3566160"/>
            <a:ext cx="640080" cy="256032"/>
          </a:xfrm>
          <a:prstGeom prst="rect">
            <a:avLst/>
          </a:prstGeom>
          <a:solidFill>
            <a:srgbClr val="C7D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549640" y="3813048"/>
            <a:ext cx="1645920" cy="164592"/>
          </a:xfrm>
          <a:prstGeom prst="roundRect">
            <a:avLst/>
          </a:prstGeom>
          <a:solidFill>
            <a:srgbClr val="C7D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D6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320040"/>
            <a:ext cx="3246120" cy="301752"/>
          </a:xfrm>
          <a:prstGeom prst="roundRect">
            <a:avLst/>
          </a:prstGeom>
          <a:solidFill>
            <a:srgbClr val="1D6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27432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2.3 Installation de Docker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4652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F6B7A"/>
                </a:solidFill>
                <a:latin typeface="Aptos"/>
              </a:rPr>
              <a:t>24/90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263640"/>
            <a:ext cx="10789920" cy="9144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713232"/>
            <a:ext cx="685800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72033"/>
                </a:solidFill>
                <a:latin typeface="Aptos"/>
              </a:rPr>
              <a:t>Commande docker --version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64208"/>
            <a:ext cx="612648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Affiche la version installée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Confirme que la CLI est disponible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Premier test rapide après installation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1572768"/>
            <a:ext cx="4160520" cy="2423160"/>
          </a:xfrm>
          <a:prstGeom prst="roundRect">
            <a:avLst/>
          </a:prstGeom>
          <a:solidFill>
            <a:srgbClr val="12304A"/>
          </a:solidFill>
          <a:ln w="12700">
            <a:solidFill>
              <a:srgbClr val="0C2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1572768"/>
            <a:ext cx="4160520" cy="384048"/>
          </a:xfrm>
          <a:prstGeom prst="rect">
            <a:avLst/>
          </a:prstGeom>
          <a:solidFill>
            <a:srgbClr val="20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479792" y="1700784"/>
            <a:ext cx="91440" cy="91440"/>
          </a:xfrm>
          <a:prstGeom prst="ellipse">
            <a:avLst/>
          </a:prstGeom>
          <a:solidFill>
            <a:srgbClr val="C9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90104" y="1700784"/>
            <a:ext cx="91440" cy="91440"/>
          </a:xfrm>
          <a:prstGeom prst="ellipse">
            <a:avLst/>
          </a:prstGeom>
          <a:solidFill>
            <a:srgbClr val="E79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900416" y="1700784"/>
            <a:ext cx="91440" cy="91440"/>
          </a:xfrm>
          <a:prstGeom prst="ellipse">
            <a:avLst/>
          </a:prstGeom>
          <a:solidFill>
            <a:srgbClr val="2F8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07808" y="2441448"/>
            <a:ext cx="274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D63ED"/>
                </a:solidFill>
                <a:latin typeface="Consolas"/>
              </a:rPr>
              <a:t>$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73568" y="2441448"/>
            <a:ext cx="3246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onsolas"/>
              </a:rPr>
              <a:t>docker --version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07808" y="3447287"/>
            <a:ext cx="357530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B9C8DA"/>
                </a:solidFill>
                <a:latin typeface="Aptos"/>
              </a:rPr>
              <a:t>Commande clé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320040"/>
            <a:ext cx="3246120" cy="301752"/>
          </a:xfrm>
          <a:prstGeom prst="roundRect">
            <a:avLst/>
          </a:prstGeom>
          <a:solidFill>
            <a:srgbClr val="1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27432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2.4 Commandes Docker de 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4652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F6B7A"/>
                </a:solidFill>
                <a:latin typeface="Aptos"/>
              </a:rPr>
              <a:t>25/90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263640"/>
            <a:ext cx="10789920" cy="9144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713232"/>
            <a:ext cx="685800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72033"/>
                </a:solidFill>
                <a:latin typeface="Aptos"/>
              </a:rPr>
              <a:t>docker pull télécharge une image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64208"/>
            <a:ext cx="612648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Récupère une image depuis un registre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Prépare un futur lancement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Utilise Docker Hub par défaut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1572768"/>
            <a:ext cx="4160520" cy="2423160"/>
          </a:xfrm>
          <a:prstGeom prst="roundRect">
            <a:avLst/>
          </a:prstGeom>
          <a:solidFill>
            <a:srgbClr val="12304A"/>
          </a:solidFill>
          <a:ln w="12700">
            <a:solidFill>
              <a:srgbClr val="0C2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1572768"/>
            <a:ext cx="4160520" cy="384048"/>
          </a:xfrm>
          <a:prstGeom prst="rect">
            <a:avLst/>
          </a:prstGeom>
          <a:solidFill>
            <a:srgbClr val="20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479792" y="1700784"/>
            <a:ext cx="91440" cy="91440"/>
          </a:xfrm>
          <a:prstGeom prst="ellipse">
            <a:avLst/>
          </a:prstGeom>
          <a:solidFill>
            <a:srgbClr val="C9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90104" y="1700784"/>
            <a:ext cx="91440" cy="91440"/>
          </a:xfrm>
          <a:prstGeom prst="ellipse">
            <a:avLst/>
          </a:prstGeom>
          <a:solidFill>
            <a:srgbClr val="E79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900416" y="1700784"/>
            <a:ext cx="91440" cy="91440"/>
          </a:xfrm>
          <a:prstGeom prst="ellipse">
            <a:avLst/>
          </a:prstGeom>
          <a:solidFill>
            <a:srgbClr val="2F8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07808" y="2441448"/>
            <a:ext cx="274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2304A"/>
                </a:solidFill>
                <a:latin typeface="Consolas"/>
              </a:rPr>
              <a:t>$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73568" y="2441448"/>
            <a:ext cx="3246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onsolas"/>
              </a:rPr>
              <a:t>docker pull nginx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07808" y="3447287"/>
            <a:ext cx="357530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B9C8DA"/>
                </a:solidFill>
                <a:latin typeface="Aptos"/>
              </a:rPr>
              <a:t>Commande clé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320040"/>
            <a:ext cx="3246120" cy="301752"/>
          </a:xfrm>
          <a:prstGeom prst="roundRect">
            <a:avLst/>
          </a:prstGeom>
          <a:solidFill>
            <a:srgbClr val="1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27432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2.4 Commandes Docker de 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4652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F6B7A"/>
                </a:solidFill>
                <a:latin typeface="Aptos"/>
              </a:rPr>
              <a:t>26/90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263640"/>
            <a:ext cx="10789920" cy="9144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713232"/>
            <a:ext cx="685800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72033"/>
                </a:solidFill>
                <a:latin typeface="Aptos"/>
              </a:rPr>
              <a:t>docker run lance un conteneur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64208"/>
            <a:ext cx="612648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Crée un conteneur depuis une image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Démarre le processus principal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Télécharge l’image si elle manque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1572768"/>
            <a:ext cx="4160520" cy="2423160"/>
          </a:xfrm>
          <a:prstGeom prst="roundRect">
            <a:avLst/>
          </a:prstGeom>
          <a:solidFill>
            <a:srgbClr val="12304A"/>
          </a:solidFill>
          <a:ln w="12700">
            <a:solidFill>
              <a:srgbClr val="0C2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1572768"/>
            <a:ext cx="4160520" cy="384048"/>
          </a:xfrm>
          <a:prstGeom prst="rect">
            <a:avLst/>
          </a:prstGeom>
          <a:solidFill>
            <a:srgbClr val="20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479792" y="1700784"/>
            <a:ext cx="91440" cy="91440"/>
          </a:xfrm>
          <a:prstGeom prst="ellipse">
            <a:avLst/>
          </a:prstGeom>
          <a:solidFill>
            <a:srgbClr val="C9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90104" y="1700784"/>
            <a:ext cx="91440" cy="91440"/>
          </a:xfrm>
          <a:prstGeom prst="ellipse">
            <a:avLst/>
          </a:prstGeom>
          <a:solidFill>
            <a:srgbClr val="E79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900416" y="1700784"/>
            <a:ext cx="91440" cy="91440"/>
          </a:xfrm>
          <a:prstGeom prst="ellipse">
            <a:avLst/>
          </a:prstGeom>
          <a:solidFill>
            <a:srgbClr val="2F8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07808" y="2441448"/>
            <a:ext cx="274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2304A"/>
                </a:solidFill>
                <a:latin typeface="Consolas"/>
              </a:rPr>
              <a:t>$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73568" y="2441448"/>
            <a:ext cx="3246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onsolas"/>
              </a:rPr>
              <a:t>docker run nginx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07808" y="3447287"/>
            <a:ext cx="357530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B9C8DA"/>
                </a:solidFill>
                <a:latin typeface="Aptos"/>
              </a:rPr>
              <a:t>Commande clé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320040"/>
            <a:ext cx="3246120" cy="301752"/>
          </a:xfrm>
          <a:prstGeom prst="roundRect">
            <a:avLst/>
          </a:prstGeom>
          <a:solidFill>
            <a:srgbClr val="1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27432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2.4 Commandes Docker de 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4652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F6B7A"/>
                </a:solidFill>
                <a:latin typeface="Aptos"/>
              </a:rPr>
              <a:t>27/90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263640"/>
            <a:ext cx="10789920" cy="9144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713232"/>
            <a:ext cx="685800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72033"/>
                </a:solidFill>
                <a:latin typeface="Aptos"/>
              </a:rPr>
              <a:t>docker run -it ouvre un mode interactif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64208"/>
            <a:ext cx="612648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Connecte le terminal au conteneur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Utile pour explorer ou déboguer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Souvent utilisé avec une image Linux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1572768"/>
            <a:ext cx="4160520" cy="2423160"/>
          </a:xfrm>
          <a:prstGeom prst="roundRect">
            <a:avLst/>
          </a:prstGeom>
          <a:solidFill>
            <a:srgbClr val="12304A"/>
          </a:solidFill>
          <a:ln w="12700">
            <a:solidFill>
              <a:srgbClr val="0C2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1572768"/>
            <a:ext cx="4160520" cy="384048"/>
          </a:xfrm>
          <a:prstGeom prst="rect">
            <a:avLst/>
          </a:prstGeom>
          <a:solidFill>
            <a:srgbClr val="20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479792" y="1700784"/>
            <a:ext cx="91440" cy="91440"/>
          </a:xfrm>
          <a:prstGeom prst="ellipse">
            <a:avLst/>
          </a:prstGeom>
          <a:solidFill>
            <a:srgbClr val="C9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90104" y="1700784"/>
            <a:ext cx="91440" cy="91440"/>
          </a:xfrm>
          <a:prstGeom prst="ellipse">
            <a:avLst/>
          </a:prstGeom>
          <a:solidFill>
            <a:srgbClr val="E79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900416" y="1700784"/>
            <a:ext cx="91440" cy="91440"/>
          </a:xfrm>
          <a:prstGeom prst="ellipse">
            <a:avLst/>
          </a:prstGeom>
          <a:solidFill>
            <a:srgbClr val="2F8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07808" y="2441448"/>
            <a:ext cx="274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2304A"/>
                </a:solidFill>
                <a:latin typeface="Consolas"/>
              </a:rPr>
              <a:t>$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73568" y="2441448"/>
            <a:ext cx="3246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onsolas"/>
              </a:rPr>
              <a:t>docker run -it ubuntu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07808" y="3447287"/>
            <a:ext cx="357530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B9C8DA"/>
                </a:solidFill>
                <a:latin typeface="Aptos"/>
              </a:rPr>
              <a:t>Commande clé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320040"/>
            <a:ext cx="3246120" cy="301752"/>
          </a:xfrm>
          <a:prstGeom prst="roundRect">
            <a:avLst/>
          </a:prstGeom>
          <a:solidFill>
            <a:srgbClr val="1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27432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2.4 Commandes Docker de 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4652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F6B7A"/>
                </a:solidFill>
                <a:latin typeface="Aptos"/>
              </a:rPr>
              <a:t>28/90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263640"/>
            <a:ext cx="10789920" cy="9144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713232"/>
            <a:ext cx="685800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72033"/>
                </a:solidFill>
                <a:latin typeface="Aptos"/>
              </a:rPr>
              <a:t>docker run -p publie un 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64208"/>
            <a:ext cx="612648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Relie un port local au conteneur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Rend un service accessible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Format courant : hôte:conteneur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1572768"/>
            <a:ext cx="4160520" cy="2423160"/>
          </a:xfrm>
          <a:prstGeom prst="roundRect">
            <a:avLst/>
          </a:prstGeom>
          <a:solidFill>
            <a:srgbClr val="12304A"/>
          </a:solidFill>
          <a:ln w="12700">
            <a:solidFill>
              <a:srgbClr val="0C2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1572768"/>
            <a:ext cx="4160520" cy="384048"/>
          </a:xfrm>
          <a:prstGeom prst="rect">
            <a:avLst/>
          </a:prstGeom>
          <a:solidFill>
            <a:srgbClr val="20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479792" y="1700784"/>
            <a:ext cx="91440" cy="91440"/>
          </a:xfrm>
          <a:prstGeom prst="ellipse">
            <a:avLst/>
          </a:prstGeom>
          <a:solidFill>
            <a:srgbClr val="C9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90104" y="1700784"/>
            <a:ext cx="91440" cy="91440"/>
          </a:xfrm>
          <a:prstGeom prst="ellipse">
            <a:avLst/>
          </a:prstGeom>
          <a:solidFill>
            <a:srgbClr val="E79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900416" y="1700784"/>
            <a:ext cx="91440" cy="91440"/>
          </a:xfrm>
          <a:prstGeom prst="ellipse">
            <a:avLst/>
          </a:prstGeom>
          <a:solidFill>
            <a:srgbClr val="2F8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07808" y="2441448"/>
            <a:ext cx="274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2304A"/>
                </a:solidFill>
                <a:latin typeface="Consolas"/>
              </a:rPr>
              <a:t>$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73568" y="2441448"/>
            <a:ext cx="3246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onsolas"/>
              </a:rPr>
              <a:t>docker run -p 8080:80 nginx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07808" y="3447287"/>
            <a:ext cx="357530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B9C8DA"/>
                </a:solidFill>
                <a:latin typeface="Aptos"/>
              </a:rPr>
              <a:t>Commande clé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320040"/>
            <a:ext cx="3246120" cy="301752"/>
          </a:xfrm>
          <a:prstGeom prst="roundRect">
            <a:avLst/>
          </a:prstGeom>
          <a:solidFill>
            <a:srgbClr val="1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27432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2.4 Commandes Docker de 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4652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F6B7A"/>
                </a:solidFill>
                <a:latin typeface="Aptos"/>
              </a:rPr>
              <a:t>29/90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263640"/>
            <a:ext cx="10789920" cy="9144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713232"/>
            <a:ext cx="685800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72033"/>
                </a:solidFill>
                <a:latin typeface="Aptos"/>
              </a:rPr>
              <a:t>docker run -d lance en arrière-plan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64208"/>
            <a:ext cx="612648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Détache le conteneur du terminal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Retourne un identifiant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Pratique pour les services longs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1572768"/>
            <a:ext cx="4160520" cy="2423160"/>
          </a:xfrm>
          <a:prstGeom prst="roundRect">
            <a:avLst/>
          </a:prstGeom>
          <a:solidFill>
            <a:srgbClr val="12304A"/>
          </a:solidFill>
          <a:ln w="12700">
            <a:solidFill>
              <a:srgbClr val="0C2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1572768"/>
            <a:ext cx="4160520" cy="384048"/>
          </a:xfrm>
          <a:prstGeom prst="rect">
            <a:avLst/>
          </a:prstGeom>
          <a:solidFill>
            <a:srgbClr val="20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479792" y="1700784"/>
            <a:ext cx="91440" cy="91440"/>
          </a:xfrm>
          <a:prstGeom prst="ellipse">
            <a:avLst/>
          </a:prstGeom>
          <a:solidFill>
            <a:srgbClr val="C9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90104" y="1700784"/>
            <a:ext cx="91440" cy="91440"/>
          </a:xfrm>
          <a:prstGeom prst="ellipse">
            <a:avLst/>
          </a:prstGeom>
          <a:solidFill>
            <a:srgbClr val="E79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900416" y="1700784"/>
            <a:ext cx="91440" cy="91440"/>
          </a:xfrm>
          <a:prstGeom prst="ellipse">
            <a:avLst/>
          </a:prstGeom>
          <a:solidFill>
            <a:srgbClr val="2F8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07808" y="2441448"/>
            <a:ext cx="274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2304A"/>
                </a:solidFill>
                <a:latin typeface="Consolas"/>
              </a:rPr>
              <a:t>$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73568" y="2441448"/>
            <a:ext cx="3246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onsolas"/>
              </a:rPr>
              <a:t>docker run -d nginx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07808" y="3447287"/>
            <a:ext cx="357530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B9C8DA"/>
                </a:solidFill>
                <a:latin typeface="Aptos"/>
              </a:rPr>
              <a:t>Commande clé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320040"/>
            <a:ext cx="3246120" cy="301752"/>
          </a:xfrm>
          <a:prstGeom prst="roundRect">
            <a:avLst/>
          </a:prstGeom>
          <a:solidFill>
            <a:srgbClr val="1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27432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2.4 Commandes Docker de 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4652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F6B7A"/>
                </a:solidFill>
                <a:latin typeface="Aptos"/>
              </a:rPr>
              <a:t>30/90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263640"/>
            <a:ext cx="10789920" cy="9144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713232"/>
            <a:ext cx="685800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72033"/>
                </a:solidFill>
                <a:latin typeface="Aptos"/>
              </a:rPr>
              <a:t>docker run -v monte un stockage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64208"/>
            <a:ext cx="612648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Connecte un volume ou un dossier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Conserve les données importantes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Sépare données et conteneur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1572768"/>
            <a:ext cx="4160520" cy="2423160"/>
          </a:xfrm>
          <a:prstGeom prst="roundRect">
            <a:avLst/>
          </a:prstGeom>
          <a:solidFill>
            <a:srgbClr val="12304A"/>
          </a:solidFill>
          <a:ln w="12700">
            <a:solidFill>
              <a:srgbClr val="0C2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1572768"/>
            <a:ext cx="4160520" cy="384048"/>
          </a:xfrm>
          <a:prstGeom prst="rect">
            <a:avLst/>
          </a:prstGeom>
          <a:solidFill>
            <a:srgbClr val="20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479792" y="1700784"/>
            <a:ext cx="91440" cy="91440"/>
          </a:xfrm>
          <a:prstGeom prst="ellipse">
            <a:avLst/>
          </a:prstGeom>
          <a:solidFill>
            <a:srgbClr val="C9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90104" y="1700784"/>
            <a:ext cx="91440" cy="91440"/>
          </a:xfrm>
          <a:prstGeom prst="ellipse">
            <a:avLst/>
          </a:prstGeom>
          <a:solidFill>
            <a:srgbClr val="E79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900416" y="1700784"/>
            <a:ext cx="91440" cy="91440"/>
          </a:xfrm>
          <a:prstGeom prst="ellipse">
            <a:avLst/>
          </a:prstGeom>
          <a:solidFill>
            <a:srgbClr val="2F8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07808" y="2441448"/>
            <a:ext cx="274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2304A"/>
                </a:solidFill>
                <a:latin typeface="Consolas"/>
              </a:rPr>
              <a:t>$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73568" y="2441448"/>
            <a:ext cx="3246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onsolas"/>
              </a:rPr>
              <a:t>docker run -v data:/app/data nginx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07808" y="3447287"/>
            <a:ext cx="357530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B9C8DA"/>
                </a:solidFill>
                <a:latin typeface="Aptos"/>
              </a:rPr>
              <a:t>Commande clé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320040"/>
            <a:ext cx="3246120" cy="301752"/>
          </a:xfrm>
          <a:prstGeom prst="roundRect">
            <a:avLst/>
          </a:prstGeom>
          <a:solidFill>
            <a:srgbClr val="1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27432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2.4 Commandes Docker de 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4652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F6B7A"/>
                </a:solidFill>
                <a:latin typeface="Aptos"/>
              </a:rPr>
              <a:t>31/90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263640"/>
            <a:ext cx="10789920" cy="9144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713232"/>
            <a:ext cx="685800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72033"/>
                </a:solidFill>
                <a:latin typeface="Aptos"/>
              </a:rPr>
              <a:t>docker ps liste les conteneurs actifs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64208"/>
            <a:ext cx="612648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Affiche les conteneurs en cours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Montre ports, noms et statuts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Très utile pour diagnostiquer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1572768"/>
            <a:ext cx="4160520" cy="2423160"/>
          </a:xfrm>
          <a:prstGeom prst="roundRect">
            <a:avLst/>
          </a:prstGeom>
          <a:solidFill>
            <a:srgbClr val="12304A"/>
          </a:solidFill>
          <a:ln w="12700">
            <a:solidFill>
              <a:srgbClr val="0C2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1572768"/>
            <a:ext cx="4160520" cy="384048"/>
          </a:xfrm>
          <a:prstGeom prst="rect">
            <a:avLst/>
          </a:prstGeom>
          <a:solidFill>
            <a:srgbClr val="20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479792" y="1700784"/>
            <a:ext cx="91440" cy="91440"/>
          </a:xfrm>
          <a:prstGeom prst="ellipse">
            <a:avLst/>
          </a:prstGeom>
          <a:solidFill>
            <a:srgbClr val="C9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90104" y="1700784"/>
            <a:ext cx="91440" cy="91440"/>
          </a:xfrm>
          <a:prstGeom prst="ellipse">
            <a:avLst/>
          </a:prstGeom>
          <a:solidFill>
            <a:srgbClr val="E79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900416" y="1700784"/>
            <a:ext cx="91440" cy="91440"/>
          </a:xfrm>
          <a:prstGeom prst="ellipse">
            <a:avLst/>
          </a:prstGeom>
          <a:solidFill>
            <a:srgbClr val="2F8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07808" y="2441448"/>
            <a:ext cx="274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2304A"/>
                </a:solidFill>
                <a:latin typeface="Consolas"/>
              </a:rPr>
              <a:t>$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73568" y="2441448"/>
            <a:ext cx="3246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onsolas"/>
              </a:rPr>
              <a:t>docker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07808" y="3447287"/>
            <a:ext cx="357530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B9C8DA"/>
                </a:solidFill>
                <a:latin typeface="Aptos"/>
              </a:rPr>
              <a:t>Commande clé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320040"/>
            <a:ext cx="3246120" cy="301752"/>
          </a:xfrm>
          <a:prstGeom prst="roundRect">
            <a:avLst/>
          </a:prstGeom>
          <a:solidFill>
            <a:srgbClr val="1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27432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2.4 Commandes Docker de 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4652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F6B7A"/>
                </a:solidFill>
                <a:latin typeface="Aptos"/>
              </a:rPr>
              <a:t>32/90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263640"/>
            <a:ext cx="10789920" cy="9144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713232"/>
            <a:ext cx="685800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72033"/>
                </a:solidFill>
                <a:latin typeface="Aptos"/>
              </a:rPr>
              <a:t>docker ps -a liste tout l’historique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64208"/>
            <a:ext cx="612648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Inclut les conteneurs arrêtés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Aide à comprendre les échecs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Permet de retrouver un ancien conteneur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1572768"/>
            <a:ext cx="4160520" cy="2423160"/>
          </a:xfrm>
          <a:prstGeom prst="roundRect">
            <a:avLst/>
          </a:prstGeom>
          <a:solidFill>
            <a:srgbClr val="12304A"/>
          </a:solidFill>
          <a:ln w="12700">
            <a:solidFill>
              <a:srgbClr val="0C2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1572768"/>
            <a:ext cx="4160520" cy="384048"/>
          </a:xfrm>
          <a:prstGeom prst="rect">
            <a:avLst/>
          </a:prstGeom>
          <a:solidFill>
            <a:srgbClr val="20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479792" y="1700784"/>
            <a:ext cx="91440" cy="91440"/>
          </a:xfrm>
          <a:prstGeom prst="ellipse">
            <a:avLst/>
          </a:prstGeom>
          <a:solidFill>
            <a:srgbClr val="C9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90104" y="1700784"/>
            <a:ext cx="91440" cy="91440"/>
          </a:xfrm>
          <a:prstGeom prst="ellipse">
            <a:avLst/>
          </a:prstGeom>
          <a:solidFill>
            <a:srgbClr val="E79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900416" y="1700784"/>
            <a:ext cx="91440" cy="91440"/>
          </a:xfrm>
          <a:prstGeom prst="ellipse">
            <a:avLst/>
          </a:prstGeom>
          <a:solidFill>
            <a:srgbClr val="2F8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07808" y="2441448"/>
            <a:ext cx="274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2304A"/>
                </a:solidFill>
                <a:latin typeface="Consolas"/>
              </a:rPr>
              <a:t>$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73568" y="2441448"/>
            <a:ext cx="3246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onsolas"/>
              </a:rPr>
              <a:t>docker ps -a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07808" y="3447287"/>
            <a:ext cx="357530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B9C8DA"/>
                </a:solidFill>
                <a:latin typeface="Aptos"/>
              </a:rPr>
              <a:t>Commande clé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320040"/>
            <a:ext cx="3246120" cy="301752"/>
          </a:xfrm>
          <a:prstGeom prst="roundRect">
            <a:avLst/>
          </a:prstGeom>
          <a:solidFill>
            <a:srgbClr val="1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27432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2.4 Commandes Docker de 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4652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F6B7A"/>
                </a:solidFill>
                <a:latin typeface="Aptos"/>
              </a:rPr>
              <a:t>33/90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263640"/>
            <a:ext cx="10789920" cy="9144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713232"/>
            <a:ext cx="685800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72033"/>
                </a:solidFill>
                <a:latin typeface="Aptos"/>
              </a:rPr>
              <a:t>docker inspect affiche les détails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64208"/>
            <a:ext cx="612648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Retourne la configuration complète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Montre réseau, volumes et variables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Sortie détaillée en JSON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1572768"/>
            <a:ext cx="4160520" cy="2423160"/>
          </a:xfrm>
          <a:prstGeom prst="roundRect">
            <a:avLst/>
          </a:prstGeom>
          <a:solidFill>
            <a:srgbClr val="12304A"/>
          </a:solidFill>
          <a:ln w="12700">
            <a:solidFill>
              <a:srgbClr val="0C2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1572768"/>
            <a:ext cx="4160520" cy="384048"/>
          </a:xfrm>
          <a:prstGeom prst="rect">
            <a:avLst/>
          </a:prstGeom>
          <a:solidFill>
            <a:srgbClr val="20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479792" y="1700784"/>
            <a:ext cx="91440" cy="91440"/>
          </a:xfrm>
          <a:prstGeom prst="ellipse">
            <a:avLst/>
          </a:prstGeom>
          <a:solidFill>
            <a:srgbClr val="C9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90104" y="1700784"/>
            <a:ext cx="91440" cy="91440"/>
          </a:xfrm>
          <a:prstGeom prst="ellipse">
            <a:avLst/>
          </a:prstGeom>
          <a:solidFill>
            <a:srgbClr val="E79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900416" y="1700784"/>
            <a:ext cx="91440" cy="91440"/>
          </a:xfrm>
          <a:prstGeom prst="ellipse">
            <a:avLst/>
          </a:prstGeom>
          <a:solidFill>
            <a:srgbClr val="2F8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07808" y="2441448"/>
            <a:ext cx="274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2304A"/>
                </a:solidFill>
                <a:latin typeface="Consolas"/>
              </a:rPr>
              <a:t>$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73568" y="2441448"/>
            <a:ext cx="3246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onsolas"/>
              </a:rPr>
              <a:t>docker inspect &lt;conteneur&gt;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07808" y="3447287"/>
            <a:ext cx="357530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B9C8DA"/>
                </a:solidFill>
                <a:latin typeface="Aptos"/>
              </a:rPr>
              <a:t>Commande clé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320040"/>
            <a:ext cx="3246120" cy="301752"/>
          </a:xfrm>
          <a:prstGeom prst="roundRect">
            <a:avLst/>
          </a:prstGeom>
          <a:solidFill>
            <a:srgbClr val="1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27432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2.4 Commandes Docker de 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4652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F6B7A"/>
                </a:solidFill>
                <a:latin typeface="Aptos"/>
              </a:rPr>
              <a:t>34/90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263640"/>
            <a:ext cx="10789920" cy="9144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713232"/>
            <a:ext cx="685800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72033"/>
                </a:solidFill>
                <a:latin typeface="Aptos"/>
              </a:rPr>
              <a:t>docker logs lit la sortie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64208"/>
            <a:ext cx="612648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Affiche les logs du conteneur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Aide au diagnostic rapide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Suit la sortie de l’application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1572768"/>
            <a:ext cx="4160520" cy="2423160"/>
          </a:xfrm>
          <a:prstGeom prst="roundRect">
            <a:avLst/>
          </a:prstGeom>
          <a:solidFill>
            <a:srgbClr val="12304A"/>
          </a:solidFill>
          <a:ln w="12700">
            <a:solidFill>
              <a:srgbClr val="0C2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1572768"/>
            <a:ext cx="4160520" cy="384048"/>
          </a:xfrm>
          <a:prstGeom prst="rect">
            <a:avLst/>
          </a:prstGeom>
          <a:solidFill>
            <a:srgbClr val="20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479792" y="1700784"/>
            <a:ext cx="91440" cy="91440"/>
          </a:xfrm>
          <a:prstGeom prst="ellipse">
            <a:avLst/>
          </a:prstGeom>
          <a:solidFill>
            <a:srgbClr val="C9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90104" y="1700784"/>
            <a:ext cx="91440" cy="91440"/>
          </a:xfrm>
          <a:prstGeom prst="ellipse">
            <a:avLst/>
          </a:prstGeom>
          <a:solidFill>
            <a:srgbClr val="E79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900416" y="1700784"/>
            <a:ext cx="91440" cy="91440"/>
          </a:xfrm>
          <a:prstGeom prst="ellipse">
            <a:avLst/>
          </a:prstGeom>
          <a:solidFill>
            <a:srgbClr val="2F8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07808" y="2441448"/>
            <a:ext cx="274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2304A"/>
                </a:solidFill>
                <a:latin typeface="Consolas"/>
              </a:rPr>
              <a:t>$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73568" y="2441448"/>
            <a:ext cx="3246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onsolas"/>
              </a:rPr>
              <a:t>docker logs &lt;conteneur&gt;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07808" y="3447287"/>
            <a:ext cx="357530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B9C8DA"/>
                </a:solidFill>
                <a:latin typeface="Aptos"/>
              </a:rPr>
              <a:t>Commande clé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320040"/>
            <a:ext cx="3246120" cy="301752"/>
          </a:xfrm>
          <a:prstGeom prst="roundRect">
            <a:avLst/>
          </a:prstGeom>
          <a:solidFill>
            <a:srgbClr val="1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27432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2.4 Commandes Docker de 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4652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F6B7A"/>
                </a:solidFill>
                <a:latin typeface="Aptos"/>
              </a:rPr>
              <a:t>35/90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263640"/>
            <a:ext cx="10789920" cy="9144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713232"/>
            <a:ext cx="685800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72033"/>
                </a:solidFill>
                <a:latin typeface="Aptos"/>
              </a:rPr>
              <a:t>docker exec exécute dans un conteneur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64208"/>
            <a:ext cx="612648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Lance une commande dans un conteneur actif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Utile pour vérifier l’état interne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À utiliser avec prudence en production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1572768"/>
            <a:ext cx="4160520" cy="2423160"/>
          </a:xfrm>
          <a:prstGeom prst="roundRect">
            <a:avLst/>
          </a:prstGeom>
          <a:solidFill>
            <a:srgbClr val="12304A"/>
          </a:solidFill>
          <a:ln w="12700">
            <a:solidFill>
              <a:srgbClr val="0C2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1572768"/>
            <a:ext cx="4160520" cy="384048"/>
          </a:xfrm>
          <a:prstGeom prst="rect">
            <a:avLst/>
          </a:prstGeom>
          <a:solidFill>
            <a:srgbClr val="20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479792" y="1700784"/>
            <a:ext cx="91440" cy="91440"/>
          </a:xfrm>
          <a:prstGeom prst="ellipse">
            <a:avLst/>
          </a:prstGeom>
          <a:solidFill>
            <a:srgbClr val="C9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90104" y="1700784"/>
            <a:ext cx="91440" cy="91440"/>
          </a:xfrm>
          <a:prstGeom prst="ellipse">
            <a:avLst/>
          </a:prstGeom>
          <a:solidFill>
            <a:srgbClr val="E79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900416" y="1700784"/>
            <a:ext cx="91440" cy="91440"/>
          </a:xfrm>
          <a:prstGeom prst="ellipse">
            <a:avLst/>
          </a:prstGeom>
          <a:solidFill>
            <a:srgbClr val="2F8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07808" y="2441448"/>
            <a:ext cx="274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2304A"/>
                </a:solidFill>
                <a:latin typeface="Consolas"/>
              </a:rPr>
              <a:t>$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73568" y="2441448"/>
            <a:ext cx="3246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onsolas"/>
              </a:rPr>
              <a:t>docker exec -it &lt;conteneur&gt; 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07808" y="3447287"/>
            <a:ext cx="357530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B9C8DA"/>
                </a:solidFill>
                <a:latin typeface="Aptos"/>
              </a:rPr>
              <a:t>Commande clé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320040"/>
            <a:ext cx="3246120" cy="301752"/>
          </a:xfrm>
          <a:prstGeom prst="roundRect">
            <a:avLst/>
          </a:prstGeom>
          <a:solidFill>
            <a:srgbClr val="1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27432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2.4 Commandes Docker de 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4652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F6B7A"/>
                </a:solidFill>
                <a:latin typeface="Aptos"/>
              </a:rPr>
              <a:t>36/90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263640"/>
            <a:ext cx="10789920" cy="9144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713232"/>
            <a:ext cx="685800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72033"/>
                </a:solidFill>
                <a:latin typeface="Aptos"/>
              </a:rPr>
              <a:t>docker stop arrête proprement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64208"/>
            <a:ext cx="612648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Demande l’arrêt du processus principal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Laisse le conteneur exister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Évite de tuer brutalement le service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1572768"/>
            <a:ext cx="4160520" cy="2423160"/>
          </a:xfrm>
          <a:prstGeom prst="roundRect">
            <a:avLst/>
          </a:prstGeom>
          <a:solidFill>
            <a:srgbClr val="12304A"/>
          </a:solidFill>
          <a:ln w="12700">
            <a:solidFill>
              <a:srgbClr val="0C2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1572768"/>
            <a:ext cx="4160520" cy="384048"/>
          </a:xfrm>
          <a:prstGeom prst="rect">
            <a:avLst/>
          </a:prstGeom>
          <a:solidFill>
            <a:srgbClr val="20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479792" y="1700784"/>
            <a:ext cx="91440" cy="91440"/>
          </a:xfrm>
          <a:prstGeom prst="ellipse">
            <a:avLst/>
          </a:prstGeom>
          <a:solidFill>
            <a:srgbClr val="C9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90104" y="1700784"/>
            <a:ext cx="91440" cy="91440"/>
          </a:xfrm>
          <a:prstGeom prst="ellipse">
            <a:avLst/>
          </a:prstGeom>
          <a:solidFill>
            <a:srgbClr val="E79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900416" y="1700784"/>
            <a:ext cx="91440" cy="91440"/>
          </a:xfrm>
          <a:prstGeom prst="ellipse">
            <a:avLst/>
          </a:prstGeom>
          <a:solidFill>
            <a:srgbClr val="2F8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07808" y="2441448"/>
            <a:ext cx="274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2304A"/>
                </a:solidFill>
                <a:latin typeface="Consolas"/>
              </a:rPr>
              <a:t>$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73568" y="2441448"/>
            <a:ext cx="3246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onsolas"/>
              </a:rPr>
              <a:t>docker stop &lt;conteneur&gt;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07808" y="3447287"/>
            <a:ext cx="357530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B9C8DA"/>
                </a:solidFill>
                <a:latin typeface="Aptos"/>
              </a:rPr>
              <a:t>Commande clé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320040"/>
            <a:ext cx="3246120" cy="301752"/>
          </a:xfrm>
          <a:prstGeom prst="roundRect">
            <a:avLst/>
          </a:prstGeom>
          <a:solidFill>
            <a:srgbClr val="1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27432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2.4 Commandes Docker de 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4652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F6B7A"/>
                </a:solidFill>
                <a:latin typeface="Aptos"/>
              </a:rPr>
              <a:t>37/90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263640"/>
            <a:ext cx="10789920" cy="9144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713232"/>
            <a:ext cx="685800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72033"/>
                </a:solidFill>
                <a:latin typeface="Aptos"/>
              </a:rPr>
              <a:t>docker rm supprime un conteneur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64208"/>
            <a:ext cx="612648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Supprime un conteneur arrêté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Libère de l’espace et de la liste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Ne supprime pas l’image utilisée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1572768"/>
            <a:ext cx="4160520" cy="2423160"/>
          </a:xfrm>
          <a:prstGeom prst="roundRect">
            <a:avLst/>
          </a:prstGeom>
          <a:solidFill>
            <a:srgbClr val="12304A"/>
          </a:solidFill>
          <a:ln w="12700">
            <a:solidFill>
              <a:srgbClr val="0C2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1572768"/>
            <a:ext cx="4160520" cy="384048"/>
          </a:xfrm>
          <a:prstGeom prst="rect">
            <a:avLst/>
          </a:prstGeom>
          <a:solidFill>
            <a:srgbClr val="20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479792" y="1700784"/>
            <a:ext cx="91440" cy="91440"/>
          </a:xfrm>
          <a:prstGeom prst="ellipse">
            <a:avLst/>
          </a:prstGeom>
          <a:solidFill>
            <a:srgbClr val="C9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90104" y="1700784"/>
            <a:ext cx="91440" cy="91440"/>
          </a:xfrm>
          <a:prstGeom prst="ellipse">
            <a:avLst/>
          </a:prstGeom>
          <a:solidFill>
            <a:srgbClr val="E79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900416" y="1700784"/>
            <a:ext cx="91440" cy="91440"/>
          </a:xfrm>
          <a:prstGeom prst="ellipse">
            <a:avLst/>
          </a:prstGeom>
          <a:solidFill>
            <a:srgbClr val="2F8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07808" y="2441448"/>
            <a:ext cx="274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2304A"/>
                </a:solidFill>
                <a:latin typeface="Consolas"/>
              </a:rPr>
              <a:t>$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73568" y="2441448"/>
            <a:ext cx="3246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onsolas"/>
              </a:rPr>
              <a:t>docker rm &lt;conteneur&gt;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07808" y="3447287"/>
            <a:ext cx="357530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B9C8DA"/>
                </a:solidFill>
                <a:latin typeface="Aptos"/>
              </a:rPr>
              <a:t>Commande clé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320040"/>
            <a:ext cx="3246120" cy="301752"/>
          </a:xfrm>
          <a:prstGeom prst="roundRect">
            <a:avLst/>
          </a:prstGeom>
          <a:solidFill>
            <a:srgbClr val="1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27432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2.4 Commandes Docker de 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4652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F6B7A"/>
                </a:solidFill>
                <a:latin typeface="Aptos"/>
              </a:rPr>
              <a:t>38/90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263640"/>
            <a:ext cx="10789920" cy="9144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713232"/>
            <a:ext cx="685800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72033"/>
                </a:solidFill>
                <a:latin typeface="Aptos"/>
              </a:rPr>
              <a:t>docker images liste les images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64208"/>
            <a:ext cx="612648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Affiche les images locales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Montre tags, tailles et identifiants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Aide à nettoyer le poste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1572768"/>
            <a:ext cx="4160520" cy="2423160"/>
          </a:xfrm>
          <a:prstGeom prst="roundRect">
            <a:avLst/>
          </a:prstGeom>
          <a:solidFill>
            <a:srgbClr val="12304A"/>
          </a:solidFill>
          <a:ln w="12700">
            <a:solidFill>
              <a:srgbClr val="0C2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1572768"/>
            <a:ext cx="4160520" cy="384048"/>
          </a:xfrm>
          <a:prstGeom prst="rect">
            <a:avLst/>
          </a:prstGeom>
          <a:solidFill>
            <a:srgbClr val="20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479792" y="1700784"/>
            <a:ext cx="91440" cy="91440"/>
          </a:xfrm>
          <a:prstGeom prst="ellipse">
            <a:avLst/>
          </a:prstGeom>
          <a:solidFill>
            <a:srgbClr val="C9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90104" y="1700784"/>
            <a:ext cx="91440" cy="91440"/>
          </a:xfrm>
          <a:prstGeom prst="ellipse">
            <a:avLst/>
          </a:prstGeom>
          <a:solidFill>
            <a:srgbClr val="E79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900416" y="1700784"/>
            <a:ext cx="91440" cy="91440"/>
          </a:xfrm>
          <a:prstGeom prst="ellipse">
            <a:avLst/>
          </a:prstGeom>
          <a:solidFill>
            <a:srgbClr val="2F8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07808" y="2441448"/>
            <a:ext cx="274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2304A"/>
                </a:solidFill>
                <a:latin typeface="Consolas"/>
              </a:rPr>
              <a:t>$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73568" y="2441448"/>
            <a:ext cx="3246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onsolas"/>
              </a:rPr>
              <a:t>docker images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07808" y="3447287"/>
            <a:ext cx="357530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B9C8DA"/>
                </a:solidFill>
                <a:latin typeface="Aptos"/>
              </a:rPr>
              <a:t>Commande clé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320040"/>
            <a:ext cx="3246120" cy="301752"/>
          </a:xfrm>
          <a:prstGeom prst="roundRect">
            <a:avLst/>
          </a:prstGeom>
          <a:solidFill>
            <a:srgbClr val="1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27432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2.4 Commandes Docker de 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4652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F6B7A"/>
                </a:solidFill>
                <a:latin typeface="Aptos"/>
              </a:rPr>
              <a:t>39/90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263640"/>
            <a:ext cx="10789920" cy="9144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713232"/>
            <a:ext cx="685800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72033"/>
                </a:solidFill>
                <a:latin typeface="Aptos"/>
              </a:rPr>
              <a:t>docker rmi supprime une image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64208"/>
            <a:ext cx="612648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Supprime une image locale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Possible si aucun conteneur ne l’utilise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Libère de l’espace disque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1572768"/>
            <a:ext cx="4160520" cy="2423160"/>
          </a:xfrm>
          <a:prstGeom prst="roundRect">
            <a:avLst/>
          </a:prstGeom>
          <a:solidFill>
            <a:srgbClr val="12304A"/>
          </a:solidFill>
          <a:ln w="12700">
            <a:solidFill>
              <a:srgbClr val="0C2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1572768"/>
            <a:ext cx="4160520" cy="384048"/>
          </a:xfrm>
          <a:prstGeom prst="rect">
            <a:avLst/>
          </a:prstGeom>
          <a:solidFill>
            <a:srgbClr val="20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479792" y="1700784"/>
            <a:ext cx="91440" cy="91440"/>
          </a:xfrm>
          <a:prstGeom prst="ellipse">
            <a:avLst/>
          </a:prstGeom>
          <a:solidFill>
            <a:srgbClr val="C9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90104" y="1700784"/>
            <a:ext cx="91440" cy="91440"/>
          </a:xfrm>
          <a:prstGeom prst="ellipse">
            <a:avLst/>
          </a:prstGeom>
          <a:solidFill>
            <a:srgbClr val="E79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900416" y="1700784"/>
            <a:ext cx="91440" cy="91440"/>
          </a:xfrm>
          <a:prstGeom prst="ellipse">
            <a:avLst/>
          </a:prstGeom>
          <a:solidFill>
            <a:srgbClr val="2F8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07808" y="2441448"/>
            <a:ext cx="274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2304A"/>
                </a:solidFill>
                <a:latin typeface="Consolas"/>
              </a:rPr>
              <a:t>$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73568" y="2441448"/>
            <a:ext cx="3246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onsolas"/>
              </a:rPr>
              <a:t>docker rmi &lt;image&gt;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07808" y="3447287"/>
            <a:ext cx="357530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B9C8DA"/>
                </a:solidFill>
                <a:latin typeface="Aptos"/>
              </a:rPr>
              <a:t>Commande clé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A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320040"/>
            <a:ext cx="3246120" cy="301752"/>
          </a:xfrm>
          <a:prstGeom prst="roundRect">
            <a:avLst/>
          </a:prstGeom>
          <a:solidFill>
            <a:srgbClr val="1CA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27432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2.5 Réseaux sur Docker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4652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F6B7A"/>
                </a:solidFill>
                <a:latin typeface="Aptos"/>
              </a:rPr>
              <a:t>40/90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263640"/>
            <a:ext cx="10789920" cy="9144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713232"/>
            <a:ext cx="685800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72033"/>
                </a:solidFill>
                <a:latin typeface="Aptos"/>
              </a:rPr>
              <a:t>Réseau par défaut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64208"/>
            <a:ext cx="612648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Docker crée un réseau automatiquement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Les conteneurs peuvent sortir vers Internet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La configuration suffit pour les tests simples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8138160" y="1645920"/>
            <a:ext cx="1143000" cy="1097280"/>
          </a:xfrm>
          <a:prstGeom prst="line">
            <a:avLst/>
          </a:prstGeom>
          <a:ln w="16510">
            <a:solidFill>
              <a:srgbClr val="B7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281160" y="1645920"/>
            <a:ext cx="1097280" cy="1097280"/>
          </a:xfrm>
          <a:prstGeom prst="line">
            <a:avLst/>
          </a:prstGeom>
          <a:ln w="16510">
            <a:solidFill>
              <a:srgbClr val="B7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138160" y="2743200"/>
            <a:ext cx="1143000" cy="1097280"/>
          </a:xfrm>
          <a:prstGeom prst="line">
            <a:avLst/>
          </a:prstGeom>
          <a:ln w="16510">
            <a:solidFill>
              <a:srgbClr val="B7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9281160" y="2743200"/>
            <a:ext cx="1097280" cy="1097280"/>
          </a:xfrm>
          <a:prstGeom prst="line">
            <a:avLst/>
          </a:prstGeom>
          <a:ln w="16510">
            <a:solidFill>
              <a:srgbClr val="B7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138160" y="2743200"/>
            <a:ext cx="2240280" cy="0"/>
          </a:xfrm>
          <a:prstGeom prst="line">
            <a:avLst/>
          </a:prstGeom>
          <a:ln w="16510">
            <a:solidFill>
              <a:srgbClr val="B7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8988552" y="1353312"/>
            <a:ext cx="585216" cy="585216"/>
          </a:xfrm>
          <a:prstGeom prst="ellipse">
            <a:avLst/>
          </a:prstGeom>
          <a:solidFill>
            <a:srgbClr val="1CA7B8"/>
          </a:solidFill>
          <a:ln w="16510">
            <a:solidFill>
              <a:srgbClr val="1CA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88552" y="1536192"/>
            <a:ext cx="58521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6" name="Oval 15"/>
          <p:cNvSpPr/>
          <p:nvPr/>
        </p:nvSpPr>
        <p:spPr>
          <a:xfrm>
            <a:off x="7845552" y="2450592"/>
            <a:ext cx="585216" cy="585216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CA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45552" y="2633472"/>
            <a:ext cx="58521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CA7B8"/>
                </a:solidFill>
                <a:latin typeface="Aptos"/>
              </a:rPr>
              <a:t>2</a:t>
            </a:r>
          </a:p>
        </p:txBody>
      </p:sp>
      <p:sp>
        <p:nvSpPr>
          <p:cNvPr id="18" name="Oval 17"/>
          <p:cNvSpPr/>
          <p:nvPr/>
        </p:nvSpPr>
        <p:spPr>
          <a:xfrm>
            <a:off x="10085832" y="2450592"/>
            <a:ext cx="585216" cy="585216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CA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85832" y="2633472"/>
            <a:ext cx="58521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CA7B8"/>
                </a:solidFill>
                <a:latin typeface="Aptos"/>
              </a:rPr>
              <a:t>3</a:t>
            </a:r>
          </a:p>
        </p:txBody>
      </p:sp>
      <p:sp>
        <p:nvSpPr>
          <p:cNvPr id="20" name="Oval 19"/>
          <p:cNvSpPr/>
          <p:nvPr/>
        </p:nvSpPr>
        <p:spPr>
          <a:xfrm>
            <a:off x="8988552" y="3547872"/>
            <a:ext cx="585216" cy="585216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CA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88552" y="3730752"/>
            <a:ext cx="58521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CA7B8"/>
                </a:solidFill>
                <a:latin typeface="Apto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02168" y="448056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F6B7A"/>
                </a:solidFill>
                <a:latin typeface="Aptos"/>
              </a:rPr>
              <a:t>réseau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A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320040"/>
            <a:ext cx="3246120" cy="301752"/>
          </a:xfrm>
          <a:prstGeom prst="roundRect">
            <a:avLst/>
          </a:prstGeom>
          <a:solidFill>
            <a:srgbClr val="1CA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27432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2.5 Réseaux sur Docker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4652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F6B7A"/>
                </a:solidFill>
                <a:latin typeface="Aptos"/>
              </a:rPr>
              <a:t>41/90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263640"/>
            <a:ext cx="10789920" cy="9144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713232"/>
            <a:ext cx="685800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72033"/>
                </a:solidFill>
                <a:latin typeface="Aptos"/>
              </a:rPr>
              <a:t>Driver bridge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64208"/>
            <a:ext cx="612648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Réseau local isolé sur l’hôte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Mode par défaut le plus courant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Idéal pour relier plusieurs conteneurs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8138160" y="1645920"/>
            <a:ext cx="1143000" cy="1097280"/>
          </a:xfrm>
          <a:prstGeom prst="line">
            <a:avLst/>
          </a:prstGeom>
          <a:ln w="16510">
            <a:solidFill>
              <a:srgbClr val="B7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281160" y="1645920"/>
            <a:ext cx="1097280" cy="1097280"/>
          </a:xfrm>
          <a:prstGeom prst="line">
            <a:avLst/>
          </a:prstGeom>
          <a:ln w="16510">
            <a:solidFill>
              <a:srgbClr val="B7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138160" y="2743200"/>
            <a:ext cx="1143000" cy="1097280"/>
          </a:xfrm>
          <a:prstGeom prst="line">
            <a:avLst/>
          </a:prstGeom>
          <a:ln w="16510">
            <a:solidFill>
              <a:srgbClr val="B7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9281160" y="2743200"/>
            <a:ext cx="1097280" cy="1097280"/>
          </a:xfrm>
          <a:prstGeom prst="line">
            <a:avLst/>
          </a:prstGeom>
          <a:ln w="16510">
            <a:solidFill>
              <a:srgbClr val="B7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138160" y="2743200"/>
            <a:ext cx="2240280" cy="0"/>
          </a:xfrm>
          <a:prstGeom prst="line">
            <a:avLst/>
          </a:prstGeom>
          <a:ln w="16510">
            <a:solidFill>
              <a:srgbClr val="B7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8988552" y="1353312"/>
            <a:ext cx="585216" cy="585216"/>
          </a:xfrm>
          <a:prstGeom prst="ellipse">
            <a:avLst/>
          </a:prstGeom>
          <a:solidFill>
            <a:srgbClr val="1CA7B8"/>
          </a:solidFill>
          <a:ln w="16510">
            <a:solidFill>
              <a:srgbClr val="1CA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88552" y="1536192"/>
            <a:ext cx="58521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6" name="Oval 15"/>
          <p:cNvSpPr/>
          <p:nvPr/>
        </p:nvSpPr>
        <p:spPr>
          <a:xfrm>
            <a:off x="7845552" y="2450592"/>
            <a:ext cx="585216" cy="585216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CA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45552" y="2633472"/>
            <a:ext cx="58521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CA7B8"/>
                </a:solidFill>
                <a:latin typeface="Aptos"/>
              </a:rPr>
              <a:t>2</a:t>
            </a:r>
          </a:p>
        </p:txBody>
      </p:sp>
      <p:sp>
        <p:nvSpPr>
          <p:cNvPr id="18" name="Oval 17"/>
          <p:cNvSpPr/>
          <p:nvPr/>
        </p:nvSpPr>
        <p:spPr>
          <a:xfrm>
            <a:off x="10085832" y="2450592"/>
            <a:ext cx="585216" cy="585216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CA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85832" y="2633472"/>
            <a:ext cx="58521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CA7B8"/>
                </a:solidFill>
                <a:latin typeface="Aptos"/>
              </a:rPr>
              <a:t>3</a:t>
            </a:r>
          </a:p>
        </p:txBody>
      </p:sp>
      <p:sp>
        <p:nvSpPr>
          <p:cNvPr id="20" name="Oval 19"/>
          <p:cNvSpPr/>
          <p:nvPr/>
        </p:nvSpPr>
        <p:spPr>
          <a:xfrm>
            <a:off x="8988552" y="3547872"/>
            <a:ext cx="585216" cy="585216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CA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88552" y="3730752"/>
            <a:ext cx="58521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CA7B8"/>
                </a:solidFill>
                <a:latin typeface="Apto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02168" y="448056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F6B7A"/>
                </a:solidFill>
                <a:latin typeface="Aptos"/>
              </a:rPr>
              <a:t>réseau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A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320040"/>
            <a:ext cx="3246120" cy="301752"/>
          </a:xfrm>
          <a:prstGeom prst="roundRect">
            <a:avLst/>
          </a:prstGeom>
          <a:solidFill>
            <a:srgbClr val="1CA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27432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2.5 Réseaux sur Docker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4652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F6B7A"/>
                </a:solidFill>
                <a:latin typeface="Aptos"/>
              </a:rPr>
              <a:t>42/90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263640"/>
            <a:ext cx="10789920" cy="9144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713232"/>
            <a:ext cx="685800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72033"/>
                </a:solidFill>
                <a:latin typeface="Aptos"/>
              </a:rPr>
              <a:t>Driver host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64208"/>
            <a:ext cx="612648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Le conteneur partage le réseau de l’hôte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Moins d’isolation réseau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Utile pour certains besoins de performance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8138160" y="1645920"/>
            <a:ext cx="1143000" cy="1097280"/>
          </a:xfrm>
          <a:prstGeom prst="line">
            <a:avLst/>
          </a:prstGeom>
          <a:ln w="16510">
            <a:solidFill>
              <a:srgbClr val="B7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281160" y="1645920"/>
            <a:ext cx="1097280" cy="1097280"/>
          </a:xfrm>
          <a:prstGeom prst="line">
            <a:avLst/>
          </a:prstGeom>
          <a:ln w="16510">
            <a:solidFill>
              <a:srgbClr val="B7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138160" y="2743200"/>
            <a:ext cx="1143000" cy="1097280"/>
          </a:xfrm>
          <a:prstGeom prst="line">
            <a:avLst/>
          </a:prstGeom>
          <a:ln w="16510">
            <a:solidFill>
              <a:srgbClr val="B7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9281160" y="2743200"/>
            <a:ext cx="1097280" cy="1097280"/>
          </a:xfrm>
          <a:prstGeom prst="line">
            <a:avLst/>
          </a:prstGeom>
          <a:ln w="16510">
            <a:solidFill>
              <a:srgbClr val="B7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138160" y="2743200"/>
            <a:ext cx="2240280" cy="0"/>
          </a:xfrm>
          <a:prstGeom prst="line">
            <a:avLst/>
          </a:prstGeom>
          <a:ln w="16510">
            <a:solidFill>
              <a:srgbClr val="B7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8988552" y="1353312"/>
            <a:ext cx="585216" cy="585216"/>
          </a:xfrm>
          <a:prstGeom prst="ellipse">
            <a:avLst/>
          </a:prstGeom>
          <a:solidFill>
            <a:srgbClr val="1CA7B8"/>
          </a:solidFill>
          <a:ln w="16510">
            <a:solidFill>
              <a:srgbClr val="1CA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88552" y="1536192"/>
            <a:ext cx="58521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6" name="Oval 15"/>
          <p:cNvSpPr/>
          <p:nvPr/>
        </p:nvSpPr>
        <p:spPr>
          <a:xfrm>
            <a:off x="7845552" y="2450592"/>
            <a:ext cx="585216" cy="585216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CA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45552" y="2633472"/>
            <a:ext cx="58521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CA7B8"/>
                </a:solidFill>
                <a:latin typeface="Aptos"/>
              </a:rPr>
              <a:t>2</a:t>
            </a:r>
          </a:p>
        </p:txBody>
      </p:sp>
      <p:sp>
        <p:nvSpPr>
          <p:cNvPr id="18" name="Oval 17"/>
          <p:cNvSpPr/>
          <p:nvPr/>
        </p:nvSpPr>
        <p:spPr>
          <a:xfrm>
            <a:off x="10085832" y="2450592"/>
            <a:ext cx="585216" cy="585216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CA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85832" y="2633472"/>
            <a:ext cx="58521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CA7B8"/>
                </a:solidFill>
                <a:latin typeface="Aptos"/>
              </a:rPr>
              <a:t>3</a:t>
            </a:r>
          </a:p>
        </p:txBody>
      </p:sp>
      <p:sp>
        <p:nvSpPr>
          <p:cNvPr id="20" name="Oval 19"/>
          <p:cNvSpPr/>
          <p:nvPr/>
        </p:nvSpPr>
        <p:spPr>
          <a:xfrm>
            <a:off x="8988552" y="3547872"/>
            <a:ext cx="585216" cy="585216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CA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88552" y="3730752"/>
            <a:ext cx="58521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CA7B8"/>
                </a:solidFill>
                <a:latin typeface="Apto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02168" y="448056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F6B7A"/>
                </a:solidFill>
                <a:latin typeface="Aptos"/>
              </a:rPr>
              <a:t>réseau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A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320040"/>
            <a:ext cx="3246120" cy="301752"/>
          </a:xfrm>
          <a:prstGeom prst="roundRect">
            <a:avLst/>
          </a:prstGeom>
          <a:solidFill>
            <a:srgbClr val="1CA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27432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2.5 Réseaux sur Docker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4652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F6B7A"/>
                </a:solidFill>
                <a:latin typeface="Aptos"/>
              </a:rPr>
              <a:t>43/90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263640"/>
            <a:ext cx="10789920" cy="9144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713232"/>
            <a:ext cx="685800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72033"/>
                </a:solidFill>
                <a:latin typeface="Aptos"/>
              </a:rPr>
              <a:t>Autres drivers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64208"/>
            <a:ext cx="612648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overlay pour plusieurs hôtes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macvlan pour une IP dédiée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none pour couper le réseau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8138160" y="1645920"/>
            <a:ext cx="1143000" cy="1097280"/>
          </a:xfrm>
          <a:prstGeom prst="line">
            <a:avLst/>
          </a:prstGeom>
          <a:ln w="16510">
            <a:solidFill>
              <a:srgbClr val="B7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281160" y="1645920"/>
            <a:ext cx="1097280" cy="1097280"/>
          </a:xfrm>
          <a:prstGeom prst="line">
            <a:avLst/>
          </a:prstGeom>
          <a:ln w="16510">
            <a:solidFill>
              <a:srgbClr val="B7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138160" y="2743200"/>
            <a:ext cx="1143000" cy="1097280"/>
          </a:xfrm>
          <a:prstGeom prst="line">
            <a:avLst/>
          </a:prstGeom>
          <a:ln w="16510">
            <a:solidFill>
              <a:srgbClr val="B7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9281160" y="2743200"/>
            <a:ext cx="1097280" cy="1097280"/>
          </a:xfrm>
          <a:prstGeom prst="line">
            <a:avLst/>
          </a:prstGeom>
          <a:ln w="16510">
            <a:solidFill>
              <a:srgbClr val="B7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138160" y="2743200"/>
            <a:ext cx="2240280" cy="0"/>
          </a:xfrm>
          <a:prstGeom prst="line">
            <a:avLst/>
          </a:prstGeom>
          <a:ln w="16510">
            <a:solidFill>
              <a:srgbClr val="B7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8988552" y="1353312"/>
            <a:ext cx="585216" cy="585216"/>
          </a:xfrm>
          <a:prstGeom prst="ellipse">
            <a:avLst/>
          </a:prstGeom>
          <a:solidFill>
            <a:srgbClr val="1CA7B8"/>
          </a:solidFill>
          <a:ln w="16510">
            <a:solidFill>
              <a:srgbClr val="1CA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88552" y="1536192"/>
            <a:ext cx="58521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6" name="Oval 15"/>
          <p:cNvSpPr/>
          <p:nvPr/>
        </p:nvSpPr>
        <p:spPr>
          <a:xfrm>
            <a:off x="7845552" y="2450592"/>
            <a:ext cx="585216" cy="585216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CA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45552" y="2633472"/>
            <a:ext cx="58521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CA7B8"/>
                </a:solidFill>
                <a:latin typeface="Aptos"/>
              </a:rPr>
              <a:t>2</a:t>
            </a:r>
          </a:p>
        </p:txBody>
      </p:sp>
      <p:sp>
        <p:nvSpPr>
          <p:cNvPr id="18" name="Oval 17"/>
          <p:cNvSpPr/>
          <p:nvPr/>
        </p:nvSpPr>
        <p:spPr>
          <a:xfrm>
            <a:off x="10085832" y="2450592"/>
            <a:ext cx="585216" cy="585216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CA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85832" y="2633472"/>
            <a:ext cx="58521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CA7B8"/>
                </a:solidFill>
                <a:latin typeface="Aptos"/>
              </a:rPr>
              <a:t>3</a:t>
            </a:r>
          </a:p>
        </p:txBody>
      </p:sp>
      <p:sp>
        <p:nvSpPr>
          <p:cNvPr id="20" name="Oval 19"/>
          <p:cNvSpPr/>
          <p:nvPr/>
        </p:nvSpPr>
        <p:spPr>
          <a:xfrm>
            <a:off x="8988552" y="3547872"/>
            <a:ext cx="585216" cy="585216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CA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88552" y="3730752"/>
            <a:ext cx="58521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CA7B8"/>
                </a:solidFill>
                <a:latin typeface="Apto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02168" y="448056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F6B7A"/>
                </a:solidFill>
                <a:latin typeface="Aptos"/>
              </a:rPr>
              <a:t>réseau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A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320040"/>
            <a:ext cx="3246120" cy="301752"/>
          </a:xfrm>
          <a:prstGeom prst="roundRect">
            <a:avLst/>
          </a:prstGeom>
          <a:solidFill>
            <a:srgbClr val="1CA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27432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2.5 Réseaux sur Docker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4652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F6B7A"/>
                </a:solidFill>
                <a:latin typeface="Aptos"/>
              </a:rPr>
              <a:t>44/90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263640"/>
            <a:ext cx="10789920" cy="9144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713232"/>
            <a:ext cx="685800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72033"/>
                </a:solidFill>
                <a:latin typeface="Aptos"/>
              </a:rPr>
              <a:t>Réseau personnalisé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64208"/>
            <a:ext cx="612648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Nommer son réseau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Mieux isoler les applications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Faciliter la communication par nom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8138160" y="1645920"/>
            <a:ext cx="1143000" cy="1097280"/>
          </a:xfrm>
          <a:prstGeom prst="line">
            <a:avLst/>
          </a:prstGeom>
          <a:ln w="16510">
            <a:solidFill>
              <a:srgbClr val="B7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281160" y="1645920"/>
            <a:ext cx="1097280" cy="1097280"/>
          </a:xfrm>
          <a:prstGeom prst="line">
            <a:avLst/>
          </a:prstGeom>
          <a:ln w="16510">
            <a:solidFill>
              <a:srgbClr val="B7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138160" y="2743200"/>
            <a:ext cx="1143000" cy="1097280"/>
          </a:xfrm>
          <a:prstGeom prst="line">
            <a:avLst/>
          </a:prstGeom>
          <a:ln w="16510">
            <a:solidFill>
              <a:srgbClr val="B7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9281160" y="2743200"/>
            <a:ext cx="1097280" cy="1097280"/>
          </a:xfrm>
          <a:prstGeom prst="line">
            <a:avLst/>
          </a:prstGeom>
          <a:ln w="16510">
            <a:solidFill>
              <a:srgbClr val="B7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138160" y="2743200"/>
            <a:ext cx="2240280" cy="0"/>
          </a:xfrm>
          <a:prstGeom prst="line">
            <a:avLst/>
          </a:prstGeom>
          <a:ln w="16510">
            <a:solidFill>
              <a:srgbClr val="B7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8988552" y="1353312"/>
            <a:ext cx="585216" cy="585216"/>
          </a:xfrm>
          <a:prstGeom prst="ellipse">
            <a:avLst/>
          </a:prstGeom>
          <a:solidFill>
            <a:srgbClr val="1CA7B8"/>
          </a:solidFill>
          <a:ln w="16510">
            <a:solidFill>
              <a:srgbClr val="1CA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88552" y="1536192"/>
            <a:ext cx="58521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6" name="Oval 15"/>
          <p:cNvSpPr/>
          <p:nvPr/>
        </p:nvSpPr>
        <p:spPr>
          <a:xfrm>
            <a:off x="7845552" y="2450592"/>
            <a:ext cx="585216" cy="585216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CA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45552" y="2633472"/>
            <a:ext cx="58521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CA7B8"/>
                </a:solidFill>
                <a:latin typeface="Aptos"/>
              </a:rPr>
              <a:t>2</a:t>
            </a:r>
          </a:p>
        </p:txBody>
      </p:sp>
      <p:sp>
        <p:nvSpPr>
          <p:cNvPr id="18" name="Oval 17"/>
          <p:cNvSpPr/>
          <p:nvPr/>
        </p:nvSpPr>
        <p:spPr>
          <a:xfrm>
            <a:off x="10085832" y="2450592"/>
            <a:ext cx="585216" cy="585216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CA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85832" y="2633472"/>
            <a:ext cx="58521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CA7B8"/>
                </a:solidFill>
                <a:latin typeface="Aptos"/>
              </a:rPr>
              <a:t>3</a:t>
            </a:r>
          </a:p>
        </p:txBody>
      </p:sp>
      <p:sp>
        <p:nvSpPr>
          <p:cNvPr id="20" name="Oval 19"/>
          <p:cNvSpPr/>
          <p:nvPr/>
        </p:nvSpPr>
        <p:spPr>
          <a:xfrm>
            <a:off x="8988552" y="3547872"/>
            <a:ext cx="585216" cy="585216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CA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88552" y="3730752"/>
            <a:ext cx="58521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CA7B8"/>
                </a:solidFill>
                <a:latin typeface="Apto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02168" y="448056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F6B7A"/>
                </a:solidFill>
                <a:latin typeface="Aptos"/>
              </a:rPr>
              <a:t>réseau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A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320040"/>
            <a:ext cx="3246120" cy="301752"/>
          </a:xfrm>
          <a:prstGeom prst="roundRect">
            <a:avLst/>
          </a:prstGeom>
          <a:solidFill>
            <a:srgbClr val="1CA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27432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2.5 Réseaux sur Docker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4652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F6B7A"/>
                </a:solidFill>
                <a:latin typeface="Aptos"/>
              </a:rPr>
              <a:t>45/90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263640"/>
            <a:ext cx="10789920" cy="9144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713232"/>
            <a:ext cx="685800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72033"/>
                </a:solidFill>
                <a:latin typeface="Aptos"/>
              </a:rPr>
              <a:t>Communication entre conteneurs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64208"/>
            <a:ext cx="612648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Les services partagent un réseau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Ils s’appellent par nom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Les ports internes restent simples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8138160" y="1645920"/>
            <a:ext cx="1143000" cy="1097280"/>
          </a:xfrm>
          <a:prstGeom prst="line">
            <a:avLst/>
          </a:prstGeom>
          <a:ln w="16510">
            <a:solidFill>
              <a:srgbClr val="B7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281160" y="1645920"/>
            <a:ext cx="1097280" cy="1097280"/>
          </a:xfrm>
          <a:prstGeom prst="line">
            <a:avLst/>
          </a:prstGeom>
          <a:ln w="16510">
            <a:solidFill>
              <a:srgbClr val="B7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138160" y="2743200"/>
            <a:ext cx="1143000" cy="1097280"/>
          </a:xfrm>
          <a:prstGeom prst="line">
            <a:avLst/>
          </a:prstGeom>
          <a:ln w="16510">
            <a:solidFill>
              <a:srgbClr val="B7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9281160" y="2743200"/>
            <a:ext cx="1097280" cy="1097280"/>
          </a:xfrm>
          <a:prstGeom prst="line">
            <a:avLst/>
          </a:prstGeom>
          <a:ln w="16510">
            <a:solidFill>
              <a:srgbClr val="B7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138160" y="2743200"/>
            <a:ext cx="2240280" cy="0"/>
          </a:xfrm>
          <a:prstGeom prst="line">
            <a:avLst/>
          </a:prstGeom>
          <a:ln w="16510">
            <a:solidFill>
              <a:srgbClr val="B7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8988552" y="1353312"/>
            <a:ext cx="585216" cy="585216"/>
          </a:xfrm>
          <a:prstGeom prst="ellipse">
            <a:avLst/>
          </a:prstGeom>
          <a:solidFill>
            <a:srgbClr val="1CA7B8"/>
          </a:solidFill>
          <a:ln w="16510">
            <a:solidFill>
              <a:srgbClr val="1CA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88552" y="1536192"/>
            <a:ext cx="58521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6" name="Oval 15"/>
          <p:cNvSpPr/>
          <p:nvPr/>
        </p:nvSpPr>
        <p:spPr>
          <a:xfrm>
            <a:off x="7845552" y="2450592"/>
            <a:ext cx="585216" cy="585216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CA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45552" y="2633472"/>
            <a:ext cx="58521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CA7B8"/>
                </a:solidFill>
                <a:latin typeface="Aptos"/>
              </a:rPr>
              <a:t>2</a:t>
            </a:r>
          </a:p>
        </p:txBody>
      </p:sp>
      <p:sp>
        <p:nvSpPr>
          <p:cNvPr id="18" name="Oval 17"/>
          <p:cNvSpPr/>
          <p:nvPr/>
        </p:nvSpPr>
        <p:spPr>
          <a:xfrm>
            <a:off x="10085832" y="2450592"/>
            <a:ext cx="585216" cy="585216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CA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85832" y="2633472"/>
            <a:ext cx="58521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CA7B8"/>
                </a:solidFill>
                <a:latin typeface="Aptos"/>
              </a:rPr>
              <a:t>3</a:t>
            </a:r>
          </a:p>
        </p:txBody>
      </p:sp>
      <p:sp>
        <p:nvSpPr>
          <p:cNvPr id="20" name="Oval 19"/>
          <p:cNvSpPr/>
          <p:nvPr/>
        </p:nvSpPr>
        <p:spPr>
          <a:xfrm>
            <a:off x="8988552" y="3547872"/>
            <a:ext cx="585216" cy="585216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CA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88552" y="3730752"/>
            <a:ext cx="58521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CA7B8"/>
                </a:solidFill>
                <a:latin typeface="Apto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02168" y="448056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F6B7A"/>
                </a:solidFill>
                <a:latin typeface="Aptos"/>
              </a:rPr>
              <a:t>réseau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A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320040"/>
            <a:ext cx="3246120" cy="301752"/>
          </a:xfrm>
          <a:prstGeom prst="roundRect">
            <a:avLst/>
          </a:prstGeom>
          <a:solidFill>
            <a:srgbClr val="1CA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27432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2.5 Réseaux sur Docker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4652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F6B7A"/>
                </a:solidFill>
                <a:latin typeface="Aptos"/>
              </a:rPr>
              <a:t>46/90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263640"/>
            <a:ext cx="10789920" cy="9144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713232"/>
            <a:ext cx="685800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72033"/>
                </a:solidFill>
                <a:latin typeface="Aptos"/>
              </a:rPr>
              <a:t>DNS intégré Docker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64208"/>
            <a:ext cx="612648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Docker résout les noms de conteneurs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Pas besoin d’IP fixes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Les noms restent plus lisibles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8138160" y="1645920"/>
            <a:ext cx="1143000" cy="1097280"/>
          </a:xfrm>
          <a:prstGeom prst="line">
            <a:avLst/>
          </a:prstGeom>
          <a:ln w="16510">
            <a:solidFill>
              <a:srgbClr val="B7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281160" y="1645920"/>
            <a:ext cx="1097280" cy="1097280"/>
          </a:xfrm>
          <a:prstGeom prst="line">
            <a:avLst/>
          </a:prstGeom>
          <a:ln w="16510">
            <a:solidFill>
              <a:srgbClr val="B7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138160" y="2743200"/>
            <a:ext cx="1143000" cy="1097280"/>
          </a:xfrm>
          <a:prstGeom prst="line">
            <a:avLst/>
          </a:prstGeom>
          <a:ln w="16510">
            <a:solidFill>
              <a:srgbClr val="B7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9281160" y="2743200"/>
            <a:ext cx="1097280" cy="1097280"/>
          </a:xfrm>
          <a:prstGeom prst="line">
            <a:avLst/>
          </a:prstGeom>
          <a:ln w="16510">
            <a:solidFill>
              <a:srgbClr val="B7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138160" y="2743200"/>
            <a:ext cx="2240280" cy="0"/>
          </a:xfrm>
          <a:prstGeom prst="line">
            <a:avLst/>
          </a:prstGeom>
          <a:ln w="16510">
            <a:solidFill>
              <a:srgbClr val="B7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8988552" y="1353312"/>
            <a:ext cx="585216" cy="585216"/>
          </a:xfrm>
          <a:prstGeom prst="ellipse">
            <a:avLst/>
          </a:prstGeom>
          <a:solidFill>
            <a:srgbClr val="1CA7B8"/>
          </a:solidFill>
          <a:ln w="16510">
            <a:solidFill>
              <a:srgbClr val="1CA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88552" y="1536192"/>
            <a:ext cx="58521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6" name="Oval 15"/>
          <p:cNvSpPr/>
          <p:nvPr/>
        </p:nvSpPr>
        <p:spPr>
          <a:xfrm>
            <a:off x="7845552" y="2450592"/>
            <a:ext cx="585216" cy="585216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CA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45552" y="2633472"/>
            <a:ext cx="58521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CA7B8"/>
                </a:solidFill>
                <a:latin typeface="Aptos"/>
              </a:rPr>
              <a:t>2</a:t>
            </a:r>
          </a:p>
        </p:txBody>
      </p:sp>
      <p:sp>
        <p:nvSpPr>
          <p:cNvPr id="18" name="Oval 17"/>
          <p:cNvSpPr/>
          <p:nvPr/>
        </p:nvSpPr>
        <p:spPr>
          <a:xfrm>
            <a:off x="10085832" y="2450592"/>
            <a:ext cx="585216" cy="585216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CA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85832" y="2633472"/>
            <a:ext cx="58521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CA7B8"/>
                </a:solidFill>
                <a:latin typeface="Aptos"/>
              </a:rPr>
              <a:t>3</a:t>
            </a:r>
          </a:p>
        </p:txBody>
      </p:sp>
      <p:sp>
        <p:nvSpPr>
          <p:cNvPr id="20" name="Oval 19"/>
          <p:cNvSpPr/>
          <p:nvPr/>
        </p:nvSpPr>
        <p:spPr>
          <a:xfrm>
            <a:off x="8988552" y="3547872"/>
            <a:ext cx="585216" cy="585216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CA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88552" y="3730752"/>
            <a:ext cx="58521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CA7B8"/>
                </a:solidFill>
                <a:latin typeface="Apto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02168" y="448056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F6B7A"/>
                </a:solidFill>
                <a:latin typeface="Aptos"/>
              </a:rPr>
              <a:t>réseau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A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320040"/>
            <a:ext cx="3246120" cy="301752"/>
          </a:xfrm>
          <a:prstGeom prst="roundRect">
            <a:avLst/>
          </a:prstGeom>
          <a:solidFill>
            <a:srgbClr val="1CA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27432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2.5 Réseaux sur Docker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4652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F6B7A"/>
                </a:solidFill>
                <a:latin typeface="Aptos"/>
              </a:rPr>
              <a:t>47/90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263640"/>
            <a:ext cx="10789920" cy="9144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713232"/>
            <a:ext cx="685800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72033"/>
                </a:solidFill>
                <a:latin typeface="Aptos"/>
              </a:rPr>
              <a:t>Cas pratiques réseau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64208"/>
            <a:ext cx="612648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API reliée à une base de données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Proxy devant plusieurs services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Environnement de test isolé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8138160" y="1645920"/>
            <a:ext cx="1143000" cy="1097280"/>
          </a:xfrm>
          <a:prstGeom prst="line">
            <a:avLst/>
          </a:prstGeom>
          <a:ln w="16510">
            <a:solidFill>
              <a:srgbClr val="B7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281160" y="1645920"/>
            <a:ext cx="1097280" cy="1097280"/>
          </a:xfrm>
          <a:prstGeom prst="line">
            <a:avLst/>
          </a:prstGeom>
          <a:ln w="16510">
            <a:solidFill>
              <a:srgbClr val="B7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138160" y="2743200"/>
            <a:ext cx="1143000" cy="1097280"/>
          </a:xfrm>
          <a:prstGeom prst="line">
            <a:avLst/>
          </a:prstGeom>
          <a:ln w="16510">
            <a:solidFill>
              <a:srgbClr val="B7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9281160" y="2743200"/>
            <a:ext cx="1097280" cy="1097280"/>
          </a:xfrm>
          <a:prstGeom prst="line">
            <a:avLst/>
          </a:prstGeom>
          <a:ln w="16510">
            <a:solidFill>
              <a:srgbClr val="B7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138160" y="2743200"/>
            <a:ext cx="2240280" cy="0"/>
          </a:xfrm>
          <a:prstGeom prst="line">
            <a:avLst/>
          </a:prstGeom>
          <a:ln w="16510">
            <a:solidFill>
              <a:srgbClr val="B7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8988552" y="1353312"/>
            <a:ext cx="585216" cy="585216"/>
          </a:xfrm>
          <a:prstGeom prst="ellipse">
            <a:avLst/>
          </a:prstGeom>
          <a:solidFill>
            <a:srgbClr val="1CA7B8"/>
          </a:solidFill>
          <a:ln w="16510">
            <a:solidFill>
              <a:srgbClr val="1CA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88552" y="1536192"/>
            <a:ext cx="58521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6" name="Oval 15"/>
          <p:cNvSpPr/>
          <p:nvPr/>
        </p:nvSpPr>
        <p:spPr>
          <a:xfrm>
            <a:off x="7845552" y="2450592"/>
            <a:ext cx="585216" cy="585216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CA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45552" y="2633472"/>
            <a:ext cx="58521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CA7B8"/>
                </a:solidFill>
                <a:latin typeface="Aptos"/>
              </a:rPr>
              <a:t>2</a:t>
            </a:r>
          </a:p>
        </p:txBody>
      </p:sp>
      <p:sp>
        <p:nvSpPr>
          <p:cNvPr id="18" name="Oval 17"/>
          <p:cNvSpPr/>
          <p:nvPr/>
        </p:nvSpPr>
        <p:spPr>
          <a:xfrm>
            <a:off x="10085832" y="2450592"/>
            <a:ext cx="585216" cy="585216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CA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85832" y="2633472"/>
            <a:ext cx="58521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CA7B8"/>
                </a:solidFill>
                <a:latin typeface="Aptos"/>
              </a:rPr>
              <a:t>3</a:t>
            </a:r>
          </a:p>
        </p:txBody>
      </p:sp>
      <p:sp>
        <p:nvSpPr>
          <p:cNvPr id="20" name="Oval 19"/>
          <p:cNvSpPr/>
          <p:nvPr/>
        </p:nvSpPr>
        <p:spPr>
          <a:xfrm>
            <a:off x="8988552" y="3547872"/>
            <a:ext cx="585216" cy="585216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CA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88552" y="3730752"/>
            <a:ext cx="58521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CA7B8"/>
                </a:solidFill>
                <a:latin typeface="Apto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02168" y="448056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F6B7A"/>
                </a:solidFill>
                <a:latin typeface="Aptos"/>
              </a:rPr>
              <a:t>réseau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057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320040"/>
            <a:ext cx="3246120" cy="301752"/>
          </a:xfrm>
          <a:prstGeom prst="roundRect">
            <a:avLst/>
          </a:prstGeom>
          <a:solidFill>
            <a:srgbClr val="7057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27432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2.6 Images Docker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4652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F6B7A"/>
                </a:solidFill>
                <a:latin typeface="Aptos"/>
              </a:rPr>
              <a:t>48/90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263640"/>
            <a:ext cx="10789920" cy="9144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713232"/>
            <a:ext cx="685800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72033"/>
                </a:solidFill>
                <a:latin typeface="Aptos"/>
              </a:rPr>
              <a:t>Qu’est-ce qu’une image Docker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64208"/>
            <a:ext cx="612648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Modèle immuable d’un conteneur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Contient application et dépendances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Se partage via un registre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38" y="1234440"/>
            <a:ext cx="2926080" cy="475488"/>
          </a:xfrm>
          <a:prstGeom prst="roundRect">
            <a:avLst/>
          </a:prstGeom>
          <a:solidFill>
            <a:srgbClr val="7057C7"/>
          </a:solidFill>
          <a:ln w="12700">
            <a:solidFill>
              <a:srgbClr val="C5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92438" y="1353312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app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78138" y="1892808"/>
            <a:ext cx="3154680" cy="475488"/>
          </a:xfrm>
          <a:prstGeom prst="roundRect">
            <a:avLst/>
          </a:prstGeom>
          <a:solidFill>
            <a:srgbClr val="D9EEF2"/>
          </a:solidFill>
          <a:ln w="12700">
            <a:solidFill>
              <a:srgbClr val="C5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78138" y="2011680"/>
            <a:ext cx="3154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72033"/>
                </a:solidFill>
                <a:latin typeface="Aptos"/>
              </a:rPr>
              <a:t>deps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38" y="2551176"/>
            <a:ext cx="3383280" cy="475488"/>
          </a:xfrm>
          <a:prstGeom prst="roundRect">
            <a:avLst/>
          </a:prstGeom>
          <a:solidFill>
            <a:srgbClr val="E7EAF8"/>
          </a:solidFill>
          <a:ln w="12700">
            <a:solidFill>
              <a:srgbClr val="C5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38" y="2670047"/>
            <a:ext cx="33832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72033"/>
                </a:solidFill>
                <a:latin typeface="Aptos"/>
              </a:rPr>
              <a:t>runtime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49538" y="3209544"/>
            <a:ext cx="3611880" cy="475488"/>
          </a:xfrm>
          <a:prstGeom prst="roundRect">
            <a:avLst/>
          </a:prstGeom>
          <a:solidFill>
            <a:srgbClr val="EAF0F7"/>
          </a:solidFill>
          <a:ln w="12700">
            <a:solidFill>
              <a:srgbClr val="C5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49538" y="3328416"/>
            <a:ext cx="3611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72033"/>
                </a:solidFill>
                <a:latin typeface="Aptos"/>
              </a:rPr>
              <a:t>base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057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320040"/>
            <a:ext cx="3246120" cy="301752"/>
          </a:xfrm>
          <a:prstGeom prst="roundRect">
            <a:avLst/>
          </a:prstGeom>
          <a:solidFill>
            <a:srgbClr val="7057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27432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2.6 Images Docker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4652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F6B7A"/>
                </a:solidFill>
                <a:latin typeface="Aptos"/>
              </a:rPr>
              <a:t>49/90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263640"/>
            <a:ext cx="10789920" cy="9144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713232"/>
            <a:ext cx="685800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72033"/>
                </a:solidFill>
                <a:latin typeface="Aptos"/>
              </a:rPr>
              <a:t>Structure en couches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64208"/>
            <a:ext cx="612648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Chaque étape ajoute une couche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Les couches sont mises en cache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Les couches communes sont réutilisées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38" y="1234440"/>
            <a:ext cx="2926080" cy="475488"/>
          </a:xfrm>
          <a:prstGeom prst="roundRect">
            <a:avLst/>
          </a:prstGeom>
          <a:solidFill>
            <a:srgbClr val="7057C7"/>
          </a:solidFill>
          <a:ln w="12700">
            <a:solidFill>
              <a:srgbClr val="C5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92438" y="1353312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app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78138" y="1892808"/>
            <a:ext cx="3154680" cy="475488"/>
          </a:xfrm>
          <a:prstGeom prst="roundRect">
            <a:avLst/>
          </a:prstGeom>
          <a:solidFill>
            <a:srgbClr val="D9EEF2"/>
          </a:solidFill>
          <a:ln w="12700">
            <a:solidFill>
              <a:srgbClr val="C5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78138" y="2011680"/>
            <a:ext cx="3154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72033"/>
                </a:solidFill>
                <a:latin typeface="Aptos"/>
              </a:rPr>
              <a:t>deps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38" y="2551176"/>
            <a:ext cx="3383280" cy="475488"/>
          </a:xfrm>
          <a:prstGeom prst="roundRect">
            <a:avLst/>
          </a:prstGeom>
          <a:solidFill>
            <a:srgbClr val="E7EAF8"/>
          </a:solidFill>
          <a:ln w="12700">
            <a:solidFill>
              <a:srgbClr val="C5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38" y="2670047"/>
            <a:ext cx="33832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72033"/>
                </a:solidFill>
                <a:latin typeface="Aptos"/>
              </a:rPr>
              <a:t>runtime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49538" y="3209544"/>
            <a:ext cx="3611880" cy="475488"/>
          </a:xfrm>
          <a:prstGeom prst="roundRect">
            <a:avLst/>
          </a:prstGeom>
          <a:solidFill>
            <a:srgbClr val="EAF0F7"/>
          </a:solidFill>
          <a:ln w="12700">
            <a:solidFill>
              <a:srgbClr val="C5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49538" y="3328416"/>
            <a:ext cx="3611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72033"/>
                </a:solidFill>
                <a:latin typeface="Aptos"/>
              </a:rPr>
              <a:t>base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057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320040"/>
            <a:ext cx="3246120" cy="301752"/>
          </a:xfrm>
          <a:prstGeom prst="roundRect">
            <a:avLst/>
          </a:prstGeom>
          <a:solidFill>
            <a:srgbClr val="7057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27432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2.6 Images Docker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4652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F6B7A"/>
                </a:solidFill>
                <a:latin typeface="Aptos"/>
              </a:rPr>
              <a:t>50/90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263640"/>
            <a:ext cx="10789920" cy="9144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713232"/>
            <a:ext cx="685800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72033"/>
                </a:solidFill>
                <a:latin typeface="Aptos"/>
              </a:rPr>
              <a:t>Dockerfile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64208"/>
            <a:ext cx="612648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Fichier texte de construction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Décrit l’image étape par étape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Rend la création reproductible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38" y="1234440"/>
            <a:ext cx="2926080" cy="475488"/>
          </a:xfrm>
          <a:prstGeom prst="roundRect">
            <a:avLst/>
          </a:prstGeom>
          <a:solidFill>
            <a:srgbClr val="7057C7"/>
          </a:solidFill>
          <a:ln w="12700">
            <a:solidFill>
              <a:srgbClr val="C5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92438" y="1353312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app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78138" y="1892808"/>
            <a:ext cx="3154680" cy="475488"/>
          </a:xfrm>
          <a:prstGeom prst="roundRect">
            <a:avLst/>
          </a:prstGeom>
          <a:solidFill>
            <a:srgbClr val="D9EEF2"/>
          </a:solidFill>
          <a:ln w="12700">
            <a:solidFill>
              <a:srgbClr val="C5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78138" y="2011680"/>
            <a:ext cx="3154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72033"/>
                </a:solidFill>
                <a:latin typeface="Aptos"/>
              </a:rPr>
              <a:t>deps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38" y="2551176"/>
            <a:ext cx="3383280" cy="475488"/>
          </a:xfrm>
          <a:prstGeom prst="roundRect">
            <a:avLst/>
          </a:prstGeom>
          <a:solidFill>
            <a:srgbClr val="E7EAF8"/>
          </a:solidFill>
          <a:ln w="12700">
            <a:solidFill>
              <a:srgbClr val="C5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38" y="2670047"/>
            <a:ext cx="33832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72033"/>
                </a:solidFill>
                <a:latin typeface="Aptos"/>
              </a:rPr>
              <a:t>runtime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49538" y="3209544"/>
            <a:ext cx="3611880" cy="475488"/>
          </a:xfrm>
          <a:prstGeom prst="roundRect">
            <a:avLst/>
          </a:prstGeom>
          <a:solidFill>
            <a:srgbClr val="EAF0F7"/>
          </a:solidFill>
          <a:ln w="12700">
            <a:solidFill>
              <a:srgbClr val="C5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49538" y="3328416"/>
            <a:ext cx="3611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72033"/>
                </a:solidFill>
                <a:latin typeface="Aptos"/>
              </a:rPr>
              <a:t>base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057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320040"/>
            <a:ext cx="3246120" cy="301752"/>
          </a:xfrm>
          <a:prstGeom prst="roundRect">
            <a:avLst/>
          </a:prstGeom>
          <a:solidFill>
            <a:srgbClr val="7057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27432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2.6 Images Docker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4652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F6B7A"/>
                </a:solidFill>
                <a:latin typeface="Aptos"/>
              </a:rPr>
              <a:t>51/90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263640"/>
            <a:ext cx="10789920" cy="9144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713232"/>
            <a:ext cx="685800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72033"/>
                </a:solidFill>
                <a:latin typeface="Aptos"/>
              </a:rPr>
              <a:t>Instructions Dockerfile essentielles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64208"/>
            <a:ext cx="612648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FROM choisit l’image de base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RUN exécute une étape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COPY ajoute des fichiers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CMD définit le démarrage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38" y="1234440"/>
            <a:ext cx="2926080" cy="475488"/>
          </a:xfrm>
          <a:prstGeom prst="roundRect">
            <a:avLst/>
          </a:prstGeom>
          <a:solidFill>
            <a:srgbClr val="7057C7"/>
          </a:solidFill>
          <a:ln w="12700">
            <a:solidFill>
              <a:srgbClr val="C5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92438" y="1353312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app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78138" y="1892808"/>
            <a:ext cx="3154680" cy="475488"/>
          </a:xfrm>
          <a:prstGeom prst="roundRect">
            <a:avLst/>
          </a:prstGeom>
          <a:solidFill>
            <a:srgbClr val="D9EEF2"/>
          </a:solidFill>
          <a:ln w="12700">
            <a:solidFill>
              <a:srgbClr val="C5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78138" y="2011680"/>
            <a:ext cx="3154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72033"/>
                </a:solidFill>
                <a:latin typeface="Aptos"/>
              </a:rPr>
              <a:t>deps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38" y="2551176"/>
            <a:ext cx="3383280" cy="475488"/>
          </a:xfrm>
          <a:prstGeom prst="roundRect">
            <a:avLst/>
          </a:prstGeom>
          <a:solidFill>
            <a:srgbClr val="E7EAF8"/>
          </a:solidFill>
          <a:ln w="12700">
            <a:solidFill>
              <a:srgbClr val="C5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38" y="2670047"/>
            <a:ext cx="33832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72033"/>
                </a:solidFill>
                <a:latin typeface="Aptos"/>
              </a:rPr>
              <a:t>runtime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49538" y="3209544"/>
            <a:ext cx="3611880" cy="475488"/>
          </a:xfrm>
          <a:prstGeom prst="roundRect">
            <a:avLst/>
          </a:prstGeom>
          <a:solidFill>
            <a:srgbClr val="EAF0F7"/>
          </a:solidFill>
          <a:ln w="12700">
            <a:solidFill>
              <a:srgbClr val="C5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49538" y="3328416"/>
            <a:ext cx="3611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72033"/>
                </a:solidFill>
                <a:latin typeface="Aptos"/>
              </a:rPr>
              <a:t>base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057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320040"/>
            <a:ext cx="3246120" cy="301752"/>
          </a:xfrm>
          <a:prstGeom prst="roundRect">
            <a:avLst/>
          </a:prstGeom>
          <a:solidFill>
            <a:srgbClr val="7057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27432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2.6 Images Docker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4652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F6B7A"/>
                </a:solidFill>
                <a:latin typeface="Aptos"/>
              </a:rPr>
              <a:t>52/90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263640"/>
            <a:ext cx="10789920" cy="9144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713232"/>
            <a:ext cx="685800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72033"/>
                </a:solidFill>
                <a:latin typeface="Aptos"/>
              </a:rPr>
              <a:t>Processus de build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64208"/>
            <a:ext cx="612648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Docker lit le Dockerfile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Construit les couches dans l’ordre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Produit une image locale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38" y="1234440"/>
            <a:ext cx="2926080" cy="475488"/>
          </a:xfrm>
          <a:prstGeom prst="roundRect">
            <a:avLst/>
          </a:prstGeom>
          <a:solidFill>
            <a:srgbClr val="7057C7"/>
          </a:solidFill>
          <a:ln w="12700">
            <a:solidFill>
              <a:srgbClr val="C5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92438" y="1353312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app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78138" y="1892808"/>
            <a:ext cx="3154680" cy="475488"/>
          </a:xfrm>
          <a:prstGeom prst="roundRect">
            <a:avLst/>
          </a:prstGeom>
          <a:solidFill>
            <a:srgbClr val="D9EEF2"/>
          </a:solidFill>
          <a:ln w="12700">
            <a:solidFill>
              <a:srgbClr val="C5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78138" y="2011680"/>
            <a:ext cx="3154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72033"/>
                </a:solidFill>
                <a:latin typeface="Aptos"/>
              </a:rPr>
              <a:t>deps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38" y="2551176"/>
            <a:ext cx="3383280" cy="475488"/>
          </a:xfrm>
          <a:prstGeom prst="roundRect">
            <a:avLst/>
          </a:prstGeom>
          <a:solidFill>
            <a:srgbClr val="E7EAF8"/>
          </a:solidFill>
          <a:ln w="12700">
            <a:solidFill>
              <a:srgbClr val="C5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38" y="2670047"/>
            <a:ext cx="33832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72033"/>
                </a:solidFill>
                <a:latin typeface="Aptos"/>
              </a:rPr>
              <a:t>runtime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49538" y="3209544"/>
            <a:ext cx="3611880" cy="475488"/>
          </a:xfrm>
          <a:prstGeom prst="roundRect">
            <a:avLst/>
          </a:prstGeom>
          <a:solidFill>
            <a:srgbClr val="EAF0F7"/>
          </a:solidFill>
          <a:ln w="12700">
            <a:solidFill>
              <a:srgbClr val="C5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49538" y="3328416"/>
            <a:ext cx="3611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72033"/>
                </a:solidFill>
                <a:latin typeface="Aptos"/>
              </a:rPr>
              <a:t>base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057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320040"/>
            <a:ext cx="3246120" cy="301752"/>
          </a:xfrm>
          <a:prstGeom prst="roundRect">
            <a:avLst/>
          </a:prstGeom>
          <a:solidFill>
            <a:srgbClr val="7057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27432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2.6 Images Docker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4652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F6B7A"/>
                </a:solidFill>
                <a:latin typeface="Aptos"/>
              </a:rPr>
              <a:t>53/90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263640"/>
            <a:ext cx="10789920" cy="9144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713232"/>
            <a:ext cx="685800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72033"/>
                </a:solidFill>
                <a:latin typeface="Aptos"/>
              </a:rPr>
              <a:t>Docker builder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64208"/>
            <a:ext cx="612648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Moteur de construction des images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Utilise le cache pour accélérer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Supporte des builds plus avancés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38" y="1234440"/>
            <a:ext cx="2926080" cy="475488"/>
          </a:xfrm>
          <a:prstGeom prst="roundRect">
            <a:avLst/>
          </a:prstGeom>
          <a:solidFill>
            <a:srgbClr val="7057C7"/>
          </a:solidFill>
          <a:ln w="12700">
            <a:solidFill>
              <a:srgbClr val="C5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92438" y="1353312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app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78138" y="1892808"/>
            <a:ext cx="3154680" cy="475488"/>
          </a:xfrm>
          <a:prstGeom prst="roundRect">
            <a:avLst/>
          </a:prstGeom>
          <a:solidFill>
            <a:srgbClr val="D9EEF2"/>
          </a:solidFill>
          <a:ln w="12700">
            <a:solidFill>
              <a:srgbClr val="C5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78138" y="2011680"/>
            <a:ext cx="3154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72033"/>
                </a:solidFill>
                <a:latin typeface="Aptos"/>
              </a:rPr>
              <a:t>deps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38" y="2551176"/>
            <a:ext cx="3383280" cy="475488"/>
          </a:xfrm>
          <a:prstGeom prst="roundRect">
            <a:avLst/>
          </a:prstGeom>
          <a:solidFill>
            <a:srgbClr val="E7EAF8"/>
          </a:solidFill>
          <a:ln w="12700">
            <a:solidFill>
              <a:srgbClr val="C5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38" y="2670047"/>
            <a:ext cx="33832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72033"/>
                </a:solidFill>
                <a:latin typeface="Aptos"/>
              </a:rPr>
              <a:t>runtime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49538" y="3209544"/>
            <a:ext cx="3611880" cy="475488"/>
          </a:xfrm>
          <a:prstGeom prst="roundRect">
            <a:avLst/>
          </a:prstGeom>
          <a:solidFill>
            <a:srgbClr val="EAF0F7"/>
          </a:solidFill>
          <a:ln w="12700">
            <a:solidFill>
              <a:srgbClr val="C5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49538" y="3328416"/>
            <a:ext cx="3611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72033"/>
                </a:solidFill>
                <a:latin typeface="Aptos"/>
              </a:rPr>
              <a:t>base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057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320040"/>
            <a:ext cx="3246120" cy="301752"/>
          </a:xfrm>
          <a:prstGeom prst="roundRect">
            <a:avLst/>
          </a:prstGeom>
          <a:solidFill>
            <a:srgbClr val="7057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27432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2.6 Images Docker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4652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F6B7A"/>
                </a:solidFill>
                <a:latin typeface="Aptos"/>
              </a:rPr>
              <a:t>54/90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263640"/>
            <a:ext cx="10789920" cy="9144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713232"/>
            <a:ext cx="685800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72033"/>
                </a:solidFill>
                <a:latin typeface="Aptos"/>
              </a:rPr>
              <a:t>Multi-stage build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64208"/>
            <a:ext cx="612648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Sépare compilation et exécution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Copie seulement le résultat utile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Réduit fortement la taille finale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38" y="1234440"/>
            <a:ext cx="2926080" cy="475488"/>
          </a:xfrm>
          <a:prstGeom prst="roundRect">
            <a:avLst/>
          </a:prstGeom>
          <a:solidFill>
            <a:srgbClr val="7057C7"/>
          </a:solidFill>
          <a:ln w="12700">
            <a:solidFill>
              <a:srgbClr val="C5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92438" y="1353312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app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78138" y="1892808"/>
            <a:ext cx="3154680" cy="475488"/>
          </a:xfrm>
          <a:prstGeom prst="roundRect">
            <a:avLst/>
          </a:prstGeom>
          <a:solidFill>
            <a:srgbClr val="D9EEF2"/>
          </a:solidFill>
          <a:ln w="12700">
            <a:solidFill>
              <a:srgbClr val="C5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78138" y="2011680"/>
            <a:ext cx="3154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72033"/>
                </a:solidFill>
                <a:latin typeface="Aptos"/>
              </a:rPr>
              <a:t>deps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38" y="2551176"/>
            <a:ext cx="3383280" cy="475488"/>
          </a:xfrm>
          <a:prstGeom prst="roundRect">
            <a:avLst/>
          </a:prstGeom>
          <a:solidFill>
            <a:srgbClr val="E7EAF8"/>
          </a:solidFill>
          <a:ln w="12700">
            <a:solidFill>
              <a:srgbClr val="C5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38" y="2670047"/>
            <a:ext cx="33832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72033"/>
                </a:solidFill>
                <a:latin typeface="Aptos"/>
              </a:rPr>
              <a:t>runtime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49538" y="3209544"/>
            <a:ext cx="3611880" cy="475488"/>
          </a:xfrm>
          <a:prstGeom prst="roundRect">
            <a:avLst/>
          </a:prstGeom>
          <a:solidFill>
            <a:srgbClr val="EAF0F7"/>
          </a:solidFill>
          <a:ln w="12700">
            <a:solidFill>
              <a:srgbClr val="C5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49538" y="3328416"/>
            <a:ext cx="3611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72033"/>
                </a:solidFill>
                <a:latin typeface="Aptos"/>
              </a:rPr>
              <a:t>base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057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320040"/>
            <a:ext cx="3246120" cy="301752"/>
          </a:xfrm>
          <a:prstGeom prst="roundRect">
            <a:avLst/>
          </a:prstGeom>
          <a:solidFill>
            <a:srgbClr val="7057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27432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2.6 Images Docker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4652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F6B7A"/>
                </a:solidFill>
                <a:latin typeface="Aptos"/>
              </a:rPr>
              <a:t>55/90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263640"/>
            <a:ext cx="10789920" cy="9144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713232"/>
            <a:ext cx="685800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72033"/>
                </a:solidFill>
                <a:latin typeface="Aptos"/>
              </a:rPr>
              <a:t>Optimisation des images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64208"/>
            <a:ext cx="612648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Choisir une base adaptée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Réduire les fichiers inutiles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Regrouper les étapes cohérentes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38" y="1234440"/>
            <a:ext cx="2926080" cy="475488"/>
          </a:xfrm>
          <a:prstGeom prst="roundRect">
            <a:avLst/>
          </a:prstGeom>
          <a:solidFill>
            <a:srgbClr val="7057C7"/>
          </a:solidFill>
          <a:ln w="12700">
            <a:solidFill>
              <a:srgbClr val="C5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92438" y="1353312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app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78138" y="1892808"/>
            <a:ext cx="3154680" cy="475488"/>
          </a:xfrm>
          <a:prstGeom prst="roundRect">
            <a:avLst/>
          </a:prstGeom>
          <a:solidFill>
            <a:srgbClr val="D9EEF2"/>
          </a:solidFill>
          <a:ln w="12700">
            <a:solidFill>
              <a:srgbClr val="C5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78138" y="2011680"/>
            <a:ext cx="3154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72033"/>
                </a:solidFill>
                <a:latin typeface="Aptos"/>
              </a:rPr>
              <a:t>deps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38" y="2551176"/>
            <a:ext cx="3383280" cy="475488"/>
          </a:xfrm>
          <a:prstGeom prst="roundRect">
            <a:avLst/>
          </a:prstGeom>
          <a:solidFill>
            <a:srgbClr val="E7EAF8"/>
          </a:solidFill>
          <a:ln w="12700">
            <a:solidFill>
              <a:srgbClr val="C5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38" y="2670047"/>
            <a:ext cx="33832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72033"/>
                </a:solidFill>
                <a:latin typeface="Aptos"/>
              </a:rPr>
              <a:t>runtime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49538" y="3209544"/>
            <a:ext cx="3611880" cy="475488"/>
          </a:xfrm>
          <a:prstGeom prst="roundRect">
            <a:avLst/>
          </a:prstGeom>
          <a:solidFill>
            <a:srgbClr val="EAF0F7"/>
          </a:solidFill>
          <a:ln w="12700">
            <a:solidFill>
              <a:srgbClr val="C5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49538" y="3328416"/>
            <a:ext cx="3611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72033"/>
                </a:solidFill>
                <a:latin typeface="Aptos"/>
              </a:rPr>
              <a:t>base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057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320040"/>
            <a:ext cx="3246120" cy="301752"/>
          </a:xfrm>
          <a:prstGeom prst="roundRect">
            <a:avLst/>
          </a:prstGeom>
          <a:solidFill>
            <a:srgbClr val="7057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27432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2.6 Images Docker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4652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F6B7A"/>
                </a:solidFill>
                <a:latin typeface="Aptos"/>
              </a:rPr>
              <a:t>56/90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263640"/>
            <a:ext cx="10789920" cy="9144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713232"/>
            <a:ext cx="685800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72033"/>
                </a:solidFill>
                <a:latin typeface="Aptos"/>
              </a:rPr>
              <a:t>Taguer une image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64208"/>
            <a:ext cx="612648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Donne un nom lisible à l’image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Ajoute une version claire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Facilite push, pull et rollback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38" y="1234440"/>
            <a:ext cx="2926080" cy="475488"/>
          </a:xfrm>
          <a:prstGeom prst="roundRect">
            <a:avLst/>
          </a:prstGeom>
          <a:solidFill>
            <a:srgbClr val="7057C7"/>
          </a:solidFill>
          <a:ln w="12700">
            <a:solidFill>
              <a:srgbClr val="C5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92438" y="1353312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app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78138" y="1892808"/>
            <a:ext cx="3154680" cy="475488"/>
          </a:xfrm>
          <a:prstGeom prst="roundRect">
            <a:avLst/>
          </a:prstGeom>
          <a:solidFill>
            <a:srgbClr val="D9EEF2"/>
          </a:solidFill>
          <a:ln w="12700">
            <a:solidFill>
              <a:srgbClr val="C5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78138" y="2011680"/>
            <a:ext cx="3154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72033"/>
                </a:solidFill>
                <a:latin typeface="Aptos"/>
              </a:rPr>
              <a:t>deps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38" y="2551176"/>
            <a:ext cx="3383280" cy="475488"/>
          </a:xfrm>
          <a:prstGeom prst="roundRect">
            <a:avLst/>
          </a:prstGeom>
          <a:solidFill>
            <a:srgbClr val="E7EAF8"/>
          </a:solidFill>
          <a:ln w="12700">
            <a:solidFill>
              <a:srgbClr val="C5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38" y="2670047"/>
            <a:ext cx="33832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72033"/>
                </a:solidFill>
                <a:latin typeface="Aptos"/>
              </a:rPr>
              <a:t>runtime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49538" y="3209544"/>
            <a:ext cx="3611880" cy="475488"/>
          </a:xfrm>
          <a:prstGeom prst="roundRect">
            <a:avLst/>
          </a:prstGeom>
          <a:solidFill>
            <a:srgbClr val="EAF0F7"/>
          </a:solidFill>
          <a:ln w="12700">
            <a:solidFill>
              <a:srgbClr val="C5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49538" y="3328416"/>
            <a:ext cx="3611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72033"/>
                </a:solidFill>
                <a:latin typeface="Aptos"/>
              </a:rPr>
              <a:t>base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057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320040"/>
            <a:ext cx="3246120" cy="301752"/>
          </a:xfrm>
          <a:prstGeom prst="roundRect">
            <a:avLst/>
          </a:prstGeom>
          <a:solidFill>
            <a:srgbClr val="7057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27432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2.6 Images Docker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4652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F6B7A"/>
                </a:solidFill>
                <a:latin typeface="Aptos"/>
              </a:rPr>
              <a:t>57/90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263640"/>
            <a:ext cx="10789920" cy="9144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713232"/>
            <a:ext cx="685800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72033"/>
                </a:solidFill>
                <a:latin typeface="Aptos"/>
              </a:rPr>
              <a:t>Bonnes pratiques images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64208"/>
            <a:ext cx="612648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Éviter les secrets dans l’image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Utiliser des tags explicites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Scanner les vulnérabilités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Documenter le démarrage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38" y="1234440"/>
            <a:ext cx="2926080" cy="475488"/>
          </a:xfrm>
          <a:prstGeom prst="roundRect">
            <a:avLst/>
          </a:prstGeom>
          <a:solidFill>
            <a:srgbClr val="7057C7"/>
          </a:solidFill>
          <a:ln w="12700">
            <a:solidFill>
              <a:srgbClr val="C5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92438" y="1353312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app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78138" y="1892808"/>
            <a:ext cx="3154680" cy="475488"/>
          </a:xfrm>
          <a:prstGeom prst="roundRect">
            <a:avLst/>
          </a:prstGeom>
          <a:solidFill>
            <a:srgbClr val="D9EEF2"/>
          </a:solidFill>
          <a:ln w="12700">
            <a:solidFill>
              <a:srgbClr val="C5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78138" y="2011680"/>
            <a:ext cx="3154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72033"/>
                </a:solidFill>
                <a:latin typeface="Aptos"/>
              </a:rPr>
              <a:t>deps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38" y="2551176"/>
            <a:ext cx="3383280" cy="475488"/>
          </a:xfrm>
          <a:prstGeom prst="roundRect">
            <a:avLst/>
          </a:prstGeom>
          <a:solidFill>
            <a:srgbClr val="E7EAF8"/>
          </a:solidFill>
          <a:ln w="12700">
            <a:solidFill>
              <a:srgbClr val="C5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38" y="2670047"/>
            <a:ext cx="33832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72033"/>
                </a:solidFill>
                <a:latin typeface="Aptos"/>
              </a:rPr>
              <a:t>runtime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49538" y="3209544"/>
            <a:ext cx="3611880" cy="475488"/>
          </a:xfrm>
          <a:prstGeom prst="roundRect">
            <a:avLst/>
          </a:prstGeom>
          <a:solidFill>
            <a:srgbClr val="EAF0F7"/>
          </a:solidFill>
          <a:ln w="12700">
            <a:solidFill>
              <a:srgbClr val="C5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49538" y="3328416"/>
            <a:ext cx="3611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72033"/>
                </a:solidFill>
                <a:latin typeface="Aptos"/>
              </a:rPr>
              <a:t>base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F8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320040"/>
            <a:ext cx="3246120" cy="301752"/>
          </a:xfrm>
          <a:prstGeom prst="roundRect">
            <a:avLst/>
          </a:prstGeom>
          <a:solidFill>
            <a:srgbClr val="2F8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27432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2.7 Docker 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4652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F6B7A"/>
                </a:solidFill>
                <a:latin typeface="Aptos"/>
              </a:rPr>
              <a:t>58/90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263640"/>
            <a:ext cx="10789920" cy="9144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713232"/>
            <a:ext cx="685800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72033"/>
                </a:solidFill>
                <a:latin typeface="Aptos"/>
              </a:rPr>
              <a:t>Qu’est-ce que Docker Hub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64208"/>
            <a:ext cx="612648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Plateforme de partage d’images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Permet de publier et télécharger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Très utilisée par la communauté</a:t>
            </a:r>
          </a:p>
        </p:txBody>
      </p:sp>
      <p:sp>
        <p:nvSpPr>
          <p:cNvPr id="9" name="Cloud 8"/>
          <p:cNvSpPr/>
          <p:nvPr/>
        </p:nvSpPr>
        <p:spPr>
          <a:xfrm>
            <a:off x="8156448" y="1737360"/>
            <a:ext cx="2743200" cy="1508760"/>
          </a:xfrm>
          <a:prstGeom prst="cloud">
            <a:avLst/>
          </a:prstGeom>
          <a:solidFill>
            <a:srgbClr val="FFFFFF"/>
          </a:solidFill>
          <a:ln w="17780">
            <a:solidFill>
              <a:srgbClr val="2F8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6760" y="2313432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2F8F46"/>
                </a:solidFill>
                <a:latin typeface="Aptos"/>
              </a:rPr>
              <a:t>REGISTRY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3886200"/>
            <a:ext cx="1325880" cy="502920"/>
          </a:xfrm>
          <a:prstGeom prst="roundRect">
            <a:avLst/>
          </a:prstGeom>
          <a:solidFill>
            <a:srgbClr val="EAF7EF"/>
          </a:solidFill>
          <a:ln w="12700">
            <a:solidFill>
              <a:srgbClr val="2F8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4050792"/>
            <a:ext cx="13258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2F8F46"/>
                </a:solidFill>
                <a:latin typeface="Aptos"/>
              </a:rPr>
              <a:t>pull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8503920" y="3246120"/>
            <a:ext cx="1005840" cy="594360"/>
          </a:xfrm>
          <a:prstGeom prst="line">
            <a:avLst/>
          </a:prstGeom>
          <a:ln w="15240">
            <a:solidFill>
              <a:srgbClr val="B7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966960" y="3886200"/>
            <a:ext cx="1325880" cy="502920"/>
          </a:xfrm>
          <a:prstGeom prst="roundRect">
            <a:avLst/>
          </a:prstGeom>
          <a:solidFill>
            <a:srgbClr val="2F8F46"/>
          </a:solidFill>
          <a:ln w="12700">
            <a:solidFill>
              <a:srgbClr val="2F8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60" y="4050792"/>
            <a:ext cx="13258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push</a:t>
            </a:r>
          </a:p>
        </p:txBody>
      </p:sp>
      <p:cxnSp>
        <p:nvCxnSpPr>
          <p:cNvPr id="16" name="Connector 15"/>
          <p:cNvCxnSpPr/>
          <p:nvPr/>
        </p:nvCxnSpPr>
        <p:spPr>
          <a:xfrm flipH="1" flipV="1">
            <a:off x="9509760" y="3246120"/>
            <a:ext cx="1143000" cy="594360"/>
          </a:xfrm>
          <a:prstGeom prst="line">
            <a:avLst/>
          </a:prstGeom>
          <a:ln w="15240">
            <a:solidFill>
              <a:srgbClr val="B7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F8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320040"/>
            <a:ext cx="3246120" cy="301752"/>
          </a:xfrm>
          <a:prstGeom prst="roundRect">
            <a:avLst/>
          </a:prstGeom>
          <a:solidFill>
            <a:srgbClr val="2F8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27432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2.7 Docker 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4652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F6B7A"/>
                </a:solidFill>
                <a:latin typeface="Aptos"/>
              </a:rPr>
              <a:t>59/90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263640"/>
            <a:ext cx="10789920" cy="9144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713232"/>
            <a:ext cx="685800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72033"/>
                </a:solidFill>
                <a:latin typeface="Aptos"/>
              </a:rPr>
              <a:t>Registre public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64208"/>
            <a:ext cx="612648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Images accessibles depuis Internet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Pratique pour les projets ouverts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À éviter pour les contenus sensibles</a:t>
            </a:r>
          </a:p>
        </p:txBody>
      </p:sp>
      <p:sp>
        <p:nvSpPr>
          <p:cNvPr id="9" name="Cloud 8"/>
          <p:cNvSpPr/>
          <p:nvPr/>
        </p:nvSpPr>
        <p:spPr>
          <a:xfrm>
            <a:off x="8156448" y="1737360"/>
            <a:ext cx="2743200" cy="1508760"/>
          </a:xfrm>
          <a:prstGeom prst="cloud">
            <a:avLst/>
          </a:prstGeom>
          <a:solidFill>
            <a:srgbClr val="FFFFFF"/>
          </a:solidFill>
          <a:ln w="17780">
            <a:solidFill>
              <a:srgbClr val="2F8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6760" y="2313432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2F8F46"/>
                </a:solidFill>
                <a:latin typeface="Aptos"/>
              </a:rPr>
              <a:t>REGISTRY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3886200"/>
            <a:ext cx="1325880" cy="502920"/>
          </a:xfrm>
          <a:prstGeom prst="roundRect">
            <a:avLst/>
          </a:prstGeom>
          <a:solidFill>
            <a:srgbClr val="EAF7EF"/>
          </a:solidFill>
          <a:ln w="12700">
            <a:solidFill>
              <a:srgbClr val="2F8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4050792"/>
            <a:ext cx="13258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2F8F46"/>
                </a:solidFill>
                <a:latin typeface="Aptos"/>
              </a:rPr>
              <a:t>pull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8503920" y="3246120"/>
            <a:ext cx="1005840" cy="594360"/>
          </a:xfrm>
          <a:prstGeom prst="line">
            <a:avLst/>
          </a:prstGeom>
          <a:ln w="15240">
            <a:solidFill>
              <a:srgbClr val="B7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966960" y="3886200"/>
            <a:ext cx="1325880" cy="502920"/>
          </a:xfrm>
          <a:prstGeom prst="roundRect">
            <a:avLst/>
          </a:prstGeom>
          <a:solidFill>
            <a:srgbClr val="2F8F46"/>
          </a:solidFill>
          <a:ln w="12700">
            <a:solidFill>
              <a:srgbClr val="2F8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60" y="4050792"/>
            <a:ext cx="13258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push</a:t>
            </a:r>
          </a:p>
        </p:txBody>
      </p:sp>
      <p:cxnSp>
        <p:nvCxnSpPr>
          <p:cNvPr id="16" name="Connector 15"/>
          <p:cNvCxnSpPr/>
          <p:nvPr/>
        </p:nvCxnSpPr>
        <p:spPr>
          <a:xfrm flipH="1" flipV="1">
            <a:off x="9509760" y="3246120"/>
            <a:ext cx="1143000" cy="594360"/>
          </a:xfrm>
          <a:prstGeom prst="line">
            <a:avLst/>
          </a:prstGeom>
          <a:ln w="15240">
            <a:solidFill>
              <a:srgbClr val="B7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F8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320040"/>
            <a:ext cx="3246120" cy="301752"/>
          </a:xfrm>
          <a:prstGeom prst="roundRect">
            <a:avLst/>
          </a:prstGeom>
          <a:solidFill>
            <a:srgbClr val="2F8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27432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2.7 Docker 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4652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F6B7A"/>
                </a:solidFill>
                <a:latin typeface="Aptos"/>
              </a:rPr>
              <a:t>60/90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263640"/>
            <a:ext cx="10789920" cy="9144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713232"/>
            <a:ext cx="685800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72033"/>
                </a:solidFill>
                <a:latin typeface="Aptos"/>
              </a:rPr>
              <a:t>Créer un compte Docker Hub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64208"/>
            <a:ext cx="612648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Compte nécessaire pour publier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Identifiant utilisé dans les noms d’images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Accès aux dépôts personnels</a:t>
            </a:r>
          </a:p>
        </p:txBody>
      </p:sp>
      <p:sp>
        <p:nvSpPr>
          <p:cNvPr id="9" name="Cloud 8"/>
          <p:cNvSpPr/>
          <p:nvPr/>
        </p:nvSpPr>
        <p:spPr>
          <a:xfrm>
            <a:off x="8156448" y="1737360"/>
            <a:ext cx="2743200" cy="1508760"/>
          </a:xfrm>
          <a:prstGeom prst="cloud">
            <a:avLst/>
          </a:prstGeom>
          <a:solidFill>
            <a:srgbClr val="FFFFFF"/>
          </a:solidFill>
          <a:ln w="17780">
            <a:solidFill>
              <a:srgbClr val="2F8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6760" y="2313432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2F8F46"/>
                </a:solidFill>
                <a:latin typeface="Aptos"/>
              </a:rPr>
              <a:t>REGISTRY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3886200"/>
            <a:ext cx="1325880" cy="502920"/>
          </a:xfrm>
          <a:prstGeom prst="roundRect">
            <a:avLst/>
          </a:prstGeom>
          <a:solidFill>
            <a:srgbClr val="EAF7EF"/>
          </a:solidFill>
          <a:ln w="12700">
            <a:solidFill>
              <a:srgbClr val="2F8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4050792"/>
            <a:ext cx="13258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2F8F46"/>
                </a:solidFill>
                <a:latin typeface="Aptos"/>
              </a:rPr>
              <a:t>pull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8503920" y="3246120"/>
            <a:ext cx="1005840" cy="594360"/>
          </a:xfrm>
          <a:prstGeom prst="line">
            <a:avLst/>
          </a:prstGeom>
          <a:ln w="15240">
            <a:solidFill>
              <a:srgbClr val="B7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966960" y="3886200"/>
            <a:ext cx="1325880" cy="502920"/>
          </a:xfrm>
          <a:prstGeom prst="roundRect">
            <a:avLst/>
          </a:prstGeom>
          <a:solidFill>
            <a:srgbClr val="2F8F46"/>
          </a:solidFill>
          <a:ln w="12700">
            <a:solidFill>
              <a:srgbClr val="2F8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60" y="4050792"/>
            <a:ext cx="13258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push</a:t>
            </a:r>
          </a:p>
        </p:txBody>
      </p:sp>
      <p:cxnSp>
        <p:nvCxnSpPr>
          <p:cNvPr id="16" name="Connector 15"/>
          <p:cNvCxnSpPr/>
          <p:nvPr/>
        </p:nvCxnSpPr>
        <p:spPr>
          <a:xfrm flipH="1" flipV="1">
            <a:off x="9509760" y="3246120"/>
            <a:ext cx="1143000" cy="594360"/>
          </a:xfrm>
          <a:prstGeom prst="line">
            <a:avLst/>
          </a:prstGeom>
          <a:ln w="15240">
            <a:solidFill>
              <a:srgbClr val="B7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F8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320040"/>
            <a:ext cx="3246120" cy="301752"/>
          </a:xfrm>
          <a:prstGeom prst="roundRect">
            <a:avLst/>
          </a:prstGeom>
          <a:solidFill>
            <a:srgbClr val="2F8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27432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2.7 Docker 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4652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F6B7A"/>
                </a:solidFill>
                <a:latin typeface="Aptos"/>
              </a:rPr>
              <a:t>61/90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263640"/>
            <a:ext cx="10789920" cy="9144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713232"/>
            <a:ext cx="685800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72033"/>
                </a:solidFill>
                <a:latin typeface="Aptos"/>
              </a:rPr>
              <a:t>Créer un dépôt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64208"/>
            <a:ext cx="612648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Un dépôt regroupe les tags d’une image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Nom stable pour l’équipe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Visibilité publique ou privée selon besoin</a:t>
            </a:r>
          </a:p>
        </p:txBody>
      </p:sp>
      <p:sp>
        <p:nvSpPr>
          <p:cNvPr id="9" name="Cloud 8"/>
          <p:cNvSpPr/>
          <p:nvPr/>
        </p:nvSpPr>
        <p:spPr>
          <a:xfrm>
            <a:off x="8156448" y="1737360"/>
            <a:ext cx="2743200" cy="1508760"/>
          </a:xfrm>
          <a:prstGeom prst="cloud">
            <a:avLst/>
          </a:prstGeom>
          <a:solidFill>
            <a:srgbClr val="FFFFFF"/>
          </a:solidFill>
          <a:ln w="17780">
            <a:solidFill>
              <a:srgbClr val="2F8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6760" y="2313432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2F8F46"/>
                </a:solidFill>
                <a:latin typeface="Aptos"/>
              </a:rPr>
              <a:t>REGISTRY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3886200"/>
            <a:ext cx="1325880" cy="502920"/>
          </a:xfrm>
          <a:prstGeom prst="roundRect">
            <a:avLst/>
          </a:prstGeom>
          <a:solidFill>
            <a:srgbClr val="EAF7EF"/>
          </a:solidFill>
          <a:ln w="12700">
            <a:solidFill>
              <a:srgbClr val="2F8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4050792"/>
            <a:ext cx="13258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2F8F46"/>
                </a:solidFill>
                <a:latin typeface="Aptos"/>
              </a:rPr>
              <a:t>pull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8503920" y="3246120"/>
            <a:ext cx="1005840" cy="594360"/>
          </a:xfrm>
          <a:prstGeom prst="line">
            <a:avLst/>
          </a:prstGeom>
          <a:ln w="15240">
            <a:solidFill>
              <a:srgbClr val="B7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966960" y="3886200"/>
            <a:ext cx="1325880" cy="502920"/>
          </a:xfrm>
          <a:prstGeom prst="roundRect">
            <a:avLst/>
          </a:prstGeom>
          <a:solidFill>
            <a:srgbClr val="2F8F46"/>
          </a:solidFill>
          <a:ln w="12700">
            <a:solidFill>
              <a:srgbClr val="2F8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60" y="4050792"/>
            <a:ext cx="13258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push</a:t>
            </a:r>
          </a:p>
        </p:txBody>
      </p:sp>
      <p:cxnSp>
        <p:nvCxnSpPr>
          <p:cNvPr id="16" name="Connector 15"/>
          <p:cNvCxnSpPr/>
          <p:nvPr/>
        </p:nvCxnSpPr>
        <p:spPr>
          <a:xfrm flipH="1" flipV="1">
            <a:off x="9509760" y="3246120"/>
            <a:ext cx="1143000" cy="594360"/>
          </a:xfrm>
          <a:prstGeom prst="line">
            <a:avLst/>
          </a:prstGeom>
          <a:ln w="15240">
            <a:solidFill>
              <a:srgbClr val="B7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F8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320040"/>
            <a:ext cx="3246120" cy="301752"/>
          </a:xfrm>
          <a:prstGeom prst="roundRect">
            <a:avLst/>
          </a:prstGeom>
          <a:solidFill>
            <a:srgbClr val="2F8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27432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2.7 Docker 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4652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F6B7A"/>
                </a:solidFill>
                <a:latin typeface="Aptos"/>
              </a:rPr>
              <a:t>62/90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263640"/>
            <a:ext cx="10789920" cy="9144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713232"/>
            <a:ext cx="685800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72033"/>
                </a:solidFill>
                <a:latin typeface="Aptos"/>
              </a:rPr>
              <a:t>docker login authentifie la CLI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64208"/>
            <a:ext cx="612648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Connecte le terminal au compte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Autorise push et accès privé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À protéger sur les postes partagés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1572768"/>
            <a:ext cx="4160520" cy="2423160"/>
          </a:xfrm>
          <a:prstGeom prst="roundRect">
            <a:avLst/>
          </a:prstGeom>
          <a:solidFill>
            <a:srgbClr val="12304A"/>
          </a:solidFill>
          <a:ln w="12700">
            <a:solidFill>
              <a:srgbClr val="0C2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1572768"/>
            <a:ext cx="4160520" cy="384048"/>
          </a:xfrm>
          <a:prstGeom prst="rect">
            <a:avLst/>
          </a:prstGeom>
          <a:solidFill>
            <a:srgbClr val="20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479792" y="1700784"/>
            <a:ext cx="91440" cy="91440"/>
          </a:xfrm>
          <a:prstGeom prst="ellipse">
            <a:avLst/>
          </a:prstGeom>
          <a:solidFill>
            <a:srgbClr val="C9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90104" y="1700784"/>
            <a:ext cx="91440" cy="91440"/>
          </a:xfrm>
          <a:prstGeom prst="ellipse">
            <a:avLst/>
          </a:prstGeom>
          <a:solidFill>
            <a:srgbClr val="E79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900416" y="1700784"/>
            <a:ext cx="91440" cy="91440"/>
          </a:xfrm>
          <a:prstGeom prst="ellipse">
            <a:avLst/>
          </a:prstGeom>
          <a:solidFill>
            <a:srgbClr val="2F8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07808" y="2441448"/>
            <a:ext cx="274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2F8F46"/>
                </a:solidFill>
                <a:latin typeface="Consolas"/>
              </a:rPr>
              <a:t>$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73568" y="2441448"/>
            <a:ext cx="3246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onsolas"/>
              </a:rPr>
              <a:t>docker login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07808" y="3447287"/>
            <a:ext cx="357530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B9C8DA"/>
                </a:solidFill>
                <a:latin typeface="Aptos"/>
              </a:rPr>
              <a:t>Commande clé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F8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320040"/>
            <a:ext cx="3246120" cy="301752"/>
          </a:xfrm>
          <a:prstGeom prst="roundRect">
            <a:avLst/>
          </a:prstGeom>
          <a:solidFill>
            <a:srgbClr val="2F8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27432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2.7 Docker 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4652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F6B7A"/>
                </a:solidFill>
                <a:latin typeface="Aptos"/>
              </a:rPr>
              <a:t>63/90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263640"/>
            <a:ext cx="10789920" cy="9144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713232"/>
            <a:ext cx="685800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72033"/>
                </a:solidFill>
                <a:latin typeface="Aptos"/>
              </a:rPr>
              <a:t>docker push publie une image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64208"/>
            <a:ext cx="612648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Envoie l’image vers le registre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Nécessite un tag complet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Rend l’image disponible à l’équipe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1572768"/>
            <a:ext cx="4160520" cy="2423160"/>
          </a:xfrm>
          <a:prstGeom prst="roundRect">
            <a:avLst/>
          </a:prstGeom>
          <a:solidFill>
            <a:srgbClr val="12304A"/>
          </a:solidFill>
          <a:ln w="12700">
            <a:solidFill>
              <a:srgbClr val="0C2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1572768"/>
            <a:ext cx="4160520" cy="384048"/>
          </a:xfrm>
          <a:prstGeom prst="rect">
            <a:avLst/>
          </a:prstGeom>
          <a:solidFill>
            <a:srgbClr val="20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479792" y="1700784"/>
            <a:ext cx="91440" cy="91440"/>
          </a:xfrm>
          <a:prstGeom prst="ellipse">
            <a:avLst/>
          </a:prstGeom>
          <a:solidFill>
            <a:srgbClr val="C9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90104" y="1700784"/>
            <a:ext cx="91440" cy="91440"/>
          </a:xfrm>
          <a:prstGeom prst="ellipse">
            <a:avLst/>
          </a:prstGeom>
          <a:solidFill>
            <a:srgbClr val="E79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900416" y="1700784"/>
            <a:ext cx="91440" cy="91440"/>
          </a:xfrm>
          <a:prstGeom prst="ellipse">
            <a:avLst/>
          </a:prstGeom>
          <a:solidFill>
            <a:srgbClr val="2F8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07808" y="2441448"/>
            <a:ext cx="274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2F8F46"/>
                </a:solidFill>
                <a:latin typeface="Consolas"/>
              </a:rPr>
              <a:t>$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73568" y="2441448"/>
            <a:ext cx="3246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onsolas"/>
              </a:rPr>
              <a:t>docker push user/app:1.0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07808" y="3447287"/>
            <a:ext cx="357530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B9C8DA"/>
                </a:solidFill>
                <a:latin typeface="Aptos"/>
              </a:rPr>
              <a:t>Commande clé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F8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320040"/>
            <a:ext cx="3246120" cy="301752"/>
          </a:xfrm>
          <a:prstGeom prst="roundRect">
            <a:avLst/>
          </a:prstGeom>
          <a:solidFill>
            <a:srgbClr val="2F8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27432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2.7 Docker 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4652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F6B7A"/>
                </a:solidFill>
                <a:latin typeface="Aptos"/>
              </a:rPr>
              <a:t>64/90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263640"/>
            <a:ext cx="10789920" cy="9144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713232"/>
            <a:ext cx="685800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72033"/>
                </a:solidFill>
                <a:latin typeface="Aptos"/>
              </a:rPr>
              <a:t>docker pull depuis Docker Hub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64208"/>
            <a:ext cx="612648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Télécharge une image publiée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Utilise le tag demandé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Permet un déploiement reproductible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1572768"/>
            <a:ext cx="4160520" cy="2423160"/>
          </a:xfrm>
          <a:prstGeom prst="roundRect">
            <a:avLst/>
          </a:prstGeom>
          <a:solidFill>
            <a:srgbClr val="12304A"/>
          </a:solidFill>
          <a:ln w="12700">
            <a:solidFill>
              <a:srgbClr val="0C2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1572768"/>
            <a:ext cx="4160520" cy="384048"/>
          </a:xfrm>
          <a:prstGeom prst="rect">
            <a:avLst/>
          </a:prstGeom>
          <a:solidFill>
            <a:srgbClr val="20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479792" y="1700784"/>
            <a:ext cx="91440" cy="91440"/>
          </a:xfrm>
          <a:prstGeom prst="ellipse">
            <a:avLst/>
          </a:prstGeom>
          <a:solidFill>
            <a:srgbClr val="C9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90104" y="1700784"/>
            <a:ext cx="91440" cy="91440"/>
          </a:xfrm>
          <a:prstGeom prst="ellipse">
            <a:avLst/>
          </a:prstGeom>
          <a:solidFill>
            <a:srgbClr val="E79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900416" y="1700784"/>
            <a:ext cx="91440" cy="91440"/>
          </a:xfrm>
          <a:prstGeom prst="ellipse">
            <a:avLst/>
          </a:prstGeom>
          <a:solidFill>
            <a:srgbClr val="2F8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07808" y="2441448"/>
            <a:ext cx="274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2F8F46"/>
                </a:solidFill>
                <a:latin typeface="Consolas"/>
              </a:rPr>
              <a:t>$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73568" y="2441448"/>
            <a:ext cx="3246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onsolas"/>
              </a:rPr>
              <a:t>docker pull nginx:latest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07808" y="3447287"/>
            <a:ext cx="357530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B9C8DA"/>
                </a:solidFill>
                <a:latin typeface="Aptos"/>
              </a:rPr>
              <a:t>Commande clé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F8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320040"/>
            <a:ext cx="3246120" cy="301752"/>
          </a:xfrm>
          <a:prstGeom prst="roundRect">
            <a:avLst/>
          </a:prstGeom>
          <a:solidFill>
            <a:srgbClr val="2F8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27432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2.7 Docker 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4652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F6B7A"/>
                </a:solidFill>
                <a:latin typeface="Aptos"/>
              </a:rPr>
              <a:t>65/90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263640"/>
            <a:ext cx="10789920" cy="9144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713232"/>
            <a:ext cx="685800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72033"/>
                </a:solidFill>
                <a:latin typeface="Aptos"/>
              </a:rPr>
              <a:t>Images officielles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64208"/>
            <a:ext cx="612648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Maintenues par des sources reconnues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Bon point de départ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Lire la documentation avant usage</a:t>
            </a:r>
          </a:p>
        </p:txBody>
      </p:sp>
      <p:sp>
        <p:nvSpPr>
          <p:cNvPr id="9" name="Cloud 8"/>
          <p:cNvSpPr/>
          <p:nvPr/>
        </p:nvSpPr>
        <p:spPr>
          <a:xfrm>
            <a:off x="8156448" y="1737360"/>
            <a:ext cx="2743200" cy="1508760"/>
          </a:xfrm>
          <a:prstGeom prst="cloud">
            <a:avLst/>
          </a:prstGeom>
          <a:solidFill>
            <a:srgbClr val="FFFFFF"/>
          </a:solidFill>
          <a:ln w="17780">
            <a:solidFill>
              <a:srgbClr val="2F8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6760" y="2313432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2F8F46"/>
                </a:solidFill>
                <a:latin typeface="Aptos"/>
              </a:rPr>
              <a:t>REGISTRY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3886200"/>
            <a:ext cx="1325880" cy="502920"/>
          </a:xfrm>
          <a:prstGeom prst="roundRect">
            <a:avLst/>
          </a:prstGeom>
          <a:solidFill>
            <a:srgbClr val="EAF7EF"/>
          </a:solidFill>
          <a:ln w="12700">
            <a:solidFill>
              <a:srgbClr val="2F8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4050792"/>
            <a:ext cx="13258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2F8F46"/>
                </a:solidFill>
                <a:latin typeface="Aptos"/>
              </a:rPr>
              <a:t>pull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8503920" y="3246120"/>
            <a:ext cx="1005840" cy="594360"/>
          </a:xfrm>
          <a:prstGeom prst="line">
            <a:avLst/>
          </a:prstGeom>
          <a:ln w="15240">
            <a:solidFill>
              <a:srgbClr val="B7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966960" y="3886200"/>
            <a:ext cx="1325880" cy="502920"/>
          </a:xfrm>
          <a:prstGeom prst="roundRect">
            <a:avLst/>
          </a:prstGeom>
          <a:solidFill>
            <a:srgbClr val="2F8F46"/>
          </a:solidFill>
          <a:ln w="12700">
            <a:solidFill>
              <a:srgbClr val="2F8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60" y="4050792"/>
            <a:ext cx="13258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push</a:t>
            </a:r>
          </a:p>
        </p:txBody>
      </p:sp>
      <p:cxnSp>
        <p:nvCxnSpPr>
          <p:cNvPr id="16" name="Connector 15"/>
          <p:cNvCxnSpPr/>
          <p:nvPr/>
        </p:nvCxnSpPr>
        <p:spPr>
          <a:xfrm flipH="1" flipV="1">
            <a:off x="9509760" y="3246120"/>
            <a:ext cx="1143000" cy="594360"/>
          </a:xfrm>
          <a:prstGeom prst="line">
            <a:avLst/>
          </a:prstGeom>
          <a:ln w="15240">
            <a:solidFill>
              <a:srgbClr val="B7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F8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320040"/>
            <a:ext cx="3246120" cy="301752"/>
          </a:xfrm>
          <a:prstGeom prst="roundRect">
            <a:avLst/>
          </a:prstGeom>
          <a:solidFill>
            <a:srgbClr val="2F8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27432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2.7 Docker 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4652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F6B7A"/>
                </a:solidFill>
                <a:latin typeface="Aptos"/>
              </a:rPr>
              <a:t>66/90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263640"/>
            <a:ext cx="10789920" cy="9144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713232"/>
            <a:ext cx="685800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72033"/>
                </a:solidFill>
                <a:latin typeface="Aptos"/>
              </a:rPr>
              <a:t>Bonnes pratiques de publication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64208"/>
            <a:ext cx="612648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Publier des tags versionnés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Ne jamais pousser de secrets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Ajouter une description utile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Scanner avant diffusion</a:t>
            </a:r>
          </a:p>
        </p:txBody>
      </p:sp>
      <p:sp>
        <p:nvSpPr>
          <p:cNvPr id="9" name="Cloud 8"/>
          <p:cNvSpPr/>
          <p:nvPr/>
        </p:nvSpPr>
        <p:spPr>
          <a:xfrm>
            <a:off x="8156448" y="1737360"/>
            <a:ext cx="2743200" cy="1508760"/>
          </a:xfrm>
          <a:prstGeom prst="cloud">
            <a:avLst/>
          </a:prstGeom>
          <a:solidFill>
            <a:srgbClr val="FFFFFF"/>
          </a:solidFill>
          <a:ln w="17780">
            <a:solidFill>
              <a:srgbClr val="2F8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6760" y="2313432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2F8F46"/>
                </a:solidFill>
                <a:latin typeface="Aptos"/>
              </a:rPr>
              <a:t>REGISTRY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3886200"/>
            <a:ext cx="1325880" cy="502920"/>
          </a:xfrm>
          <a:prstGeom prst="roundRect">
            <a:avLst/>
          </a:prstGeom>
          <a:solidFill>
            <a:srgbClr val="EAF7EF"/>
          </a:solidFill>
          <a:ln w="12700">
            <a:solidFill>
              <a:srgbClr val="2F8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4050792"/>
            <a:ext cx="13258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2F8F46"/>
                </a:solidFill>
                <a:latin typeface="Aptos"/>
              </a:rPr>
              <a:t>pull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8503920" y="3246120"/>
            <a:ext cx="1005840" cy="594360"/>
          </a:xfrm>
          <a:prstGeom prst="line">
            <a:avLst/>
          </a:prstGeom>
          <a:ln w="15240">
            <a:solidFill>
              <a:srgbClr val="B7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966960" y="3886200"/>
            <a:ext cx="1325880" cy="502920"/>
          </a:xfrm>
          <a:prstGeom prst="roundRect">
            <a:avLst/>
          </a:prstGeom>
          <a:solidFill>
            <a:srgbClr val="2F8F46"/>
          </a:solidFill>
          <a:ln w="12700">
            <a:solidFill>
              <a:srgbClr val="2F8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60" y="4050792"/>
            <a:ext cx="13258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push</a:t>
            </a:r>
          </a:p>
        </p:txBody>
      </p:sp>
      <p:cxnSp>
        <p:nvCxnSpPr>
          <p:cNvPr id="16" name="Connector 15"/>
          <p:cNvCxnSpPr/>
          <p:nvPr/>
        </p:nvCxnSpPr>
        <p:spPr>
          <a:xfrm flipH="1" flipV="1">
            <a:off x="9509760" y="3246120"/>
            <a:ext cx="1143000" cy="594360"/>
          </a:xfrm>
          <a:prstGeom prst="line">
            <a:avLst/>
          </a:prstGeom>
          <a:ln w="15240">
            <a:solidFill>
              <a:srgbClr val="B7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79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320040"/>
            <a:ext cx="3246120" cy="301752"/>
          </a:xfrm>
          <a:prstGeom prst="roundRect">
            <a:avLst/>
          </a:prstGeom>
          <a:solidFill>
            <a:srgbClr val="E79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27432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2.8 Stockage sur Docker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4652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F6B7A"/>
                </a:solidFill>
                <a:latin typeface="Aptos"/>
              </a:rPr>
              <a:t>67/90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263640"/>
            <a:ext cx="10789920" cy="9144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713232"/>
            <a:ext cx="685800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72033"/>
                </a:solidFill>
                <a:latin typeface="Aptos"/>
              </a:rPr>
              <a:t>Problème de la persistance des données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64208"/>
            <a:ext cx="612648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Un conteneur peut être supprimé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Les données internes peuvent disparaître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Le stockage doit être séparé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18119" y="1828800"/>
            <a:ext cx="14173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8119" y="2221992"/>
            <a:ext cx="14173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72033"/>
                </a:solidFill>
                <a:latin typeface="Aptos"/>
              </a:rPr>
              <a:t>CONTENEUR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92639" y="1828800"/>
            <a:ext cx="1417320" cy="1188720"/>
          </a:xfrm>
          <a:prstGeom prst="rect">
            <a:avLst/>
          </a:prstGeom>
          <a:solidFill>
            <a:srgbClr val="FFF7E8"/>
          </a:solidFill>
          <a:ln w="12700">
            <a:solidFill>
              <a:srgbClr val="E79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39" y="1673352"/>
            <a:ext cx="1417320" cy="320040"/>
          </a:xfrm>
          <a:prstGeom prst="ellipse">
            <a:avLst/>
          </a:prstGeom>
          <a:solidFill>
            <a:srgbClr val="FFF7E8"/>
          </a:solidFill>
          <a:ln w="12700">
            <a:solidFill>
              <a:srgbClr val="E79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692639" y="2862072"/>
            <a:ext cx="1417320" cy="320040"/>
          </a:xfrm>
          <a:prstGeom prst="ellipse">
            <a:avLst/>
          </a:prstGeom>
          <a:solidFill>
            <a:srgbClr val="FFF7E8"/>
          </a:solidFill>
          <a:ln w="12700">
            <a:solidFill>
              <a:srgbClr val="E79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39" y="2221992"/>
            <a:ext cx="14173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72033"/>
                </a:solidFill>
                <a:latin typeface="Aptos"/>
              </a:rPr>
              <a:t>VOLUME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244583" y="2423160"/>
            <a:ext cx="384048" cy="0"/>
          </a:xfrm>
          <a:prstGeom prst="line">
            <a:avLst/>
          </a:prstGeom>
          <a:ln w="25400">
            <a:solidFill>
              <a:srgbClr val="E79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412479" y="416052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F6B7A"/>
                </a:solidFill>
                <a:latin typeface="Aptos"/>
              </a:rPr>
              <a:t>persistant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79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320040"/>
            <a:ext cx="3246120" cy="301752"/>
          </a:xfrm>
          <a:prstGeom prst="roundRect">
            <a:avLst/>
          </a:prstGeom>
          <a:solidFill>
            <a:srgbClr val="E79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27432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2.8 Stockage sur Docker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4652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F6B7A"/>
                </a:solidFill>
                <a:latin typeface="Aptos"/>
              </a:rPr>
              <a:t>68/90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263640"/>
            <a:ext cx="10789920" cy="9144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713232"/>
            <a:ext cx="685800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72033"/>
                </a:solidFill>
                <a:latin typeface="Aptos"/>
              </a:rPr>
              <a:t>Volumes Docker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64208"/>
            <a:ext cx="612648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Stockage géré par Docker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Indépendant du cycle du conteneur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Bon choix pour les données applicatives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18119" y="1828800"/>
            <a:ext cx="14173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8119" y="2221992"/>
            <a:ext cx="14173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72033"/>
                </a:solidFill>
                <a:latin typeface="Aptos"/>
              </a:rPr>
              <a:t>CONTENEUR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92639" y="1828800"/>
            <a:ext cx="1417320" cy="1188720"/>
          </a:xfrm>
          <a:prstGeom prst="rect">
            <a:avLst/>
          </a:prstGeom>
          <a:solidFill>
            <a:srgbClr val="FFF7E8"/>
          </a:solidFill>
          <a:ln w="12700">
            <a:solidFill>
              <a:srgbClr val="E79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39" y="1673352"/>
            <a:ext cx="1417320" cy="320040"/>
          </a:xfrm>
          <a:prstGeom prst="ellipse">
            <a:avLst/>
          </a:prstGeom>
          <a:solidFill>
            <a:srgbClr val="FFF7E8"/>
          </a:solidFill>
          <a:ln w="12700">
            <a:solidFill>
              <a:srgbClr val="E79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692639" y="2862072"/>
            <a:ext cx="1417320" cy="320040"/>
          </a:xfrm>
          <a:prstGeom prst="ellipse">
            <a:avLst/>
          </a:prstGeom>
          <a:solidFill>
            <a:srgbClr val="FFF7E8"/>
          </a:solidFill>
          <a:ln w="12700">
            <a:solidFill>
              <a:srgbClr val="E79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39" y="2221992"/>
            <a:ext cx="14173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72033"/>
                </a:solidFill>
                <a:latin typeface="Aptos"/>
              </a:rPr>
              <a:t>VOLUME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244583" y="2423160"/>
            <a:ext cx="384048" cy="0"/>
          </a:xfrm>
          <a:prstGeom prst="line">
            <a:avLst/>
          </a:prstGeom>
          <a:ln w="25400">
            <a:solidFill>
              <a:srgbClr val="E79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412479" y="416052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F6B7A"/>
                </a:solidFill>
                <a:latin typeface="Aptos"/>
              </a:rPr>
              <a:t>persistant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79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320040"/>
            <a:ext cx="3246120" cy="301752"/>
          </a:xfrm>
          <a:prstGeom prst="roundRect">
            <a:avLst/>
          </a:prstGeom>
          <a:solidFill>
            <a:srgbClr val="E79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27432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2.8 Stockage sur Docker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4652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F6B7A"/>
                </a:solidFill>
                <a:latin typeface="Aptos"/>
              </a:rPr>
              <a:t>69/90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263640"/>
            <a:ext cx="10789920" cy="9144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713232"/>
            <a:ext cx="685800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72033"/>
                </a:solidFill>
                <a:latin typeface="Aptos"/>
              </a:rPr>
              <a:t>Bind mounts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64208"/>
            <a:ext cx="612648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Montent un dossier de l’hôte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Très utiles en développement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Dépendent du chemin local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18119" y="1828800"/>
            <a:ext cx="14173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8119" y="2221992"/>
            <a:ext cx="14173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72033"/>
                </a:solidFill>
                <a:latin typeface="Aptos"/>
              </a:rPr>
              <a:t>CONTENEUR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92639" y="1828800"/>
            <a:ext cx="1417320" cy="1188720"/>
          </a:xfrm>
          <a:prstGeom prst="rect">
            <a:avLst/>
          </a:prstGeom>
          <a:solidFill>
            <a:srgbClr val="FFF7E8"/>
          </a:solidFill>
          <a:ln w="12700">
            <a:solidFill>
              <a:srgbClr val="E79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39" y="1673352"/>
            <a:ext cx="1417320" cy="320040"/>
          </a:xfrm>
          <a:prstGeom prst="ellipse">
            <a:avLst/>
          </a:prstGeom>
          <a:solidFill>
            <a:srgbClr val="FFF7E8"/>
          </a:solidFill>
          <a:ln w="12700">
            <a:solidFill>
              <a:srgbClr val="E79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692639" y="2862072"/>
            <a:ext cx="1417320" cy="320040"/>
          </a:xfrm>
          <a:prstGeom prst="ellipse">
            <a:avLst/>
          </a:prstGeom>
          <a:solidFill>
            <a:srgbClr val="FFF7E8"/>
          </a:solidFill>
          <a:ln w="12700">
            <a:solidFill>
              <a:srgbClr val="E79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39" y="2221992"/>
            <a:ext cx="14173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72033"/>
                </a:solidFill>
                <a:latin typeface="Aptos"/>
              </a:rPr>
              <a:t>VOLUME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244583" y="2423160"/>
            <a:ext cx="384048" cy="0"/>
          </a:xfrm>
          <a:prstGeom prst="line">
            <a:avLst/>
          </a:prstGeom>
          <a:ln w="25400">
            <a:solidFill>
              <a:srgbClr val="E79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412479" y="416052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F6B7A"/>
                </a:solidFill>
                <a:latin typeface="Aptos"/>
              </a:rPr>
              <a:t>persistant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79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320040"/>
            <a:ext cx="3246120" cy="301752"/>
          </a:xfrm>
          <a:prstGeom prst="roundRect">
            <a:avLst/>
          </a:prstGeom>
          <a:solidFill>
            <a:srgbClr val="E79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27432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2.8 Stockage sur Docker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4652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F6B7A"/>
                </a:solidFill>
                <a:latin typeface="Aptos"/>
              </a:rPr>
              <a:t>70/90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263640"/>
            <a:ext cx="10789920" cy="9144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713232"/>
            <a:ext cx="685800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72033"/>
                </a:solidFill>
                <a:latin typeface="Aptos"/>
              </a:rPr>
              <a:t>Différences volume vs bind mount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64208"/>
            <a:ext cx="612648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Volume : géré par Docker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Bind mount : chemin de la machine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Choisir selon portabilité et contrôle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18119" y="1828800"/>
            <a:ext cx="14173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8119" y="2221992"/>
            <a:ext cx="14173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72033"/>
                </a:solidFill>
                <a:latin typeface="Aptos"/>
              </a:rPr>
              <a:t>CONTENEUR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92639" y="1828800"/>
            <a:ext cx="1417320" cy="1188720"/>
          </a:xfrm>
          <a:prstGeom prst="rect">
            <a:avLst/>
          </a:prstGeom>
          <a:solidFill>
            <a:srgbClr val="FFF7E8"/>
          </a:solidFill>
          <a:ln w="12700">
            <a:solidFill>
              <a:srgbClr val="E79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39" y="1673352"/>
            <a:ext cx="1417320" cy="320040"/>
          </a:xfrm>
          <a:prstGeom prst="ellipse">
            <a:avLst/>
          </a:prstGeom>
          <a:solidFill>
            <a:srgbClr val="FFF7E8"/>
          </a:solidFill>
          <a:ln w="12700">
            <a:solidFill>
              <a:srgbClr val="E79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692639" y="2862072"/>
            <a:ext cx="1417320" cy="320040"/>
          </a:xfrm>
          <a:prstGeom prst="ellipse">
            <a:avLst/>
          </a:prstGeom>
          <a:solidFill>
            <a:srgbClr val="FFF7E8"/>
          </a:solidFill>
          <a:ln w="12700">
            <a:solidFill>
              <a:srgbClr val="E79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39" y="2221992"/>
            <a:ext cx="14173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72033"/>
                </a:solidFill>
                <a:latin typeface="Aptos"/>
              </a:rPr>
              <a:t>VOLUME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244583" y="2423160"/>
            <a:ext cx="384048" cy="0"/>
          </a:xfrm>
          <a:prstGeom prst="line">
            <a:avLst/>
          </a:prstGeom>
          <a:ln w="25400">
            <a:solidFill>
              <a:srgbClr val="E79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412479" y="416052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F6B7A"/>
                </a:solidFill>
                <a:latin typeface="Aptos"/>
              </a:rPr>
              <a:t>persistant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79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320040"/>
            <a:ext cx="3246120" cy="301752"/>
          </a:xfrm>
          <a:prstGeom prst="roundRect">
            <a:avLst/>
          </a:prstGeom>
          <a:solidFill>
            <a:srgbClr val="E79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27432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2.8 Stockage sur Docker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4652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F6B7A"/>
                </a:solidFill>
                <a:latin typeface="Aptos"/>
              </a:rPr>
              <a:t>71/90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263640"/>
            <a:ext cx="10789920" cy="9144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713232"/>
            <a:ext cx="685800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72033"/>
                </a:solidFill>
                <a:latin typeface="Aptos"/>
              </a:rPr>
              <a:t>Créer un volume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64208"/>
            <a:ext cx="612648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Prépare un espace persistant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Nom simple à réutiliser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Peut être partagé par plusieurs conteneurs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1572768"/>
            <a:ext cx="4160520" cy="2423160"/>
          </a:xfrm>
          <a:prstGeom prst="roundRect">
            <a:avLst/>
          </a:prstGeom>
          <a:solidFill>
            <a:srgbClr val="12304A"/>
          </a:solidFill>
          <a:ln w="12700">
            <a:solidFill>
              <a:srgbClr val="0C2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1572768"/>
            <a:ext cx="4160520" cy="384048"/>
          </a:xfrm>
          <a:prstGeom prst="rect">
            <a:avLst/>
          </a:prstGeom>
          <a:solidFill>
            <a:srgbClr val="20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479792" y="1700784"/>
            <a:ext cx="91440" cy="91440"/>
          </a:xfrm>
          <a:prstGeom prst="ellipse">
            <a:avLst/>
          </a:prstGeom>
          <a:solidFill>
            <a:srgbClr val="C9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90104" y="1700784"/>
            <a:ext cx="91440" cy="91440"/>
          </a:xfrm>
          <a:prstGeom prst="ellipse">
            <a:avLst/>
          </a:prstGeom>
          <a:solidFill>
            <a:srgbClr val="E79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900416" y="1700784"/>
            <a:ext cx="91440" cy="91440"/>
          </a:xfrm>
          <a:prstGeom prst="ellipse">
            <a:avLst/>
          </a:prstGeom>
          <a:solidFill>
            <a:srgbClr val="2F8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07808" y="2441448"/>
            <a:ext cx="274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E79A2F"/>
                </a:solidFill>
                <a:latin typeface="Consolas"/>
              </a:rPr>
              <a:t>$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73568" y="2441448"/>
            <a:ext cx="3246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onsolas"/>
              </a:rPr>
              <a:t>docker volume create app_data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07808" y="3447287"/>
            <a:ext cx="357530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B9C8DA"/>
                </a:solidFill>
                <a:latin typeface="Aptos"/>
              </a:rPr>
              <a:t>Commande clé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79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320040"/>
            <a:ext cx="3246120" cy="301752"/>
          </a:xfrm>
          <a:prstGeom prst="roundRect">
            <a:avLst/>
          </a:prstGeom>
          <a:solidFill>
            <a:srgbClr val="E79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27432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2.8 Stockage sur Docker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4652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F6B7A"/>
                </a:solidFill>
                <a:latin typeface="Aptos"/>
              </a:rPr>
              <a:t>72/90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263640"/>
            <a:ext cx="10789920" cy="9144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713232"/>
            <a:ext cx="685800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72033"/>
                </a:solidFill>
                <a:latin typeface="Aptos"/>
              </a:rPr>
              <a:t>Lister les volumes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64208"/>
            <a:ext cx="612648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Affiche les volumes existants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Aide à vérifier les ressources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Utile avant un nettoyage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1572768"/>
            <a:ext cx="4160520" cy="2423160"/>
          </a:xfrm>
          <a:prstGeom prst="roundRect">
            <a:avLst/>
          </a:prstGeom>
          <a:solidFill>
            <a:srgbClr val="12304A"/>
          </a:solidFill>
          <a:ln w="12700">
            <a:solidFill>
              <a:srgbClr val="0C2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1572768"/>
            <a:ext cx="4160520" cy="384048"/>
          </a:xfrm>
          <a:prstGeom prst="rect">
            <a:avLst/>
          </a:prstGeom>
          <a:solidFill>
            <a:srgbClr val="20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479792" y="1700784"/>
            <a:ext cx="91440" cy="91440"/>
          </a:xfrm>
          <a:prstGeom prst="ellipse">
            <a:avLst/>
          </a:prstGeom>
          <a:solidFill>
            <a:srgbClr val="C9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90104" y="1700784"/>
            <a:ext cx="91440" cy="91440"/>
          </a:xfrm>
          <a:prstGeom prst="ellipse">
            <a:avLst/>
          </a:prstGeom>
          <a:solidFill>
            <a:srgbClr val="E79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900416" y="1700784"/>
            <a:ext cx="91440" cy="91440"/>
          </a:xfrm>
          <a:prstGeom prst="ellipse">
            <a:avLst/>
          </a:prstGeom>
          <a:solidFill>
            <a:srgbClr val="2F8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07808" y="2441448"/>
            <a:ext cx="274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E79A2F"/>
                </a:solidFill>
                <a:latin typeface="Consolas"/>
              </a:rPr>
              <a:t>$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73568" y="2441448"/>
            <a:ext cx="3246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onsolas"/>
              </a:rPr>
              <a:t>docker volume 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07808" y="3447287"/>
            <a:ext cx="357530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B9C8DA"/>
                </a:solidFill>
                <a:latin typeface="Aptos"/>
              </a:rPr>
              <a:t>Commande clé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79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320040"/>
            <a:ext cx="3246120" cy="301752"/>
          </a:xfrm>
          <a:prstGeom prst="roundRect">
            <a:avLst/>
          </a:prstGeom>
          <a:solidFill>
            <a:srgbClr val="E79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27432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2.8 Stockage sur Docker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4652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F6B7A"/>
                </a:solidFill>
                <a:latin typeface="Aptos"/>
              </a:rPr>
              <a:t>73/90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263640"/>
            <a:ext cx="10789920" cy="9144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713232"/>
            <a:ext cx="685800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72033"/>
                </a:solidFill>
                <a:latin typeface="Aptos"/>
              </a:rPr>
              <a:t>Utiliser un volume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64208"/>
            <a:ext cx="612648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Monte le volume dans le conteneur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Garde les données après arrêt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Sépare état et exécution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1572768"/>
            <a:ext cx="4160520" cy="2423160"/>
          </a:xfrm>
          <a:prstGeom prst="roundRect">
            <a:avLst/>
          </a:prstGeom>
          <a:solidFill>
            <a:srgbClr val="12304A"/>
          </a:solidFill>
          <a:ln w="12700">
            <a:solidFill>
              <a:srgbClr val="0C2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1572768"/>
            <a:ext cx="4160520" cy="384048"/>
          </a:xfrm>
          <a:prstGeom prst="rect">
            <a:avLst/>
          </a:prstGeom>
          <a:solidFill>
            <a:srgbClr val="20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479792" y="1700784"/>
            <a:ext cx="91440" cy="91440"/>
          </a:xfrm>
          <a:prstGeom prst="ellipse">
            <a:avLst/>
          </a:prstGeom>
          <a:solidFill>
            <a:srgbClr val="C9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90104" y="1700784"/>
            <a:ext cx="91440" cy="91440"/>
          </a:xfrm>
          <a:prstGeom prst="ellipse">
            <a:avLst/>
          </a:prstGeom>
          <a:solidFill>
            <a:srgbClr val="E79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900416" y="1700784"/>
            <a:ext cx="91440" cy="91440"/>
          </a:xfrm>
          <a:prstGeom prst="ellipse">
            <a:avLst/>
          </a:prstGeom>
          <a:solidFill>
            <a:srgbClr val="2F8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07808" y="2441448"/>
            <a:ext cx="274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E79A2F"/>
                </a:solidFill>
                <a:latin typeface="Consolas"/>
              </a:rPr>
              <a:t>$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73568" y="2441448"/>
            <a:ext cx="3246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onsolas"/>
              </a:rPr>
              <a:t>docker run -v app_data:/data nginx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07808" y="3447287"/>
            <a:ext cx="357530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B9C8DA"/>
                </a:solidFill>
                <a:latin typeface="Aptos"/>
              </a:rPr>
              <a:t>Commande clé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79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320040"/>
            <a:ext cx="3246120" cy="301752"/>
          </a:xfrm>
          <a:prstGeom prst="roundRect">
            <a:avLst/>
          </a:prstGeom>
          <a:solidFill>
            <a:srgbClr val="E79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27432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2.8 Stockage sur Docker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4652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F6B7A"/>
                </a:solidFill>
                <a:latin typeface="Aptos"/>
              </a:rPr>
              <a:t>74/90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263640"/>
            <a:ext cx="10789920" cy="9144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713232"/>
            <a:ext cx="685800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72033"/>
                </a:solidFill>
                <a:latin typeface="Aptos"/>
              </a:rPr>
              <a:t>Inspecter un volume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64208"/>
            <a:ext cx="612648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Affiche le point de montage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Montre le driver utilisé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Aide à diagnostiquer le stockage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1572768"/>
            <a:ext cx="4160520" cy="2423160"/>
          </a:xfrm>
          <a:prstGeom prst="roundRect">
            <a:avLst/>
          </a:prstGeom>
          <a:solidFill>
            <a:srgbClr val="12304A"/>
          </a:solidFill>
          <a:ln w="12700">
            <a:solidFill>
              <a:srgbClr val="0C2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1572768"/>
            <a:ext cx="4160520" cy="384048"/>
          </a:xfrm>
          <a:prstGeom prst="rect">
            <a:avLst/>
          </a:prstGeom>
          <a:solidFill>
            <a:srgbClr val="20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479792" y="1700784"/>
            <a:ext cx="91440" cy="91440"/>
          </a:xfrm>
          <a:prstGeom prst="ellipse">
            <a:avLst/>
          </a:prstGeom>
          <a:solidFill>
            <a:srgbClr val="C9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90104" y="1700784"/>
            <a:ext cx="91440" cy="91440"/>
          </a:xfrm>
          <a:prstGeom prst="ellipse">
            <a:avLst/>
          </a:prstGeom>
          <a:solidFill>
            <a:srgbClr val="E79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900416" y="1700784"/>
            <a:ext cx="91440" cy="91440"/>
          </a:xfrm>
          <a:prstGeom prst="ellipse">
            <a:avLst/>
          </a:prstGeom>
          <a:solidFill>
            <a:srgbClr val="2F8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07808" y="2441448"/>
            <a:ext cx="274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E79A2F"/>
                </a:solidFill>
                <a:latin typeface="Consolas"/>
              </a:rPr>
              <a:t>$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73568" y="2441448"/>
            <a:ext cx="3246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onsolas"/>
              </a:rPr>
              <a:t>docker volume inspect app_data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07808" y="3447287"/>
            <a:ext cx="357530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B9C8DA"/>
                </a:solidFill>
                <a:latin typeface="Aptos"/>
              </a:rPr>
              <a:t>Commande clé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79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320040"/>
            <a:ext cx="3246120" cy="301752"/>
          </a:xfrm>
          <a:prstGeom prst="roundRect">
            <a:avLst/>
          </a:prstGeom>
          <a:solidFill>
            <a:srgbClr val="E79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27432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2.8 Stockage sur Docker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4652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F6B7A"/>
                </a:solidFill>
                <a:latin typeface="Aptos"/>
              </a:rPr>
              <a:t>75/90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263640"/>
            <a:ext cx="10789920" cy="9144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713232"/>
            <a:ext cx="685800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72033"/>
                </a:solidFill>
                <a:latin typeface="Aptos"/>
              </a:rPr>
              <a:t>Supprimer un volume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64208"/>
            <a:ext cx="612648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Efface un stockage inutilisé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À faire avec prudence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Peut supprimer des données importantes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1572768"/>
            <a:ext cx="4160520" cy="2423160"/>
          </a:xfrm>
          <a:prstGeom prst="roundRect">
            <a:avLst/>
          </a:prstGeom>
          <a:solidFill>
            <a:srgbClr val="12304A"/>
          </a:solidFill>
          <a:ln w="12700">
            <a:solidFill>
              <a:srgbClr val="0C2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1572768"/>
            <a:ext cx="4160520" cy="384048"/>
          </a:xfrm>
          <a:prstGeom prst="rect">
            <a:avLst/>
          </a:prstGeom>
          <a:solidFill>
            <a:srgbClr val="20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479792" y="1700784"/>
            <a:ext cx="91440" cy="91440"/>
          </a:xfrm>
          <a:prstGeom prst="ellipse">
            <a:avLst/>
          </a:prstGeom>
          <a:solidFill>
            <a:srgbClr val="C9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90104" y="1700784"/>
            <a:ext cx="91440" cy="91440"/>
          </a:xfrm>
          <a:prstGeom prst="ellipse">
            <a:avLst/>
          </a:prstGeom>
          <a:solidFill>
            <a:srgbClr val="E79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900416" y="1700784"/>
            <a:ext cx="91440" cy="91440"/>
          </a:xfrm>
          <a:prstGeom prst="ellipse">
            <a:avLst/>
          </a:prstGeom>
          <a:solidFill>
            <a:srgbClr val="2F8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07808" y="2441448"/>
            <a:ext cx="274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E79A2F"/>
                </a:solidFill>
                <a:latin typeface="Consolas"/>
              </a:rPr>
              <a:t>$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73568" y="2441448"/>
            <a:ext cx="3246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onsolas"/>
              </a:rPr>
              <a:t>docker volume rm app_data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07808" y="3447287"/>
            <a:ext cx="357530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B9C8DA"/>
                </a:solidFill>
                <a:latin typeface="Aptos"/>
              </a:rPr>
              <a:t>Commande clé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79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320040"/>
            <a:ext cx="3246120" cy="301752"/>
          </a:xfrm>
          <a:prstGeom prst="roundRect">
            <a:avLst/>
          </a:prstGeom>
          <a:solidFill>
            <a:srgbClr val="E79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27432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2.8 Stockage sur Docker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4652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F6B7A"/>
                </a:solidFill>
                <a:latin typeface="Aptos"/>
              </a:rPr>
              <a:t>76/90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263640"/>
            <a:ext cx="10789920" cy="9144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713232"/>
            <a:ext cx="685800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72033"/>
                </a:solidFill>
                <a:latin typeface="Aptos"/>
              </a:rPr>
              <a:t>Cas pratiques de stockage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64208"/>
            <a:ext cx="612648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Base de données locale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Dossier de code en développement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Cache partagé entre builds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18119" y="1828800"/>
            <a:ext cx="14173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8119" y="2221992"/>
            <a:ext cx="14173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72033"/>
                </a:solidFill>
                <a:latin typeface="Aptos"/>
              </a:rPr>
              <a:t>CONTENEUR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92639" y="1828800"/>
            <a:ext cx="1417320" cy="1188720"/>
          </a:xfrm>
          <a:prstGeom prst="rect">
            <a:avLst/>
          </a:prstGeom>
          <a:solidFill>
            <a:srgbClr val="FFF7E8"/>
          </a:solidFill>
          <a:ln w="12700">
            <a:solidFill>
              <a:srgbClr val="E79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39" y="1673352"/>
            <a:ext cx="1417320" cy="320040"/>
          </a:xfrm>
          <a:prstGeom prst="ellipse">
            <a:avLst/>
          </a:prstGeom>
          <a:solidFill>
            <a:srgbClr val="FFF7E8"/>
          </a:solidFill>
          <a:ln w="12700">
            <a:solidFill>
              <a:srgbClr val="E79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692639" y="2862072"/>
            <a:ext cx="1417320" cy="320040"/>
          </a:xfrm>
          <a:prstGeom prst="ellipse">
            <a:avLst/>
          </a:prstGeom>
          <a:solidFill>
            <a:srgbClr val="FFF7E8"/>
          </a:solidFill>
          <a:ln w="12700">
            <a:solidFill>
              <a:srgbClr val="E79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39" y="2221992"/>
            <a:ext cx="14173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72033"/>
                </a:solidFill>
                <a:latin typeface="Aptos"/>
              </a:rPr>
              <a:t>VOLUME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244583" y="2423160"/>
            <a:ext cx="384048" cy="0"/>
          </a:xfrm>
          <a:prstGeom prst="line">
            <a:avLst/>
          </a:prstGeom>
          <a:ln w="25400">
            <a:solidFill>
              <a:srgbClr val="E79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412479" y="416052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F6B7A"/>
                </a:solidFill>
                <a:latin typeface="Aptos"/>
              </a:rPr>
              <a:t>persistant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B6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320040"/>
            <a:ext cx="3246120" cy="301752"/>
          </a:xfrm>
          <a:prstGeom prst="roundRect">
            <a:avLst/>
          </a:prstGeom>
          <a:solidFill>
            <a:srgbClr val="4B6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27432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2.9 Docker Compose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4652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F6B7A"/>
                </a:solidFill>
                <a:latin typeface="Aptos"/>
              </a:rPr>
              <a:t>77/90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263640"/>
            <a:ext cx="10789920" cy="9144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713232"/>
            <a:ext cx="685800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72033"/>
                </a:solidFill>
                <a:latin typeface="Aptos"/>
              </a:rPr>
              <a:t>Qu’est-ce que Docker Compose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64208"/>
            <a:ext cx="612648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Outil pour décrire plusieurs services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Utilise un fichier YAML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Pilote l’ensemble avec une seule CLI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95360" y="1417320"/>
            <a:ext cx="1143000" cy="676656"/>
          </a:xfrm>
          <a:prstGeom prst="roundRect">
            <a:avLst/>
          </a:prstGeom>
          <a:solidFill>
            <a:srgbClr val="4B6078"/>
          </a:solidFill>
          <a:ln w="12700">
            <a:solidFill>
              <a:srgbClr val="4B6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0" y="1627632"/>
            <a:ext cx="1143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web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26680" y="2651760"/>
            <a:ext cx="1143000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B6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80" y="2862072"/>
            <a:ext cx="1143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4B6078"/>
                </a:solidFill>
                <a:latin typeface="Aptos"/>
              </a:rPr>
              <a:t>api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64040" y="2651760"/>
            <a:ext cx="1143000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B6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64040" y="2862072"/>
            <a:ext cx="1143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4B6078"/>
                </a:solidFill>
                <a:latin typeface="Aptos"/>
              </a:rPr>
              <a:t>db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8298180" y="1755648"/>
            <a:ext cx="868680" cy="1234440"/>
          </a:xfrm>
          <a:prstGeom prst="line">
            <a:avLst/>
          </a:prstGeom>
          <a:ln w="15240">
            <a:solidFill>
              <a:srgbClr val="B7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166860" y="1755648"/>
            <a:ext cx="868680" cy="1234440"/>
          </a:xfrm>
          <a:prstGeom prst="line">
            <a:avLst/>
          </a:prstGeom>
          <a:ln w="15240">
            <a:solidFill>
              <a:srgbClr val="B7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298180" y="2990088"/>
            <a:ext cx="1737360" cy="0"/>
          </a:xfrm>
          <a:prstGeom prst="line">
            <a:avLst/>
          </a:prstGeom>
          <a:ln w="15240">
            <a:solidFill>
              <a:srgbClr val="B7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110728" y="3886200"/>
            <a:ext cx="2468880" cy="566928"/>
          </a:xfrm>
          <a:prstGeom prst="roundRect">
            <a:avLst/>
          </a:prstGeom>
          <a:solidFill>
            <a:srgbClr val="EEF2F8"/>
          </a:solidFill>
          <a:ln w="12700">
            <a:solidFill>
              <a:srgbClr val="CA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10728" y="4087368"/>
            <a:ext cx="24688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72033"/>
                </a:solidFill>
                <a:latin typeface="Aptos"/>
              </a:rPr>
              <a:t>compose.yaml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B6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320040"/>
            <a:ext cx="3246120" cy="301752"/>
          </a:xfrm>
          <a:prstGeom prst="roundRect">
            <a:avLst/>
          </a:prstGeom>
          <a:solidFill>
            <a:srgbClr val="4B6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27432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2.9 Docker Compose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4652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F6B7A"/>
                </a:solidFill>
                <a:latin typeface="Aptos"/>
              </a:rPr>
              <a:t>78/90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263640"/>
            <a:ext cx="10789920" cy="9144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713232"/>
            <a:ext cx="685800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72033"/>
                </a:solidFill>
                <a:latin typeface="Aptos"/>
              </a:rPr>
              <a:t>Pourquoi Docker Compose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64208"/>
            <a:ext cx="612648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Évite les longues commandes répétées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Regroupe configuration et dépendances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Facilite le travail en équipe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95360" y="1417320"/>
            <a:ext cx="1143000" cy="676656"/>
          </a:xfrm>
          <a:prstGeom prst="roundRect">
            <a:avLst/>
          </a:prstGeom>
          <a:solidFill>
            <a:srgbClr val="4B6078"/>
          </a:solidFill>
          <a:ln w="12700">
            <a:solidFill>
              <a:srgbClr val="4B6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0" y="1627632"/>
            <a:ext cx="1143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web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26680" y="2651760"/>
            <a:ext cx="1143000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B6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80" y="2862072"/>
            <a:ext cx="1143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4B6078"/>
                </a:solidFill>
                <a:latin typeface="Aptos"/>
              </a:rPr>
              <a:t>api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64040" y="2651760"/>
            <a:ext cx="1143000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B6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64040" y="2862072"/>
            <a:ext cx="1143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4B6078"/>
                </a:solidFill>
                <a:latin typeface="Aptos"/>
              </a:rPr>
              <a:t>db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8298180" y="1755648"/>
            <a:ext cx="868680" cy="1234440"/>
          </a:xfrm>
          <a:prstGeom prst="line">
            <a:avLst/>
          </a:prstGeom>
          <a:ln w="15240">
            <a:solidFill>
              <a:srgbClr val="B7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166860" y="1755648"/>
            <a:ext cx="868680" cy="1234440"/>
          </a:xfrm>
          <a:prstGeom prst="line">
            <a:avLst/>
          </a:prstGeom>
          <a:ln w="15240">
            <a:solidFill>
              <a:srgbClr val="B7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298180" y="2990088"/>
            <a:ext cx="1737360" cy="0"/>
          </a:xfrm>
          <a:prstGeom prst="line">
            <a:avLst/>
          </a:prstGeom>
          <a:ln w="15240">
            <a:solidFill>
              <a:srgbClr val="B7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110728" y="3886200"/>
            <a:ext cx="2468880" cy="566928"/>
          </a:xfrm>
          <a:prstGeom prst="roundRect">
            <a:avLst/>
          </a:prstGeom>
          <a:solidFill>
            <a:srgbClr val="EEF2F8"/>
          </a:solidFill>
          <a:ln w="12700">
            <a:solidFill>
              <a:srgbClr val="CA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10728" y="4087368"/>
            <a:ext cx="24688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72033"/>
                </a:solidFill>
                <a:latin typeface="Aptos"/>
              </a:rPr>
              <a:t>compose.yaml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B6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320040"/>
            <a:ext cx="3246120" cy="301752"/>
          </a:xfrm>
          <a:prstGeom prst="roundRect">
            <a:avLst/>
          </a:prstGeom>
          <a:solidFill>
            <a:srgbClr val="4B6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27432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2.9 Docker Compose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4652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F6B7A"/>
                </a:solidFill>
                <a:latin typeface="Aptos"/>
              </a:rPr>
              <a:t>79/90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263640"/>
            <a:ext cx="10789920" cy="9144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713232"/>
            <a:ext cx="685800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72033"/>
                </a:solidFill>
                <a:latin typeface="Aptos"/>
              </a:rPr>
              <a:t>Fichier compose.yaml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64208"/>
            <a:ext cx="612648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Fichier central du projet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Décrit services, réseaux et volumes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Versionnable avec le code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95360" y="1417320"/>
            <a:ext cx="1143000" cy="676656"/>
          </a:xfrm>
          <a:prstGeom prst="roundRect">
            <a:avLst/>
          </a:prstGeom>
          <a:solidFill>
            <a:srgbClr val="4B6078"/>
          </a:solidFill>
          <a:ln w="12700">
            <a:solidFill>
              <a:srgbClr val="4B6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0" y="1627632"/>
            <a:ext cx="1143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web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26680" y="2651760"/>
            <a:ext cx="1143000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B6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80" y="2862072"/>
            <a:ext cx="1143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4B6078"/>
                </a:solidFill>
                <a:latin typeface="Aptos"/>
              </a:rPr>
              <a:t>api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64040" y="2651760"/>
            <a:ext cx="1143000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B6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64040" y="2862072"/>
            <a:ext cx="1143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4B6078"/>
                </a:solidFill>
                <a:latin typeface="Aptos"/>
              </a:rPr>
              <a:t>db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8298180" y="1755648"/>
            <a:ext cx="868680" cy="1234440"/>
          </a:xfrm>
          <a:prstGeom prst="line">
            <a:avLst/>
          </a:prstGeom>
          <a:ln w="15240">
            <a:solidFill>
              <a:srgbClr val="B7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166860" y="1755648"/>
            <a:ext cx="868680" cy="1234440"/>
          </a:xfrm>
          <a:prstGeom prst="line">
            <a:avLst/>
          </a:prstGeom>
          <a:ln w="15240">
            <a:solidFill>
              <a:srgbClr val="B7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298180" y="2990088"/>
            <a:ext cx="1737360" cy="0"/>
          </a:xfrm>
          <a:prstGeom prst="line">
            <a:avLst/>
          </a:prstGeom>
          <a:ln w="15240">
            <a:solidFill>
              <a:srgbClr val="B7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110728" y="3886200"/>
            <a:ext cx="2468880" cy="566928"/>
          </a:xfrm>
          <a:prstGeom prst="roundRect">
            <a:avLst/>
          </a:prstGeom>
          <a:solidFill>
            <a:srgbClr val="EEF2F8"/>
          </a:solidFill>
          <a:ln w="12700">
            <a:solidFill>
              <a:srgbClr val="CA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10728" y="4087368"/>
            <a:ext cx="24688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72033"/>
                </a:solidFill>
                <a:latin typeface="Aptos"/>
              </a:rPr>
              <a:t>compose.yaml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B6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320040"/>
            <a:ext cx="3246120" cy="301752"/>
          </a:xfrm>
          <a:prstGeom prst="roundRect">
            <a:avLst/>
          </a:prstGeom>
          <a:solidFill>
            <a:srgbClr val="4B6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27432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2.9 Docker Compose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4652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F6B7A"/>
                </a:solidFill>
                <a:latin typeface="Aptos"/>
              </a:rPr>
              <a:t>80/90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263640"/>
            <a:ext cx="10789920" cy="9144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713232"/>
            <a:ext cx="685800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72033"/>
                </a:solidFill>
                <a:latin typeface="Aptos"/>
              </a:rPr>
              <a:t>Structure du fichier compose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64208"/>
            <a:ext cx="612648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services pour les conteneurs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networks pour la communication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volumes pour les données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95360" y="1417320"/>
            <a:ext cx="1143000" cy="676656"/>
          </a:xfrm>
          <a:prstGeom prst="roundRect">
            <a:avLst/>
          </a:prstGeom>
          <a:solidFill>
            <a:srgbClr val="4B6078"/>
          </a:solidFill>
          <a:ln w="12700">
            <a:solidFill>
              <a:srgbClr val="4B6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0" y="1627632"/>
            <a:ext cx="1143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web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26680" y="2651760"/>
            <a:ext cx="1143000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B6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80" y="2862072"/>
            <a:ext cx="1143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4B6078"/>
                </a:solidFill>
                <a:latin typeface="Aptos"/>
              </a:rPr>
              <a:t>api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64040" y="2651760"/>
            <a:ext cx="1143000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B6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64040" y="2862072"/>
            <a:ext cx="1143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4B6078"/>
                </a:solidFill>
                <a:latin typeface="Aptos"/>
              </a:rPr>
              <a:t>db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8298180" y="1755648"/>
            <a:ext cx="868680" cy="1234440"/>
          </a:xfrm>
          <a:prstGeom prst="line">
            <a:avLst/>
          </a:prstGeom>
          <a:ln w="15240">
            <a:solidFill>
              <a:srgbClr val="B7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166860" y="1755648"/>
            <a:ext cx="868680" cy="1234440"/>
          </a:xfrm>
          <a:prstGeom prst="line">
            <a:avLst/>
          </a:prstGeom>
          <a:ln w="15240">
            <a:solidFill>
              <a:srgbClr val="B7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298180" y="2990088"/>
            <a:ext cx="1737360" cy="0"/>
          </a:xfrm>
          <a:prstGeom prst="line">
            <a:avLst/>
          </a:prstGeom>
          <a:ln w="15240">
            <a:solidFill>
              <a:srgbClr val="B7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110728" y="3886200"/>
            <a:ext cx="2468880" cy="566928"/>
          </a:xfrm>
          <a:prstGeom prst="roundRect">
            <a:avLst/>
          </a:prstGeom>
          <a:solidFill>
            <a:srgbClr val="EEF2F8"/>
          </a:solidFill>
          <a:ln w="12700">
            <a:solidFill>
              <a:srgbClr val="CA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10728" y="4087368"/>
            <a:ext cx="24688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72033"/>
                </a:solidFill>
                <a:latin typeface="Aptos"/>
              </a:rPr>
              <a:t>compose.yaml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B6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320040"/>
            <a:ext cx="3246120" cy="301752"/>
          </a:xfrm>
          <a:prstGeom prst="roundRect">
            <a:avLst/>
          </a:prstGeom>
          <a:solidFill>
            <a:srgbClr val="4B6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27432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2.9 Docker Compose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4652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F6B7A"/>
                </a:solidFill>
                <a:latin typeface="Aptos"/>
              </a:rPr>
              <a:t>81/90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263640"/>
            <a:ext cx="10789920" cy="9144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713232"/>
            <a:ext cx="685800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72033"/>
                </a:solidFill>
                <a:latin typeface="Aptos"/>
              </a:rPr>
              <a:t>Services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64208"/>
            <a:ext cx="612648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Un service décrit un type de conteneur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Peut définir image, build et ports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Peut dépendre d’autres services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95360" y="1417320"/>
            <a:ext cx="1143000" cy="676656"/>
          </a:xfrm>
          <a:prstGeom prst="roundRect">
            <a:avLst/>
          </a:prstGeom>
          <a:solidFill>
            <a:srgbClr val="4B6078"/>
          </a:solidFill>
          <a:ln w="12700">
            <a:solidFill>
              <a:srgbClr val="4B6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0" y="1627632"/>
            <a:ext cx="1143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web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26680" y="2651760"/>
            <a:ext cx="1143000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B6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80" y="2862072"/>
            <a:ext cx="1143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4B6078"/>
                </a:solidFill>
                <a:latin typeface="Aptos"/>
              </a:rPr>
              <a:t>api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64040" y="2651760"/>
            <a:ext cx="1143000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B6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64040" y="2862072"/>
            <a:ext cx="1143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4B6078"/>
                </a:solidFill>
                <a:latin typeface="Aptos"/>
              </a:rPr>
              <a:t>db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8298180" y="1755648"/>
            <a:ext cx="868680" cy="1234440"/>
          </a:xfrm>
          <a:prstGeom prst="line">
            <a:avLst/>
          </a:prstGeom>
          <a:ln w="15240">
            <a:solidFill>
              <a:srgbClr val="B7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166860" y="1755648"/>
            <a:ext cx="868680" cy="1234440"/>
          </a:xfrm>
          <a:prstGeom prst="line">
            <a:avLst/>
          </a:prstGeom>
          <a:ln w="15240">
            <a:solidFill>
              <a:srgbClr val="B7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298180" y="2990088"/>
            <a:ext cx="1737360" cy="0"/>
          </a:xfrm>
          <a:prstGeom prst="line">
            <a:avLst/>
          </a:prstGeom>
          <a:ln w="15240">
            <a:solidFill>
              <a:srgbClr val="B7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110728" y="3886200"/>
            <a:ext cx="2468880" cy="566928"/>
          </a:xfrm>
          <a:prstGeom prst="roundRect">
            <a:avLst/>
          </a:prstGeom>
          <a:solidFill>
            <a:srgbClr val="EEF2F8"/>
          </a:solidFill>
          <a:ln w="12700">
            <a:solidFill>
              <a:srgbClr val="CA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10728" y="4087368"/>
            <a:ext cx="24688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72033"/>
                </a:solidFill>
                <a:latin typeface="Aptos"/>
              </a:rPr>
              <a:t>compose.yaml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B6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320040"/>
            <a:ext cx="3246120" cy="301752"/>
          </a:xfrm>
          <a:prstGeom prst="roundRect">
            <a:avLst/>
          </a:prstGeom>
          <a:solidFill>
            <a:srgbClr val="4B6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27432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2.9 Docker Compose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4652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F6B7A"/>
                </a:solidFill>
                <a:latin typeface="Aptos"/>
              </a:rPr>
              <a:t>82/90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263640"/>
            <a:ext cx="10789920" cy="9144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713232"/>
            <a:ext cx="685800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72033"/>
                </a:solidFill>
                <a:latin typeface="Aptos"/>
              </a:rPr>
              <a:t>Networks dans Compose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64208"/>
            <a:ext cx="612648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Compose crée un réseau par projet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Les services se joignent par nom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Les réseaux peuvent être personnalisés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95360" y="1417320"/>
            <a:ext cx="1143000" cy="676656"/>
          </a:xfrm>
          <a:prstGeom prst="roundRect">
            <a:avLst/>
          </a:prstGeom>
          <a:solidFill>
            <a:srgbClr val="4B6078"/>
          </a:solidFill>
          <a:ln w="12700">
            <a:solidFill>
              <a:srgbClr val="4B6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0" y="1627632"/>
            <a:ext cx="1143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web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26680" y="2651760"/>
            <a:ext cx="1143000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B6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80" y="2862072"/>
            <a:ext cx="1143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4B6078"/>
                </a:solidFill>
                <a:latin typeface="Aptos"/>
              </a:rPr>
              <a:t>api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64040" y="2651760"/>
            <a:ext cx="1143000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B6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64040" y="2862072"/>
            <a:ext cx="1143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4B6078"/>
                </a:solidFill>
                <a:latin typeface="Aptos"/>
              </a:rPr>
              <a:t>db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8298180" y="1755648"/>
            <a:ext cx="868680" cy="1234440"/>
          </a:xfrm>
          <a:prstGeom prst="line">
            <a:avLst/>
          </a:prstGeom>
          <a:ln w="15240">
            <a:solidFill>
              <a:srgbClr val="B7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166860" y="1755648"/>
            <a:ext cx="868680" cy="1234440"/>
          </a:xfrm>
          <a:prstGeom prst="line">
            <a:avLst/>
          </a:prstGeom>
          <a:ln w="15240">
            <a:solidFill>
              <a:srgbClr val="B7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298180" y="2990088"/>
            <a:ext cx="1737360" cy="0"/>
          </a:xfrm>
          <a:prstGeom prst="line">
            <a:avLst/>
          </a:prstGeom>
          <a:ln w="15240">
            <a:solidFill>
              <a:srgbClr val="B7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110728" y="3886200"/>
            <a:ext cx="2468880" cy="566928"/>
          </a:xfrm>
          <a:prstGeom prst="roundRect">
            <a:avLst/>
          </a:prstGeom>
          <a:solidFill>
            <a:srgbClr val="EEF2F8"/>
          </a:solidFill>
          <a:ln w="12700">
            <a:solidFill>
              <a:srgbClr val="CA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10728" y="4087368"/>
            <a:ext cx="24688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72033"/>
                </a:solidFill>
                <a:latin typeface="Aptos"/>
              </a:rPr>
              <a:t>compose.yaml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B6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320040"/>
            <a:ext cx="3246120" cy="301752"/>
          </a:xfrm>
          <a:prstGeom prst="roundRect">
            <a:avLst/>
          </a:prstGeom>
          <a:solidFill>
            <a:srgbClr val="4B6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27432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2.9 Docker Compose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4652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F6B7A"/>
                </a:solidFill>
                <a:latin typeface="Aptos"/>
              </a:rPr>
              <a:t>83/90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263640"/>
            <a:ext cx="10789920" cy="9144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713232"/>
            <a:ext cx="685800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72033"/>
                </a:solidFill>
                <a:latin typeface="Aptos"/>
              </a:rPr>
              <a:t>Volumes dans Compose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64208"/>
            <a:ext cx="612648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Déclarent les données persistantes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Se montent dans les services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Rendent l’environnement reproductible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95360" y="1417320"/>
            <a:ext cx="1143000" cy="676656"/>
          </a:xfrm>
          <a:prstGeom prst="roundRect">
            <a:avLst/>
          </a:prstGeom>
          <a:solidFill>
            <a:srgbClr val="4B6078"/>
          </a:solidFill>
          <a:ln w="12700">
            <a:solidFill>
              <a:srgbClr val="4B6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0" y="1627632"/>
            <a:ext cx="1143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web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26680" y="2651760"/>
            <a:ext cx="1143000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B6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80" y="2862072"/>
            <a:ext cx="1143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4B6078"/>
                </a:solidFill>
                <a:latin typeface="Aptos"/>
              </a:rPr>
              <a:t>api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64040" y="2651760"/>
            <a:ext cx="1143000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B6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64040" y="2862072"/>
            <a:ext cx="1143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4B6078"/>
                </a:solidFill>
                <a:latin typeface="Aptos"/>
              </a:rPr>
              <a:t>db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8298180" y="1755648"/>
            <a:ext cx="868680" cy="1234440"/>
          </a:xfrm>
          <a:prstGeom prst="line">
            <a:avLst/>
          </a:prstGeom>
          <a:ln w="15240">
            <a:solidFill>
              <a:srgbClr val="B7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166860" y="1755648"/>
            <a:ext cx="868680" cy="1234440"/>
          </a:xfrm>
          <a:prstGeom prst="line">
            <a:avLst/>
          </a:prstGeom>
          <a:ln w="15240">
            <a:solidFill>
              <a:srgbClr val="B7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298180" y="2990088"/>
            <a:ext cx="1737360" cy="0"/>
          </a:xfrm>
          <a:prstGeom prst="line">
            <a:avLst/>
          </a:prstGeom>
          <a:ln w="15240">
            <a:solidFill>
              <a:srgbClr val="B7C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110728" y="3886200"/>
            <a:ext cx="2468880" cy="566928"/>
          </a:xfrm>
          <a:prstGeom prst="roundRect">
            <a:avLst/>
          </a:prstGeom>
          <a:solidFill>
            <a:srgbClr val="EEF2F8"/>
          </a:solidFill>
          <a:ln w="12700">
            <a:solidFill>
              <a:srgbClr val="CA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10728" y="4087368"/>
            <a:ext cx="24688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72033"/>
                </a:solidFill>
                <a:latin typeface="Aptos"/>
              </a:rPr>
              <a:t>compose.yaml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B6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320040"/>
            <a:ext cx="3246120" cy="301752"/>
          </a:xfrm>
          <a:prstGeom prst="roundRect">
            <a:avLst/>
          </a:prstGeom>
          <a:solidFill>
            <a:srgbClr val="4B6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27432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2.9 Docker Compose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4652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F6B7A"/>
                </a:solidFill>
                <a:latin typeface="Aptos"/>
              </a:rPr>
              <a:t>84/90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263640"/>
            <a:ext cx="10789920" cy="9144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713232"/>
            <a:ext cx="685800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72033"/>
                </a:solidFill>
                <a:latin typeface="Aptos"/>
              </a:rPr>
              <a:t>docker compose build construit les images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64208"/>
            <a:ext cx="612648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Construit les services avec build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Utilise les Dockerfile du projet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Prépare un lancement cohérent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1572768"/>
            <a:ext cx="4160520" cy="2423160"/>
          </a:xfrm>
          <a:prstGeom prst="roundRect">
            <a:avLst/>
          </a:prstGeom>
          <a:solidFill>
            <a:srgbClr val="12304A"/>
          </a:solidFill>
          <a:ln w="12700">
            <a:solidFill>
              <a:srgbClr val="0C2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1572768"/>
            <a:ext cx="4160520" cy="384048"/>
          </a:xfrm>
          <a:prstGeom prst="rect">
            <a:avLst/>
          </a:prstGeom>
          <a:solidFill>
            <a:srgbClr val="20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479792" y="1700784"/>
            <a:ext cx="91440" cy="91440"/>
          </a:xfrm>
          <a:prstGeom prst="ellipse">
            <a:avLst/>
          </a:prstGeom>
          <a:solidFill>
            <a:srgbClr val="C9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90104" y="1700784"/>
            <a:ext cx="91440" cy="91440"/>
          </a:xfrm>
          <a:prstGeom prst="ellipse">
            <a:avLst/>
          </a:prstGeom>
          <a:solidFill>
            <a:srgbClr val="E79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900416" y="1700784"/>
            <a:ext cx="91440" cy="91440"/>
          </a:xfrm>
          <a:prstGeom prst="ellipse">
            <a:avLst/>
          </a:prstGeom>
          <a:solidFill>
            <a:srgbClr val="2F8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07808" y="2441448"/>
            <a:ext cx="274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4B6078"/>
                </a:solidFill>
                <a:latin typeface="Consolas"/>
              </a:rPr>
              <a:t>$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73568" y="2441448"/>
            <a:ext cx="3246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onsolas"/>
              </a:rPr>
              <a:t>docker compose build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07808" y="3447287"/>
            <a:ext cx="357530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B9C8DA"/>
                </a:solidFill>
                <a:latin typeface="Aptos"/>
              </a:rPr>
              <a:t>Commande clé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B6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320040"/>
            <a:ext cx="3246120" cy="301752"/>
          </a:xfrm>
          <a:prstGeom prst="roundRect">
            <a:avLst/>
          </a:prstGeom>
          <a:solidFill>
            <a:srgbClr val="4B6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27432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2.9 Docker Compose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4652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F6B7A"/>
                </a:solidFill>
                <a:latin typeface="Aptos"/>
              </a:rPr>
              <a:t>85/90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263640"/>
            <a:ext cx="10789920" cy="9144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713232"/>
            <a:ext cx="685800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72033"/>
                </a:solidFill>
                <a:latin typeface="Aptos"/>
              </a:rPr>
              <a:t>docker compose up démarre le projet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64208"/>
            <a:ext cx="612648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Lance tous les services nécessaires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Crée réseaux et volumes manquants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Affiche les logs par défaut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1572768"/>
            <a:ext cx="4160520" cy="2423160"/>
          </a:xfrm>
          <a:prstGeom prst="roundRect">
            <a:avLst/>
          </a:prstGeom>
          <a:solidFill>
            <a:srgbClr val="12304A"/>
          </a:solidFill>
          <a:ln w="12700">
            <a:solidFill>
              <a:srgbClr val="0C2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1572768"/>
            <a:ext cx="4160520" cy="384048"/>
          </a:xfrm>
          <a:prstGeom prst="rect">
            <a:avLst/>
          </a:prstGeom>
          <a:solidFill>
            <a:srgbClr val="20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479792" y="1700784"/>
            <a:ext cx="91440" cy="91440"/>
          </a:xfrm>
          <a:prstGeom prst="ellipse">
            <a:avLst/>
          </a:prstGeom>
          <a:solidFill>
            <a:srgbClr val="C9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90104" y="1700784"/>
            <a:ext cx="91440" cy="91440"/>
          </a:xfrm>
          <a:prstGeom prst="ellipse">
            <a:avLst/>
          </a:prstGeom>
          <a:solidFill>
            <a:srgbClr val="E79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900416" y="1700784"/>
            <a:ext cx="91440" cy="91440"/>
          </a:xfrm>
          <a:prstGeom prst="ellipse">
            <a:avLst/>
          </a:prstGeom>
          <a:solidFill>
            <a:srgbClr val="2F8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07808" y="2441448"/>
            <a:ext cx="274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4B6078"/>
                </a:solidFill>
                <a:latin typeface="Consolas"/>
              </a:rPr>
              <a:t>$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73568" y="2441448"/>
            <a:ext cx="3246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onsolas"/>
              </a:rPr>
              <a:t>docker compose 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07808" y="3447287"/>
            <a:ext cx="357530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B9C8DA"/>
                </a:solidFill>
                <a:latin typeface="Aptos"/>
              </a:rPr>
              <a:t>Commande clé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B6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320040"/>
            <a:ext cx="3246120" cy="301752"/>
          </a:xfrm>
          <a:prstGeom prst="roundRect">
            <a:avLst/>
          </a:prstGeom>
          <a:solidFill>
            <a:srgbClr val="4B6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27432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2.9 Docker Compose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4652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F6B7A"/>
                </a:solidFill>
                <a:latin typeface="Aptos"/>
              </a:rPr>
              <a:t>86/90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263640"/>
            <a:ext cx="10789920" cy="9144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713232"/>
            <a:ext cx="685800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72033"/>
                </a:solidFill>
                <a:latin typeface="Aptos"/>
              </a:rPr>
              <a:t>docker compose down arrête le projet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64208"/>
            <a:ext cx="612648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Arrête les services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Supprime les conteneurs du projet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Garde les volumes sauf option contraire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1572768"/>
            <a:ext cx="4160520" cy="2423160"/>
          </a:xfrm>
          <a:prstGeom prst="roundRect">
            <a:avLst/>
          </a:prstGeom>
          <a:solidFill>
            <a:srgbClr val="12304A"/>
          </a:solidFill>
          <a:ln w="12700">
            <a:solidFill>
              <a:srgbClr val="0C2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1572768"/>
            <a:ext cx="4160520" cy="384048"/>
          </a:xfrm>
          <a:prstGeom prst="rect">
            <a:avLst/>
          </a:prstGeom>
          <a:solidFill>
            <a:srgbClr val="20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479792" y="1700784"/>
            <a:ext cx="91440" cy="91440"/>
          </a:xfrm>
          <a:prstGeom prst="ellipse">
            <a:avLst/>
          </a:prstGeom>
          <a:solidFill>
            <a:srgbClr val="C9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90104" y="1700784"/>
            <a:ext cx="91440" cy="91440"/>
          </a:xfrm>
          <a:prstGeom prst="ellipse">
            <a:avLst/>
          </a:prstGeom>
          <a:solidFill>
            <a:srgbClr val="E79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900416" y="1700784"/>
            <a:ext cx="91440" cy="91440"/>
          </a:xfrm>
          <a:prstGeom prst="ellipse">
            <a:avLst/>
          </a:prstGeom>
          <a:solidFill>
            <a:srgbClr val="2F8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07808" y="2441448"/>
            <a:ext cx="274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4B6078"/>
                </a:solidFill>
                <a:latin typeface="Consolas"/>
              </a:rPr>
              <a:t>$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73568" y="2441448"/>
            <a:ext cx="3246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onsolas"/>
              </a:rPr>
              <a:t>docker compose down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07808" y="3447287"/>
            <a:ext cx="357530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B9C8DA"/>
                </a:solidFill>
                <a:latin typeface="Aptos"/>
              </a:rPr>
              <a:t>Commande clé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B6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320040"/>
            <a:ext cx="3246120" cy="301752"/>
          </a:xfrm>
          <a:prstGeom prst="roundRect">
            <a:avLst/>
          </a:prstGeom>
          <a:solidFill>
            <a:srgbClr val="4B6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27432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2.9 Docker Compose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4652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F6B7A"/>
                </a:solidFill>
                <a:latin typeface="Aptos"/>
              </a:rPr>
              <a:t>87/90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263640"/>
            <a:ext cx="10789920" cy="9144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713232"/>
            <a:ext cx="685800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72033"/>
                </a:solidFill>
                <a:latin typeface="Aptos"/>
              </a:rPr>
              <a:t>docker compose ps affiche les services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64208"/>
            <a:ext cx="612648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Liste l’état des conteneurs Compose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Montre ports et noms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Aide au diagnostic rapide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1572768"/>
            <a:ext cx="4160520" cy="2423160"/>
          </a:xfrm>
          <a:prstGeom prst="roundRect">
            <a:avLst/>
          </a:prstGeom>
          <a:solidFill>
            <a:srgbClr val="12304A"/>
          </a:solidFill>
          <a:ln w="12700">
            <a:solidFill>
              <a:srgbClr val="0C2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1572768"/>
            <a:ext cx="4160520" cy="384048"/>
          </a:xfrm>
          <a:prstGeom prst="rect">
            <a:avLst/>
          </a:prstGeom>
          <a:solidFill>
            <a:srgbClr val="20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479792" y="1700784"/>
            <a:ext cx="91440" cy="91440"/>
          </a:xfrm>
          <a:prstGeom prst="ellipse">
            <a:avLst/>
          </a:prstGeom>
          <a:solidFill>
            <a:srgbClr val="C9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90104" y="1700784"/>
            <a:ext cx="91440" cy="91440"/>
          </a:xfrm>
          <a:prstGeom prst="ellipse">
            <a:avLst/>
          </a:prstGeom>
          <a:solidFill>
            <a:srgbClr val="E79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900416" y="1700784"/>
            <a:ext cx="91440" cy="91440"/>
          </a:xfrm>
          <a:prstGeom prst="ellipse">
            <a:avLst/>
          </a:prstGeom>
          <a:solidFill>
            <a:srgbClr val="2F8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07808" y="2441448"/>
            <a:ext cx="274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4B6078"/>
                </a:solidFill>
                <a:latin typeface="Consolas"/>
              </a:rPr>
              <a:t>$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73568" y="2441448"/>
            <a:ext cx="3246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onsolas"/>
              </a:rPr>
              <a:t>docker compose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07808" y="3447287"/>
            <a:ext cx="357530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B9C8DA"/>
                </a:solidFill>
                <a:latin typeface="Aptos"/>
              </a:rPr>
              <a:t>Commande clé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B6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320040"/>
            <a:ext cx="3246120" cy="301752"/>
          </a:xfrm>
          <a:prstGeom prst="roundRect">
            <a:avLst/>
          </a:prstGeom>
          <a:solidFill>
            <a:srgbClr val="4B6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27432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2.9 Docker Compose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4652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F6B7A"/>
                </a:solidFill>
                <a:latin typeface="Aptos"/>
              </a:rPr>
              <a:t>88/90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263640"/>
            <a:ext cx="10789920" cy="9144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713232"/>
            <a:ext cx="685800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72033"/>
                </a:solidFill>
                <a:latin typeface="Aptos"/>
              </a:rPr>
              <a:t>docker compose logs lit les logs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64208"/>
            <a:ext cx="612648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Regroupe les sorties des services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Permet de suivre un service précis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Très utile pendant le debug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1572768"/>
            <a:ext cx="4160520" cy="2423160"/>
          </a:xfrm>
          <a:prstGeom prst="roundRect">
            <a:avLst/>
          </a:prstGeom>
          <a:solidFill>
            <a:srgbClr val="12304A"/>
          </a:solidFill>
          <a:ln w="12700">
            <a:solidFill>
              <a:srgbClr val="0C2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1572768"/>
            <a:ext cx="4160520" cy="384048"/>
          </a:xfrm>
          <a:prstGeom prst="rect">
            <a:avLst/>
          </a:prstGeom>
          <a:solidFill>
            <a:srgbClr val="20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479792" y="1700784"/>
            <a:ext cx="91440" cy="91440"/>
          </a:xfrm>
          <a:prstGeom prst="ellipse">
            <a:avLst/>
          </a:prstGeom>
          <a:solidFill>
            <a:srgbClr val="C9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90104" y="1700784"/>
            <a:ext cx="91440" cy="91440"/>
          </a:xfrm>
          <a:prstGeom prst="ellipse">
            <a:avLst/>
          </a:prstGeom>
          <a:solidFill>
            <a:srgbClr val="E79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900416" y="1700784"/>
            <a:ext cx="91440" cy="91440"/>
          </a:xfrm>
          <a:prstGeom prst="ellipse">
            <a:avLst/>
          </a:prstGeom>
          <a:solidFill>
            <a:srgbClr val="2F8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07808" y="2441448"/>
            <a:ext cx="274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4B6078"/>
                </a:solidFill>
                <a:latin typeface="Consolas"/>
              </a:rPr>
              <a:t>$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73568" y="2441448"/>
            <a:ext cx="3246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onsolas"/>
              </a:rPr>
              <a:t>docker compose logs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07808" y="3447287"/>
            <a:ext cx="357530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B9C8DA"/>
                </a:solidFill>
                <a:latin typeface="Aptos"/>
              </a:rPr>
              <a:t>Commande clé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D6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320040"/>
            <a:ext cx="3246120" cy="301752"/>
          </a:xfrm>
          <a:prstGeom prst="roundRect">
            <a:avLst/>
          </a:prstGeom>
          <a:solidFill>
            <a:srgbClr val="1D6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27432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 Docker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4652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F6B7A"/>
                </a:solidFill>
                <a:latin typeface="Aptos"/>
              </a:rPr>
              <a:t>89/90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263640"/>
            <a:ext cx="10789920" cy="9144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713232"/>
            <a:ext cx="685800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72033"/>
                </a:solidFill>
                <a:latin typeface="Aptos"/>
              </a:rPr>
              <a:t>Synthèse des bonnes pratiques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64208"/>
            <a:ext cx="612648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Images petites et versionnées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Données stockées hors conteneur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Commandes automatisées avec Compose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Secrets jamais dans les images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1234440"/>
            <a:ext cx="347472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799832" y="1335024"/>
            <a:ext cx="237744" cy="237744"/>
          </a:xfrm>
          <a:prstGeom prst="ellipse">
            <a:avLst/>
          </a:prstGeom>
          <a:solidFill>
            <a:srgbClr val="1D6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9832" y="1348740"/>
            <a:ext cx="237744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1947672"/>
            <a:ext cx="347472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99832" y="2048256"/>
            <a:ext cx="237744" cy="237744"/>
          </a:xfrm>
          <a:prstGeom prst="ellipse">
            <a:avLst/>
          </a:prstGeom>
          <a:solidFill>
            <a:srgbClr val="1D6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99832" y="2061972"/>
            <a:ext cx="237744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2660904"/>
            <a:ext cx="347472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799832" y="2761488"/>
            <a:ext cx="237744" cy="237744"/>
          </a:xfrm>
          <a:prstGeom prst="ellipse">
            <a:avLst/>
          </a:prstGeom>
          <a:solidFill>
            <a:srgbClr val="1D6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99832" y="2775204"/>
            <a:ext cx="237744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3374136"/>
            <a:ext cx="347472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799832" y="3474719"/>
            <a:ext cx="237744" cy="237744"/>
          </a:xfrm>
          <a:prstGeom prst="ellipse">
            <a:avLst/>
          </a:prstGeom>
          <a:solidFill>
            <a:srgbClr val="1D6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99832" y="3488436"/>
            <a:ext cx="237744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D6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320040"/>
            <a:ext cx="3246120" cy="301752"/>
          </a:xfrm>
          <a:prstGeom prst="roundRect">
            <a:avLst/>
          </a:prstGeom>
          <a:solidFill>
            <a:srgbClr val="1D6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27432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 Docker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4652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F6B7A"/>
                </a:solidFill>
                <a:latin typeface="Aptos"/>
              </a:rPr>
              <a:t>90/90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263640"/>
            <a:ext cx="10789920" cy="9144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713232"/>
            <a:ext cx="685800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72033"/>
                </a:solidFill>
                <a:latin typeface="Aptos"/>
              </a:rPr>
              <a:t>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64208"/>
            <a:ext cx="612648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Docker standardise l’exécution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Les conteneurs rendent les tests rapides</a:t>
            </a:r>
          </a:p>
          <a:p>
            <a:pPr>
              <a:lnSpc>
                <a:spcPct val="108000"/>
              </a:lnSpc>
              <a:spcAft>
                <a:spcPts val="13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• Compose simplifie les applications multi-services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1234440"/>
            <a:ext cx="347472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799832" y="1335024"/>
            <a:ext cx="237744" cy="237744"/>
          </a:xfrm>
          <a:prstGeom prst="ellipse">
            <a:avLst/>
          </a:prstGeom>
          <a:solidFill>
            <a:srgbClr val="1D6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9832" y="1348740"/>
            <a:ext cx="237744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1947672"/>
            <a:ext cx="347472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99832" y="2048256"/>
            <a:ext cx="237744" cy="237744"/>
          </a:xfrm>
          <a:prstGeom prst="ellipse">
            <a:avLst/>
          </a:prstGeom>
          <a:solidFill>
            <a:srgbClr val="1D6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99832" y="2061972"/>
            <a:ext cx="237744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2660904"/>
            <a:ext cx="347472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799832" y="2761488"/>
            <a:ext cx="237744" cy="237744"/>
          </a:xfrm>
          <a:prstGeom prst="ellipse">
            <a:avLst/>
          </a:prstGeom>
          <a:solidFill>
            <a:srgbClr val="1D6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99832" y="2775204"/>
            <a:ext cx="237744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3374136"/>
            <a:ext cx="347472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799832" y="3474719"/>
            <a:ext cx="237744" cy="237744"/>
          </a:xfrm>
          <a:prstGeom prst="ellipse">
            <a:avLst/>
          </a:prstGeom>
          <a:solidFill>
            <a:srgbClr val="1D6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99832" y="3488436"/>
            <a:ext cx="237744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Docker - Concepts, utilisation et bonnes pratiques</dc:title>
  <dc:subject>Formation Docker débutant à intermédiaire</dc:subject>
  <dc:creator>OpenAI Codex</dc:creator>
  <cp:keywords>Docker, DevOps, conteneurisation, Docker Compose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