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94944" y="191805"/>
            <a:ext cx="2487168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2.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548640"/>
            <a:ext cx="5669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latin typeface="Aptos"/>
              </a:rPr>
              <a:t>01/90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94944"/>
            <a:ext cx="2560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chemeClr val="tx2">
                    <a:lumMod val="75000"/>
                  </a:schemeClr>
                </a:solidFill>
                <a:latin typeface="Aptos"/>
              </a:rPr>
              <a:t>FORMATION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298448"/>
            <a:ext cx="6858000" cy="22621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9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: concepts, </a:t>
            </a:r>
            <a:r>
              <a:rPr sz="49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utilisation</a:t>
            </a:r>
            <a:r>
              <a:rPr sz="49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et </a:t>
            </a:r>
            <a:r>
              <a:rPr sz="49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bonnes</a:t>
            </a:r>
            <a:r>
              <a:rPr sz="49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696708"/>
            <a:ext cx="539496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Concepts, </a:t>
            </a:r>
            <a:r>
              <a:rPr sz="19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utilisation</a:t>
            </a:r>
            <a:r>
              <a:rPr sz="19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et </a:t>
            </a:r>
            <a:r>
              <a:rPr sz="19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bonnes</a:t>
            </a:r>
            <a:r>
              <a:rPr sz="19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pratiques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4964973"/>
            <a:ext cx="1874519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 dirty="0" err="1">
                <a:solidFill>
                  <a:schemeClr val="bg1"/>
                </a:solidFill>
                <a:latin typeface="Aptos"/>
              </a:rPr>
              <a:t>Comprendre</a:t>
            </a:r>
            <a:r>
              <a:rPr sz="900" b="1" dirty="0">
                <a:solidFill>
                  <a:schemeClr val="bg1"/>
                </a:solidFill>
                <a:latin typeface="Aptos"/>
              </a:rPr>
              <a:t> les </a:t>
            </a:r>
            <a:r>
              <a:rPr sz="900" b="1" dirty="0" err="1">
                <a:solidFill>
                  <a:schemeClr val="bg1"/>
                </a:solidFill>
                <a:latin typeface="Aptos"/>
              </a:rPr>
              <a:t>conteneurs</a:t>
            </a:r>
            <a:endParaRPr sz="9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916936" y="4964973"/>
            <a:ext cx="1874519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Lancer des 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4964973"/>
            <a:ext cx="1874519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 dirty="0" err="1">
                <a:solidFill>
                  <a:schemeClr val="bg1"/>
                </a:solidFill>
                <a:latin typeface="Aptos"/>
              </a:rPr>
              <a:t>Travailler</a:t>
            </a:r>
            <a:r>
              <a:rPr sz="9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900" b="1" dirty="0" err="1">
                <a:solidFill>
                  <a:schemeClr val="bg1"/>
                </a:solidFill>
                <a:latin typeface="Aptos"/>
              </a:rPr>
              <a:t>proprement</a:t>
            </a:r>
            <a:r>
              <a:rPr sz="9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900" b="1" dirty="0" err="1">
                <a:solidFill>
                  <a:schemeClr val="bg1"/>
                </a:solidFill>
                <a:latin typeface="Aptos"/>
              </a:rPr>
              <a:t>en</a:t>
            </a:r>
            <a:r>
              <a:rPr sz="900" b="1" dirty="0">
                <a:solidFill>
                  <a:schemeClr val="bg1"/>
                </a:solidFill>
                <a:latin typeface="Aptos"/>
              </a:rPr>
              <a:t> équipe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4944" y="6236208"/>
            <a:ext cx="119684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1765065-876B-283D-7B5F-AD7BA63203CF}"/>
              </a:ext>
            </a:extLst>
          </p:cNvPr>
          <p:cNvSpPr txBox="1"/>
          <p:nvPr/>
        </p:nvSpPr>
        <p:spPr>
          <a:xfrm>
            <a:off x="4492752" y="808458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01</a:t>
            </a:r>
          </a:p>
        </p:txBody>
      </p:sp>
      <p:sp>
        <p:nvSpPr>
          <p:cNvPr id="16" name="Oval 6">
            <a:extLst>
              <a:ext uri="{FF2B5EF4-FFF2-40B4-BE49-F238E27FC236}">
                <a16:creationId xmlns:a16="http://schemas.microsoft.com/office/drawing/2014/main" id="{1BAA6B95-06B2-A46B-3832-73387106BF0F}"/>
              </a:ext>
            </a:extLst>
          </p:cNvPr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45008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02/90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02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Objectifs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de la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Vue d’ensemble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Identifier les bons usages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Manipuler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images et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Préparer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projets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reproductibles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47888" y="2724911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49640" y="3118103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851392" y="3511295"/>
            <a:ext cx="141732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4944" y="6236208"/>
            <a:ext cx="239369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03/90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03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en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trois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briques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Vue d’ensemble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Image :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modèle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départ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: application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lancée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Engine :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moteur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d’exécution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47888" y="2724911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49640" y="3118103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851392" y="3511295"/>
            <a:ext cx="141732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4944" y="6236208"/>
            <a:ext cx="359054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2.1 </a:t>
            </a:r>
            <a:r>
              <a:rPr sz="900" b="1" dirty="0" err="1">
                <a:solidFill>
                  <a:schemeClr val="bg1"/>
                </a:solidFill>
                <a:latin typeface="Aptos"/>
              </a:rPr>
              <a:t>Problématique</a:t>
            </a:r>
            <a:r>
              <a:rPr sz="900" b="1" dirty="0">
                <a:solidFill>
                  <a:schemeClr val="bg1"/>
                </a:solidFill>
                <a:latin typeface="Aptos"/>
              </a:rPr>
              <a:t> (</a:t>
            </a:r>
            <a:r>
              <a:rPr sz="900" b="1" dirty="0" err="1">
                <a:solidFill>
                  <a:schemeClr val="bg1"/>
                </a:solidFill>
                <a:latin typeface="Aptos"/>
              </a:rPr>
              <a:t>Pourquoi</a:t>
            </a:r>
            <a:r>
              <a:rPr sz="900" b="1" dirty="0">
                <a:solidFill>
                  <a:schemeClr val="bg1"/>
                </a:solidFill>
                <a:latin typeface="Aptos"/>
              </a:rPr>
              <a:t> Docker ?)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548640"/>
            <a:ext cx="5669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latin typeface="Aptos"/>
              </a:rPr>
              <a:t>04/90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987552"/>
            <a:ext cx="731520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9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Problèmes</a:t>
            </a:r>
            <a:r>
              <a:rPr sz="39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avant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011680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latin typeface="Aptos"/>
              </a:rPr>
              <a:t>Pourquoi Docker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450592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50976" y="2615184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0976" y="2688336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15184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Applications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installées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à la 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246120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950976" y="3410712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0976" y="3483864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10712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Dépendances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dispersées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9808" y="4041648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950976" y="4206240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0976" y="4279392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06240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latin typeface="Aptos"/>
              </a:rPr>
              <a:t>Corrections </a:t>
            </a:r>
            <a:r>
              <a:rPr sz="1800" b="0" dirty="0" err="1">
                <a:latin typeface="Aptos"/>
              </a:rPr>
              <a:t>lentes</a:t>
            </a:r>
            <a:r>
              <a:rPr sz="1800" b="0" dirty="0">
                <a:latin typeface="Aptos"/>
              </a:rPr>
              <a:t> et </a:t>
            </a:r>
            <a:r>
              <a:rPr sz="1800" b="0" dirty="0" err="1">
                <a:latin typeface="Aptos"/>
              </a:rPr>
              <a:t>risquées</a:t>
            </a:r>
            <a:endParaRPr sz="1800" b="0" dirty="0"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9808" y="5001768"/>
            <a:ext cx="4389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latin typeface="Aptos"/>
              </a:rPr>
              <a:t>Cours Docker • débutant à intermédiaire</a:t>
            </a:r>
          </a:p>
        </p:txBody>
      </p:sp>
      <p:sp>
        <p:nvSpPr>
          <p:cNvPr id="22" name="Oval 21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119872" y="2807207"/>
            <a:ext cx="530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119872" y="3081527"/>
            <a:ext cx="530352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latin typeface="Aptos"/>
              </a:rPr>
              <a:t>dev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14815" y="3118103"/>
            <a:ext cx="530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14815" y="3392423"/>
            <a:ext cx="530352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latin typeface="Aptos"/>
              </a:rPr>
              <a:t>test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2807207"/>
            <a:ext cx="530352" cy="713232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509760" y="3081527"/>
            <a:ext cx="530352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latin typeface="Aptos"/>
              </a:rPr>
              <a:t>prod</a:t>
            </a:r>
          </a:p>
        </p:txBody>
      </p:sp>
      <p:sp>
        <p:nvSpPr>
          <p:cNvPr id="29" name="Isosceles Triangle 28"/>
          <p:cNvSpPr/>
          <p:nvPr/>
        </p:nvSpPr>
        <p:spPr>
          <a:xfrm>
            <a:off x="8686800" y="3822191"/>
            <a:ext cx="822960" cy="713232"/>
          </a:xfrm>
          <a:prstGeom prst="triangl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686800" y="3968495"/>
            <a:ext cx="822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latin typeface="Aptos"/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94944" y="6236208"/>
            <a:ext cx="478739" cy="3200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05/90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05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Limites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des installations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classiques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Pourquoi Docker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Chaque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serveur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devient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unique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Mises à jour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manuelles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Retour arrière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compliqué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19872" y="2807207"/>
            <a:ext cx="530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19872" y="3081527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EA580C"/>
                </a:solidFill>
                <a:latin typeface="Aptos"/>
              </a:rPr>
              <a:t>dev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14815" y="3118103"/>
            <a:ext cx="530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14815" y="3392423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EA580C"/>
                </a:solidFill>
                <a:latin typeface="Aptos"/>
              </a:rPr>
              <a:t>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2807207"/>
            <a:ext cx="530352" cy="713232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0" y="3081527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sp>
        <p:nvSpPr>
          <p:cNvPr id="30" name="Isosceles Triangle 29"/>
          <p:cNvSpPr/>
          <p:nvPr/>
        </p:nvSpPr>
        <p:spPr>
          <a:xfrm>
            <a:off x="8686800" y="3822191"/>
            <a:ext cx="822960" cy="713232"/>
          </a:xfrm>
          <a:prstGeom prst="triangl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0" y="396849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4944" y="6236208"/>
            <a:ext cx="598424" cy="3200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06/90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06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Environnements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incohérents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Pourquoi Docker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Développement, test et production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diffèrent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Versions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parfois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incompatibles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Erreurs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difficiles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à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reproduire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19872" y="2807207"/>
            <a:ext cx="530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19872" y="3081527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EA580C"/>
                </a:solidFill>
                <a:latin typeface="Aptos"/>
              </a:rPr>
              <a:t>dev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14815" y="3118103"/>
            <a:ext cx="530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14815" y="3392423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EA580C"/>
                </a:solidFill>
                <a:latin typeface="Aptos"/>
              </a:rPr>
              <a:t>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2807207"/>
            <a:ext cx="530352" cy="713232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0" y="3081527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sp>
        <p:nvSpPr>
          <p:cNvPr id="30" name="Isosceles Triangle 29"/>
          <p:cNvSpPr/>
          <p:nvPr/>
        </p:nvSpPr>
        <p:spPr>
          <a:xfrm>
            <a:off x="8686800" y="3822191"/>
            <a:ext cx="822960" cy="713232"/>
          </a:xfrm>
          <a:prstGeom prst="triangl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0" y="396849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4944" y="6236208"/>
            <a:ext cx="718108" cy="3200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07/90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07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« It works on my machine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Pourquoi Docker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Le poste local cache le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vrai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problème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La production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n’a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pas les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mêmes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réglages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Le diagnostic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prend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du temps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19872" y="2807207"/>
            <a:ext cx="530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19872" y="3081527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EA580C"/>
                </a:solidFill>
                <a:latin typeface="Aptos"/>
              </a:rPr>
              <a:t>dev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14815" y="3118103"/>
            <a:ext cx="530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14815" y="3392423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EA580C"/>
                </a:solidFill>
                <a:latin typeface="Aptos"/>
              </a:rPr>
              <a:t>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2807207"/>
            <a:ext cx="530352" cy="713232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0" y="3081527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sp>
        <p:nvSpPr>
          <p:cNvPr id="30" name="Isosceles Triangle 29"/>
          <p:cNvSpPr/>
          <p:nvPr/>
        </p:nvSpPr>
        <p:spPr>
          <a:xfrm>
            <a:off x="8686800" y="3822191"/>
            <a:ext cx="822960" cy="713232"/>
          </a:xfrm>
          <a:prstGeom prst="triangl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0" y="396849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4944" y="6236208"/>
            <a:ext cx="837793" cy="3200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08/90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08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Besoin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de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portabilité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Pourquoi Docker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Emballer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l’application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avec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ses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dépendances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Déplacer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même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paquet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partout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Réduire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les surprises au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déploiement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19872" y="2807207"/>
            <a:ext cx="530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19872" y="3081527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EA580C"/>
                </a:solidFill>
                <a:latin typeface="Aptos"/>
              </a:rPr>
              <a:t>dev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14815" y="3118103"/>
            <a:ext cx="530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14815" y="3392423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EA580C"/>
                </a:solidFill>
                <a:latin typeface="Aptos"/>
              </a:rPr>
              <a:t>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2807207"/>
            <a:ext cx="530352" cy="713232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0" y="3081527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sp>
        <p:nvSpPr>
          <p:cNvPr id="30" name="Isosceles Triangle 29"/>
          <p:cNvSpPr/>
          <p:nvPr/>
        </p:nvSpPr>
        <p:spPr>
          <a:xfrm>
            <a:off x="8686800" y="3822191"/>
            <a:ext cx="822960" cy="713232"/>
          </a:xfrm>
          <a:prstGeom prst="triangl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0" y="396849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4944" y="6236208"/>
            <a:ext cx="957478" cy="3200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09/90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09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Besoin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de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rapidité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Pourquoi Docker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Installer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moins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 choses à la main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Démarrer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en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quelques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secondes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Tester plus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souvent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19872" y="2807207"/>
            <a:ext cx="530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19872" y="3081527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EA580C"/>
                </a:solidFill>
                <a:latin typeface="Aptos"/>
              </a:rPr>
              <a:t>dev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14815" y="3118103"/>
            <a:ext cx="530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14815" y="3392423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EA580C"/>
                </a:solidFill>
                <a:latin typeface="Aptos"/>
              </a:rPr>
              <a:t>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2807207"/>
            <a:ext cx="530352" cy="713232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0" y="3081527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sp>
        <p:nvSpPr>
          <p:cNvPr id="30" name="Isosceles Triangle 29"/>
          <p:cNvSpPr/>
          <p:nvPr/>
        </p:nvSpPr>
        <p:spPr>
          <a:xfrm>
            <a:off x="8686800" y="3822191"/>
            <a:ext cx="822960" cy="713232"/>
          </a:xfrm>
          <a:prstGeom prst="triangl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0" y="396849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4944" y="6236208"/>
            <a:ext cx="1077163" cy="3200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2.1 Problématique (Pourquoi Docker 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10/90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Besoin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de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standardisation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Pourquoi Docker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Même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format pour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livrer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Mêmes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commandes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pour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exécuter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Pipeline CI/CD plus simple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19872" y="2807207"/>
            <a:ext cx="530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19872" y="3081527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EA580C"/>
                </a:solidFill>
                <a:latin typeface="Aptos"/>
              </a:rPr>
              <a:t>dev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14815" y="3118103"/>
            <a:ext cx="5303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14815" y="3392423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EA580C"/>
                </a:solidFill>
                <a:latin typeface="Aptos"/>
              </a:rPr>
              <a:t>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2807207"/>
            <a:ext cx="530352" cy="713232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0" y="3081527"/>
            <a:ext cx="530352" cy="10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prod</a:t>
            </a:r>
          </a:p>
        </p:txBody>
      </p:sp>
      <p:sp>
        <p:nvSpPr>
          <p:cNvPr id="30" name="Isosceles Triangle 29"/>
          <p:cNvSpPr/>
          <p:nvPr/>
        </p:nvSpPr>
        <p:spPr>
          <a:xfrm>
            <a:off x="8686800" y="3822191"/>
            <a:ext cx="822960" cy="713232"/>
          </a:xfrm>
          <a:prstGeom prst="triangl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0" y="3968495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4944" y="6236208"/>
            <a:ext cx="1196848" cy="3200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2.2 </a:t>
            </a:r>
            <a:r>
              <a:rPr sz="900" b="1" dirty="0" err="1">
                <a:solidFill>
                  <a:schemeClr val="bg1"/>
                </a:solidFill>
                <a:latin typeface="Aptos"/>
              </a:rPr>
              <a:t>Conteneurisation</a:t>
            </a:r>
            <a:endParaRPr sz="9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27080" y="548640"/>
            <a:ext cx="5669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latin typeface="Aptos"/>
              </a:rPr>
              <a:t>11/90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987552"/>
            <a:ext cx="731520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9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Définition</a:t>
            </a:r>
            <a:r>
              <a:rPr sz="39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de la </a:t>
            </a:r>
            <a:r>
              <a:rPr sz="39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conteneurisation</a:t>
            </a:r>
            <a:endParaRPr sz="39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2011680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Conteneurisation</a:t>
            </a:r>
            <a:endParaRPr sz="1200" b="1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2450592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50976" y="2615184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0976" y="2688336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15184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Isoler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application dans un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9808" y="3246120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950976" y="3410712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0976" y="3483864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10712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Inclure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ses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dépendances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utiles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9808" y="4041648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950976" y="4206240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0976" y="4279392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06240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Partager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noyau de la machine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hôte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9808" y="5001768"/>
            <a:ext cx="4389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latin typeface="Aptos"/>
              </a:rPr>
              <a:t>Cours Docker • débutant à intermédiaire</a:t>
            </a:r>
          </a:p>
        </p:txBody>
      </p:sp>
      <p:sp>
        <p:nvSpPr>
          <p:cNvPr id="22" name="Oval 21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29600" y="2724911"/>
            <a:ext cx="475488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796527" y="2724911"/>
            <a:ext cx="475488" cy="1078992"/>
          </a:xfrm>
          <a:prstGeom prst="roundRect">
            <a:avLst/>
          </a:prstGeom>
          <a:solidFill>
            <a:srgbClr val="0F766E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363456" y="2724911"/>
            <a:ext cx="475488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156448" y="4096511"/>
            <a:ext cx="1920240" cy="24688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94944" y="6236208"/>
            <a:ext cx="1316532" cy="320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2.2 Conteneurisation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12/90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Conteneur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vs machine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virtuelle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Conteneurisation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Une VM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embarque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un OS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complet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Un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partage le noyau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est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souvent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plus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léger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56448" y="2532887"/>
            <a:ext cx="82296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253728" y="2532887"/>
            <a:ext cx="82296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56448" y="3273551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11827"/>
                </a:solidFill>
                <a:latin typeface="Aptos"/>
              </a:rPr>
              <a:t>VM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3273551"/>
            <a:ext cx="822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4944" y="6236208"/>
            <a:ext cx="1436217" cy="320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2.2 Conteneurisation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13/90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13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Conteneurisation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Processus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séparés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Système de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fichiers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isolé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Ressources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contrôlables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600" y="2724911"/>
            <a:ext cx="475488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796527" y="2724911"/>
            <a:ext cx="475488" cy="1078992"/>
          </a:xfrm>
          <a:prstGeom prst="roundRect">
            <a:avLst/>
          </a:prstGeom>
          <a:solidFill>
            <a:srgbClr val="0F766E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363456" y="2724911"/>
            <a:ext cx="475488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56448" y="4096511"/>
            <a:ext cx="1920240" cy="24688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4944" y="6236208"/>
            <a:ext cx="1555902" cy="320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2.2 Conteneurisation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14/90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14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Légèreté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Conteneurisation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Pas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d’OS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complet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par application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Images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souvent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petites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Moins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mémoire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utilisée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600" y="2724911"/>
            <a:ext cx="475488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796527" y="2724911"/>
            <a:ext cx="475488" cy="1078992"/>
          </a:xfrm>
          <a:prstGeom prst="roundRect">
            <a:avLst/>
          </a:prstGeom>
          <a:solidFill>
            <a:srgbClr val="0F766E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363456" y="2724911"/>
            <a:ext cx="475488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56448" y="4096511"/>
            <a:ext cx="1920240" cy="24688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4944" y="6236208"/>
            <a:ext cx="1675587" cy="320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2.2 Conteneurisation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15/90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Démarrage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rapide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Conteneurisation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Lancement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en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secondes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Cycle test plus court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Redémarrage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simple après incident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600" y="2724911"/>
            <a:ext cx="475488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796527" y="2724911"/>
            <a:ext cx="475488" cy="1078992"/>
          </a:xfrm>
          <a:prstGeom prst="roundRect">
            <a:avLst/>
          </a:prstGeom>
          <a:solidFill>
            <a:srgbClr val="0F766E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363456" y="2724911"/>
            <a:ext cx="475488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56448" y="4096511"/>
            <a:ext cx="1920240" cy="24688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4944" y="6236208"/>
            <a:ext cx="1795271" cy="320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2.2 Conteneurisation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16/90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16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Cas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d’usage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Conteneurisation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API web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Base de données de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Jobs batch et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outils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CLI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636008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50976" y="4800600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" y="4873752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00600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Environnements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 formation</a:t>
            </a:r>
          </a:p>
        </p:txBody>
      </p:sp>
      <p:sp>
        <p:nvSpPr>
          <p:cNvPr id="26" name="Oval 25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9600" y="2724911"/>
            <a:ext cx="475488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796527" y="2724911"/>
            <a:ext cx="475488" cy="1078992"/>
          </a:xfrm>
          <a:prstGeom prst="roundRect">
            <a:avLst/>
          </a:prstGeom>
          <a:solidFill>
            <a:srgbClr val="0F766E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363456" y="2724911"/>
            <a:ext cx="475488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156448" y="4096511"/>
            <a:ext cx="1920240" cy="24688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94944" y="6236208"/>
            <a:ext cx="1914956" cy="320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2.2 Conteneurisation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17/90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17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Avantages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clés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Conteneurisation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Portabilité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Reproductibilité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Déploiements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plus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prévisibles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49808" y="4636008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50976" y="4800600"/>
            <a:ext cx="283464" cy="283464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" y="4873752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00600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Meilleure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isolation</a:t>
            </a:r>
          </a:p>
        </p:txBody>
      </p:sp>
      <p:sp>
        <p:nvSpPr>
          <p:cNvPr id="26" name="Oval 25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9600" y="2724911"/>
            <a:ext cx="475488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796527" y="2724911"/>
            <a:ext cx="475488" cy="1078992"/>
          </a:xfrm>
          <a:prstGeom prst="roundRect">
            <a:avLst/>
          </a:prstGeom>
          <a:solidFill>
            <a:srgbClr val="0F766E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363456" y="2724911"/>
            <a:ext cx="475488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156448" y="4096511"/>
            <a:ext cx="1920240" cy="24688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94944" y="6236208"/>
            <a:ext cx="2034641" cy="320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2.3 Installation de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548640"/>
            <a:ext cx="5669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latin typeface="Aptos"/>
              </a:rPr>
              <a:t>18/90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18</a:t>
            </a:r>
          </a:p>
        </p:txBody>
      </p:sp>
      <p:sp>
        <p:nvSpPr>
          <p:cNvPr id="6" name="Oval 5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987552"/>
            <a:ext cx="731520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9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011680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latin typeface="Aptos"/>
              </a:rPr>
              <a:t>Installation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450592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50976" y="2615184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0976" y="2688336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15184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Moteur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principal de Docker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246120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950976" y="3410712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0976" y="3483864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10712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Gère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images,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et réseaux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41648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950976" y="4206240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0976" y="4279392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06240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Expose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API et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CLI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001768"/>
            <a:ext cx="4389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latin typeface="Aptos"/>
              </a:rPr>
              <a:t>Cours Docker • débutant à intermédiaire</a:t>
            </a:r>
          </a:p>
        </p:txBody>
      </p:sp>
      <p:sp>
        <p:nvSpPr>
          <p:cNvPr id="22" name="Oval 21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47888" y="2724911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549640" y="3118103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51392" y="3511295"/>
            <a:ext cx="141732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2154326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2.3 Installation de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19/90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19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Desktop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Application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graphique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pour poste de travail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Inclut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Docker Engine et Compose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Pratique sur Windows et macOS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47888" y="2724911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49640" y="3118103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851392" y="3511295"/>
            <a:ext cx="141732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4944" y="6236208"/>
            <a:ext cx="2274011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2.3 Installation de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20/90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20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Installation Linux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Installer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depuis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dépôt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officiel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Activer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service Docker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Ajouter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l’utilisateur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au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groupe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si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besoin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47888" y="2724911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49640" y="3118103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851392" y="3511295"/>
            <a:ext cx="141732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4944" y="6236208"/>
            <a:ext cx="2393696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2.3 Installation de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21/90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21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Installation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Installer Docker Desktop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Activer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WSL 2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si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demandé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Redémarrer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puis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tester la CLI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47888" y="2724911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49640" y="3118103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851392" y="3511295"/>
            <a:ext cx="141732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4944" y="6236208"/>
            <a:ext cx="25133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2.3 Installation de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22/90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22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Installation macOS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Installer Docker Desktop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Choisir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la version Intel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ou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Apple Silicon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Lancer Docker avant la CLI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47888" y="2724911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49640" y="3118103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851392" y="3511295"/>
            <a:ext cx="141732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4944" y="6236208"/>
            <a:ext cx="2633065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13452" y="402336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2.3 Installation de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23/90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23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Vérification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de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l’installation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Contrôler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que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service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répond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Lancer un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Valider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les droits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utilisateur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47888" y="2724911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49640" y="3118103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851392" y="3511295"/>
            <a:ext cx="141732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4944" y="6236208"/>
            <a:ext cx="275275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2.3 Installation de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24/90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24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Commande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docker --version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Installation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Affiche la version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installée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Confirme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que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la CLI est disponible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Premier test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rapide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après installation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2563EB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--version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2872435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chemeClr val="tx1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548640"/>
            <a:ext cx="5669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latin typeface="Aptos"/>
              </a:rPr>
              <a:t>25/90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25</a:t>
            </a:r>
          </a:p>
        </p:txBody>
      </p:sp>
      <p:sp>
        <p:nvSpPr>
          <p:cNvPr id="6" name="Oval 5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987552"/>
            <a:ext cx="731520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9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pull </a:t>
            </a:r>
            <a:r>
              <a:rPr sz="39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télécharge</a:t>
            </a:r>
            <a:r>
              <a:rPr sz="39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</a:t>
            </a:r>
            <a:r>
              <a:rPr sz="39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une</a:t>
            </a:r>
            <a:r>
              <a:rPr sz="39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011680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latin typeface="Aptos"/>
              </a:rPr>
              <a:t>Commandes de 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450592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50976" y="2615184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0976" y="2688336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15184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Récupère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image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depuis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un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registre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9808" y="3246120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950976" y="3410712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0976" y="3483864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10712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Prépare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un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futur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lancement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9808" y="4041648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950976" y="4206240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0976" y="4279392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06240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Utilise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Docker Hub par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défaut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9808" y="5001768"/>
            <a:ext cx="4389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latin typeface="Aptos"/>
              </a:rPr>
              <a:t>Cours Docker • débutant à intermédiaire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451592" y="2057400"/>
            <a:ext cx="566928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dirty="0">
                <a:solidFill>
                  <a:schemeClr val="bg1"/>
                </a:solidFill>
                <a:latin typeface="Aptos"/>
              </a:rPr>
              <a:t>terminal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2904" y="2834640"/>
            <a:ext cx="2286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dirty="0">
                <a:solidFill>
                  <a:schemeClr val="bg1"/>
                </a:solidFill>
                <a:latin typeface="Consolas"/>
              </a:rPr>
              <a:t>$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088" y="2834640"/>
            <a:ext cx="353872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chemeClr val="bg1"/>
                </a:solidFill>
                <a:latin typeface="Consolas"/>
              </a:rPr>
              <a:t>docker pull nginx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2904" y="4114800"/>
            <a:ext cx="3200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Une </a:t>
            </a:r>
            <a:r>
              <a:rPr sz="1000" b="1" dirty="0" err="1">
                <a:solidFill>
                  <a:schemeClr val="bg1"/>
                </a:solidFill>
                <a:latin typeface="Aptos"/>
              </a:rPr>
              <a:t>seule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Aptos"/>
              </a:rPr>
              <a:t>commande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à </a:t>
            </a:r>
            <a:r>
              <a:rPr sz="1000" b="1" dirty="0" err="1">
                <a:solidFill>
                  <a:schemeClr val="bg1"/>
                </a:solidFill>
                <a:latin typeface="Aptos"/>
              </a:rPr>
              <a:t>retenir</a:t>
            </a:r>
            <a:endParaRPr sz="10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2992120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26/90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26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run lance un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conteneur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Commandes de 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Crée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un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depuis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image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Démarre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processus principal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Télécharge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l’image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si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elle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manque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run nginx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3111804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27/90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27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run -it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ouvre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un mode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interactif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Commandes de 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Connecte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terminal au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Utile pour explorer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ou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déboguer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Souvent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utilisé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avec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image Linux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run -it ubuntu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3231489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28/90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28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run -p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publie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un 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Commandes de 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Relie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un port local au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Rend un service accessible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Format courant :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hôte:conteneur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run -p 8080:80 nginx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3351174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29/90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29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run -d lance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en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arrière-plan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Commandes de 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Détache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du terminal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Retourne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un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identifiant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Pratique pour les services longs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run -d nginx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3470859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30/90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30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run -v monte un stockage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Commandes de 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Connecte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un volume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ou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un dossier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Conserve les données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importantes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Sépare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données et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Consolas"/>
              </a:rPr>
              <a:t>docker run -v data:/app/data nginx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3590543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31/90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31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ps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liste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les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conteneurs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actifs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Commandes de 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Affiche les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en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cours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Montre ports, noms et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statuts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Très utile pour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diagnostiquer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3710228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32/90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32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ps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-a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liste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tout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l’historique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Commandes de 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Inclut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arrêtés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Aide à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comprendre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échecs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Permet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retrouver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un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ancien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ps -a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3829913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33/90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33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inspect affiche les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détails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Commandes de 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Retourne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la configuration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complète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Montre réseau, volumes et variables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Sortie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détaillée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en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inspect &lt;conteneur&gt;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3949598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34/90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34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logs lit la sortie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Commandes de 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Affiche les logs du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11810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Aide au diagnostic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rapide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Suit la sortie de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l’application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logs &lt;conteneur&gt;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4069283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35/90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35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exec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exécute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dans un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conteneur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Commandes de 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Lance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commande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dans un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actif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Utile pour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vérifier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l’état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interne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À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utiliser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avec prudence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en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exec -it &lt;conteneur&gt; 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4188967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36/90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36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stop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arrête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proprement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Commandes de 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Demande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l’arrêt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du processus principal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Laisse le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exister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Évite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tuer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brutalement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stop &lt;conteneur&gt;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4308652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37/90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37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rm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supprime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un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conteneur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Commandes de 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Supprime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un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arrêté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Libère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l’espace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et de la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liste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Ne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supprime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pas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l’image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utilisée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rm &lt;conteneur&gt;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4428337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2.4 Commandes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38/90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38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images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liste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les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Commandes de 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Affiche les images locales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Montre tags,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tailles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et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identifiants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Aide à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nettoyer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poste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images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4548022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2.4 </a:t>
            </a:r>
            <a:r>
              <a:rPr sz="900" b="1" dirty="0" err="1">
                <a:solidFill>
                  <a:schemeClr val="bg1"/>
                </a:solidFill>
                <a:latin typeface="Aptos"/>
              </a:rPr>
              <a:t>Commandes</a:t>
            </a:r>
            <a:r>
              <a:rPr sz="900" b="1" dirty="0">
                <a:solidFill>
                  <a:schemeClr val="bg1"/>
                </a:solidFill>
                <a:latin typeface="Aptos"/>
              </a:rPr>
              <a:t> Docker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chemeClr val="tx2">
                    <a:lumMod val="75000"/>
                  </a:schemeClr>
                </a:solidFill>
                <a:latin typeface="Aptos"/>
              </a:rPr>
              <a:t>39/90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39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rmi supprime une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2">
                    <a:lumMod val="75000"/>
                  </a:schemeClr>
                </a:solidFill>
                <a:latin typeface="Aptos"/>
              </a:rPr>
              <a:t>Commandes de 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tx2">
                    <a:lumMod val="75000"/>
                  </a:schemeClr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Supprime une image locale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tx2">
                    <a:lumMod val="75000"/>
                  </a:schemeClr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Possible si aucun conteneur ne l’utilise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tx2">
                    <a:lumMod val="75000"/>
                  </a:schemeClr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Libère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l’espace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disque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chemeClr val="tx2">
                    <a:lumMod val="75000"/>
                  </a:schemeClr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903720" y="1875413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dirty="0">
                <a:solidFill>
                  <a:schemeClr val="bg1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dirty="0">
                <a:solidFill>
                  <a:schemeClr val="bg1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chemeClr val="bg1"/>
                </a:solidFill>
                <a:latin typeface="Consolas"/>
              </a:rPr>
              <a:t>docker </a:t>
            </a:r>
            <a:r>
              <a:rPr sz="2000" b="0" dirty="0" err="1">
                <a:solidFill>
                  <a:schemeClr val="bg1"/>
                </a:solidFill>
                <a:latin typeface="Consolas"/>
              </a:rPr>
              <a:t>rmi</a:t>
            </a:r>
            <a:r>
              <a:rPr sz="2000" b="0" dirty="0">
                <a:solidFill>
                  <a:schemeClr val="bg1"/>
                </a:solidFill>
                <a:latin typeface="Consolas"/>
              </a:rPr>
              <a:t> &lt;image&gt;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Une </a:t>
            </a:r>
            <a:r>
              <a:rPr sz="1000" b="1" dirty="0" err="1">
                <a:solidFill>
                  <a:schemeClr val="bg1"/>
                </a:solidFill>
                <a:latin typeface="Aptos"/>
              </a:rPr>
              <a:t>seule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Aptos"/>
              </a:rPr>
              <a:t>commande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à </a:t>
            </a:r>
            <a:r>
              <a:rPr sz="1000" b="1" dirty="0" err="1">
                <a:solidFill>
                  <a:schemeClr val="bg1"/>
                </a:solidFill>
                <a:latin typeface="Aptos"/>
              </a:rPr>
              <a:t>retenir</a:t>
            </a:r>
            <a:endParaRPr sz="10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4667707" cy="320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2.5 Réseaux sur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548640"/>
            <a:ext cx="5669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chemeClr val="tx2">
                    <a:lumMod val="75000"/>
                  </a:schemeClr>
                </a:solidFill>
                <a:latin typeface="Aptos"/>
              </a:rPr>
              <a:t>40/90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40</a:t>
            </a:r>
          </a:p>
        </p:txBody>
      </p:sp>
      <p:sp>
        <p:nvSpPr>
          <p:cNvPr id="6" name="Oval 5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987552"/>
            <a:ext cx="731520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9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Réseau par </a:t>
            </a:r>
            <a:r>
              <a:rPr sz="39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défaut</a:t>
            </a:r>
            <a:endParaRPr sz="39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2011680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2">
                    <a:lumMod val="75000"/>
                  </a:schemeClr>
                </a:solidFill>
                <a:latin typeface="Aptos"/>
              </a:rPr>
              <a:t>Réseaux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450592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50976" y="2615184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0976" y="2688336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tx2">
                    <a:lumMod val="75000"/>
                  </a:schemeClr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15184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Docker crée un réseau automatiquement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246120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950976" y="3410712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0976" y="3483864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tx2">
                    <a:lumMod val="75000"/>
                  </a:schemeClr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10712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Les conteneurs peuvent sortir vers Internet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41648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950976" y="4206240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0976" y="4279392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tx2">
                    <a:lumMod val="75000"/>
                  </a:schemeClr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06240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La configuration suffit pour les tests simples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001768"/>
            <a:ext cx="4389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chemeClr val="tx2">
                    <a:lumMod val="75000"/>
                  </a:schemeClr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2" name="Oval 21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23" name="Connector 22"/>
          <p:cNvCxnSpPr/>
          <p:nvPr/>
        </p:nvCxnSpPr>
        <p:spPr>
          <a:xfrm flipH="1">
            <a:off x="8366760" y="2569463"/>
            <a:ext cx="749808" cy="841248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116568" y="2569463"/>
            <a:ext cx="749808" cy="841248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66760" y="3410711"/>
            <a:ext cx="749808" cy="77724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9116568" y="3410711"/>
            <a:ext cx="749808" cy="77724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366760" y="3410711"/>
            <a:ext cx="1499616" cy="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961120" y="2414015"/>
            <a:ext cx="310896" cy="3108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8211312" y="325526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9710928" y="325526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8961120" y="403250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94944" y="6236208"/>
            <a:ext cx="4787392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2.5 Réseaux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41/90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41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Driver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Réseaux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Réseau local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isolé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sur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l’hôte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Mode par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défaut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plus courant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Idéal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pour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relier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plusieurs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H="1">
            <a:off x="8366760" y="2569463"/>
            <a:ext cx="749808" cy="841248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16568" y="2569463"/>
            <a:ext cx="749808" cy="841248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3410711"/>
            <a:ext cx="749808" cy="77724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116568" y="3410711"/>
            <a:ext cx="749808" cy="77724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366760" y="3410711"/>
            <a:ext cx="1499616" cy="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961120" y="2414015"/>
            <a:ext cx="310896" cy="3108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11312" y="325526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710928" y="325526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961120" y="403250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4907076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2.5 Réseaux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42/90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42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Driver 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Réseaux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partage le réseau de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l’hôte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Moins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d’isolation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réseau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Utile pour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certains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besoins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H="1">
            <a:off x="8366760" y="2569463"/>
            <a:ext cx="749808" cy="841248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16568" y="2569463"/>
            <a:ext cx="749808" cy="841248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3410711"/>
            <a:ext cx="749808" cy="77724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116568" y="3410711"/>
            <a:ext cx="749808" cy="77724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366760" y="3410711"/>
            <a:ext cx="1499616" cy="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961120" y="2414015"/>
            <a:ext cx="310896" cy="3108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11312" y="325526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710928" y="325526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961120" y="403250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5026761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2.5 Réseaux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43/90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43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Autres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Réseaux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overlay pour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plusieurs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hôtes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macvlan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pour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IP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dédiée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none pour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couper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réseau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H="1">
            <a:off x="8366760" y="2569463"/>
            <a:ext cx="749808" cy="841248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16568" y="2569463"/>
            <a:ext cx="749808" cy="841248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3410711"/>
            <a:ext cx="749808" cy="77724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116568" y="3410711"/>
            <a:ext cx="749808" cy="77724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366760" y="3410711"/>
            <a:ext cx="1499616" cy="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961120" y="2414015"/>
            <a:ext cx="310896" cy="3108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11312" y="325526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710928" y="325526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961120" y="403250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5146446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2.5 Réseaux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44/90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44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Réseau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personnalisé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Réseaux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Nommer son réseau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Mieux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isoler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les applications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Faciliter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la communication par nom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H="1">
            <a:off x="8366760" y="2569463"/>
            <a:ext cx="749808" cy="841248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16568" y="2569463"/>
            <a:ext cx="749808" cy="841248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3410711"/>
            <a:ext cx="749808" cy="77724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116568" y="3410711"/>
            <a:ext cx="749808" cy="77724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366760" y="3410711"/>
            <a:ext cx="1499616" cy="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961120" y="2414015"/>
            <a:ext cx="310896" cy="3108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11312" y="325526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710928" y="325526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961120" y="403250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5266131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2.5 Réseaux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45/90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45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Communication entre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conteneurs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Réseaux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Les services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partagent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un réseau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Ils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s’appellent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par nom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Les ports internes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restent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simples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H="1">
            <a:off x="8366760" y="2569463"/>
            <a:ext cx="749808" cy="841248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16568" y="2569463"/>
            <a:ext cx="749808" cy="841248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3410711"/>
            <a:ext cx="749808" cy="77724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116568" y="3410711"/>
            <a:ext cx="749808" cy="77724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366760" y="3410711"/>
            <a:ext cx="1499616" cy="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961120" y="2414015"/>
            <a:ext cx="310896" cy="3108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11312" y="325526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710928" y="325526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961120" y="403250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5385816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2.5 Réseaux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46/90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46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DNS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intégré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Réseaux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Docker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résout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les noms de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Pas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besoin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d’IP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fixes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Les noms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restent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plus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lisibles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H="1">
            <a:off x="8366760" y="2569463"/>
            <a:ext cx="749808" cy="841248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16568" y="2569463"/>
            <a:ext cx="749808" cy="841248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3410711"/>
            <a:ext cx="749808" cy="77724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116568" y="3410711"/>
            <a:ext cx="749808" cy="77724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366760" y="3410711"/>
            <a:ext cx="1499616" cy="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961120" y="2414015"/>
            <a:ext cx="310896" cy="3108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11312" y="325526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710928" y="325526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961120" y="403250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5505500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2.5 Réseaux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47/90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47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Cas pratiques réseau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Réseaux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API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reliée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à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base de données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Proxy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devant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plusieurs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Environnement de test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isolé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H="1">
            <a:off x="8366760" y="2569463"/>
            <a:ext cx="749808" cy="841248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16568" y="2569463"/>
            <a:ext cx="749808" cy="841248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3410711"/>
            <a:ext cx="749808" cy="77724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116568" y="3410711"/>
            <a:ext cx="749808" cy="77724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366760" y="3410711"/>
            <a:ext cx="1499616" cy="0"/>
          </a:xfrm>
          <a:prstGeom prst="line">
            <a:avLst/>
          </a:prstGeom>
          <a:ln w="1778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961120" y="2414015"/>
            <a:ext cx="310896" cy="3108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11312" y="325526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710928" y="325526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961120" y="403250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5625185" cy="320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2.6 Images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548640"/>
            <a:ext cx="5669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chemeClr val="tx2">
                    <a:lumMod val="75000"/>
                  </a:schemeClr>
                </a:solidFill>
                <a:latin typeface="Aptos"/>
              </a:rPr>
              <a:t>48/90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48</a:t>
            </a:r>
          </a:p>
        </p:txBody>
      </p:sp>
      <p:sp>
        <p:nvSpPr>
          <p:cNvPr id="6" name="Oval 5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987552"/>
            <a:ext cx="731520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900" b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Qu’est-ce qu’une image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011680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2">
                    <a:lumMod val="75000"/>
                  </a:schemeClr>
                </a:solidFill>
                <a:latin typeface="Aptos"/>
              </a:rPr>
              <a:t>Images 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450592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50976" y="2615184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0976" y="2688336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15184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Modèle immuable d’un conteneur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246120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950976" y="3410712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0976" y="3483864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10712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Contient application et dépendances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41648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950976" y="4206240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0976" y="4279392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06240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Se partage via un registre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001768"/>
            <a:ext cx="4389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chemeClr val="tx2">
                    <a:lumMod val="75000"/>
                  </a:schemeClr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2" name="Oval 21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302752" y="2642615"/>
            <a:ext cx="155448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385048" y="2953511"/>
            <a:ext cx="1508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467344" y="3264407"/>
            <a:ext cx="146303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549640" y="3575303"/>
            <a:ext cx="141731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631936" y="3886199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94944" y="6236208"/>
            <a:ext cx="5744870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49/90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49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Structure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en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couches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Images 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rgbClr val="111827"/>
                </a:solidFill>
                <a:latin typeface="Aptos"/>
              </a:rPr>
              <a:t>Chaque</a:t>
            </a:r>
            <a:r>
              <a:rPr sz="1800" b="0" dirty="0">
                <a:solidFill>
                  <a:srgbClr val="111827"/>
                </a:solidFill>
                <a:latin typeface="Aptos"/>
              </a:rPr>
              <a:t> étape </a:t>
            </a:r>
            <a:r>
              <a:rPr sz="1800" b="0" dirty="0" err="1">
                <a:solidFill>
                  <a:srgbClr val="111827"/>
                </a:solidFill>
                <a:latin typeface="Aptos"/>
              </a:rPr>
              <a:t>ajoute</a:t>
            </a:r>
            <a:r>
              <a:rPr sz="1800" b="0" dirty="0">
                <a:solidFill>
                  <a:srgbClr val="111827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Aptos"/>
              </a:rPr>
              <a:t>une</a:t>
            </a:r>
            <a:r>
              <a:rPr sz="1800" b="0" dirty="0">
                <a:solidFill>
                  <a:srgbClr val="111827"/>
                </a:solidFill>
                <a:latin typeface="Aptos"/>
              </a:rPr>
              <a:t> couche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Les couches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sont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mises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en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cache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Les couches communes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sont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réutilisées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02752" y="2642615"/>
            <a:ext cx="155448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85048" y="2953511"/>
            <a:ext cx="1508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67344" y="3264407"/>
            <a:ext cx="146303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549640" y="3575303"/>
            <a:ext cx="141731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31936" y="3886199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4944" y="6236208"/>
            <a:ext cx="5864555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50/90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50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Dockerfile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Images 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Fichier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texte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 construction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Décrit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l’image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étape par étape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Rend la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création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reproductible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02752" y="2642615"/>
            <a:ext cx="155448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85048" y="2953511"/>
            <a:ext cx="1508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67344" y="3264407"/>
            <a:ext cx="146303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549640" y="3575303"/>
            <a:ext cx="141731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31936" y="3886199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4944" y="6236208"/>
            <a:ext cx="5984240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51/90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51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Instructions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Dockerfile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essentielles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Images 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FROM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choisit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l’image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 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RUN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exécute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étape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COPY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ajoute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fichiers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49808" y="4636008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50976" y="4800600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" y="4873752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00600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CMD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définit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démarrage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02752" y="2642615"/>
            <a:ext cx="155448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385048" y="2953511"/>
            <a:ext cx="1508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67344" y="3264407"/>
            <a:ext cx="146303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549640" y="3575303"/>
            <a:ext cx="141731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31936" y="3886199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4944" y="6236208"/>
            <a:ext cx="6103924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52/90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52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Processus de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Images 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Docker lit le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Dockerfile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Construit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les couches dans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l’ordre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Produit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image locale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02752" y="2642615"/>
            <a:ext cx="155448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85048" y="2953511"/>
            <a:ext cx="1508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67344" y="3264407"/>
            <a:ext cx="146303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549640" y="3575303"/>
            <a:ext cx="141731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31936" y="3886199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4944" y="6236208"/>
            <a:ext cx="6223609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53/90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53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Images 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Moteur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 construction des images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Utilise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cache pour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accélérer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Supporte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des builds plus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avancés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02752" y="2642615"/>
            <a:ext cx="155448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85048" y="2953511"/>
            <a:ext cx="1508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67344" y="3264407"/>
            <a:ext cx="146303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549640" y="3575303"/>
            <a:ext cx="141731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31936" y="3886199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4944" y="6236208"/>
            <a:ext cx="6343294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54/90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54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Multi-stage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Images 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Sépare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compilation et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exécution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Copie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seulement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résultat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utile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Réduit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fortement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la taille finale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02752" y="2642615"/>
            <a:ext cx="155448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85048" y="2953511"/>
            <a:ext cx="1508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67344" y="3264407"/>
            <a:ext cx="146303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549640" y="3575303"/>
            <a:ext cx="141731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31936" y="3886199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4944" y="6236208"/>
            <a:ext cx="6462979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55/90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55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Optimisation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des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Images 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Choisir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base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adaptée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Réduire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fichiers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inutiles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Regrouper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les étapes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cohérentes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02752" y="2642615"/>
            <a:ext cx="155448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85048" y="2953511"/>
            <a:ext cx="1508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67344" y="3264407"/>
            <a:ext cx="146303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549640" y="3575303"/>
            <a:ext cx="141731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31936" y="3886199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4944" y="6236208"/>
            <a:ext cx="6582664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56/90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56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Taguer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une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Images 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Donne un nom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lisible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à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l’image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Ajoute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version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claire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Facilite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push, pull et rollback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02752" y="2642615"/>
            <a:ext cx="155448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85048" y="2953511"/>
            <a:ext cx="1508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67344" y="3264407"/>
            <a:ext cx="146303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549640" y="3575303"/>
            <a:ext cx="141731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31936" y="3886199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4944" y="6236208"/>
            <a:ext cx="6702348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2.6 Images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57/90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57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Bonnes pratiques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Images 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Éviter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les secrets dans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l’image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Utiliser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des tags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explicites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Scanner les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vulnérabilités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49808" y="4636008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50976" y="4800600"/>
            <a:ext cx="283464" cy="2834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" y="4873752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00600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Documenter le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démarrage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02752" y="2642615"/>
            <a:ext cx="155448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385048" y="2953511"/>
            <a:ext cx="15087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67344" y="3264407"/>
            <a:ext cx="146303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549640" y="3575303"/>
            <a:ext cx="1417319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31936" y="3886199"/>
            <a:ext cx="137160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4944" y="6236208"/>
            <a:ext cx="6822033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2.7 Docker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548640"/>
            <a:ext cx="5669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chemeClr val="tx2">
                    <a:lumMod val="75000"/>
                  </a:schemeClr>
                </a:solidFill>
                <a:latin typeface="Aptos"/>
              </a:rPr>
              <a:t>58/90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58</a:t>
            </a:r>
          </a:p>
        </p:txBody>
      </p:sp>
      <p:sp>
        <p:nvSpPr>
          <p:cNvPr id="6" name="Oval 5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987552"/>
            <a:ext cx="731520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9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Qu’est-ce</a:t>
            </a:r>
            <a:r>
              <a:rPr sz="39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</a:t>
            </a:r>
            <a:r>
              <a:rPr sz="39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que</a:t>
            </a:r>
            <a:r>
              <a:rPr sz="39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Docker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011680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2">
                    <a:lumMod val="75000"/>
                  </a:schemeClr>
                </a:solidFill>
                <a:latin typeface="Aptos"/>
              </a:rPr>
              <a:t>Docker Hub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450592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50976" y="2615184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0976" y="2688336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chemeClr val="bg1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15184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Plateforme de partage d’images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246120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950976" y="3410712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0976" y="3483864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10712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Permet de publier et télécharger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41648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950976" y="4206240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0976" y="4279392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06240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Très utilisée par la communauté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001768"/>
            <a:ext cx="4389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chemeClr val="tx2">
                    <a:lumMod val="75000"/>
                  </a:schemeClr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2" name="Oval 21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3" name="Cloud 22"/>
          <p:cNvSpPr/>
          <p:nvPr/>
        </p:nvSpPr>
        <p:spPr>
          <a:xfrm>
            <a:off x="8247888" y="2587751"/>
            <a:ext cx="1737360" cy="1042415"/>
          </a:xfrm>
          <a:prstGeom prst="cloud">
            <a:avLst/>
          </a:prstGeom>
          <a:solidFill>
            <a:srgbClr val="FFFFFF"/>
          </a:solidFill>
          <a:ln w="1524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" name="Up Arrow 23"/>
          <p:cNvSpPr/>
          <p:nvPr/>
        </p:nvSpPr>
        <p:spPr>
          <a:xfrm>
            <a:off x="9171432" y="3730750"/>
            <a:ext cx="438912" cy="566928"/>
          </a:xfrm>
          <a:prstGeom prst="upArrow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Down Arrow 24"/>
          <p:cNvSpPr/>
          <p:nvPr/>
        </p:nvSpPr>
        <p:spPr>
          <a:xfrm>
            <a:off x="8586216" y="3730750"/>
            <a:ext cx="438912" cy="566928"/>
          </a:xfrm>
          <a:prstGeom prst="downArrow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6941718" cy="320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2.7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59/90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59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Registre public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Docker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Images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accessibles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depuis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Internet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Pratique pour les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projets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ouverts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À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éviter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pour les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contenus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sensibles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loud 23"/>
          <p:cNvSpPr/>
          <p:nvPr/>
        </p:nvSpPr>
        <p:spPr>
          <a:xfrm>
            <a:off x="8247888" y="2587751"/>
            <a:ext cx="1737360" cy="1042415"/>
          </a:xfrm>
          <a:prstGeom prst="cloud">
            <a:avLst/>
          </a:prstGeom>
          <a:solidFill>
            <a:srgbClr val="FFFFFF"/>
          </a:solidFill>
          <a:ln w="1524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Up Arrow 24"/>
          <p:cNvSpPr/>
          <p:nvPr/>
        </p:nvSpPr>
        <p:spPr>
          <a:xfrm>
            <a:off x="9171432" y="3730750"/>
            <a:ext cx="438912" cy="566928"/>
          </a:xfrm>
          <a:prstGeom prst="upArrow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own Arrow 25"/>
          <p:cNvSpPr/>
          <p:nvPr/>
        </p:nvSpPr>
        <p:spPr>
          <a:xfrm>
            <a:off x="8586216" y="3730750"/>
            <a:ext cx="438912" cy="566928"/>
          </a:xfrm>
          <a:prstGeom prst="downArrow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4944" y="6236208"/>
            <a:ext cx="7061403" cy="320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2.7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60/90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60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Créer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un compte Docker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Docker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Compte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nécessaire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pour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publier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Identifiant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utilisé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dans les noms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d’images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Accès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aux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dépôts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personnels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loud 23"/>
          <p:cNvSpPr/>
          <p:nvPr/>
        </p:nvSpPr>
        <p:spPr>
          <a:xfrm>
            <a:off x="8247888" y="2587751"/>
            <a:ext cx="1737360" cy="1042415"/>
          </a:xfrm>
          <a:prstGeom prst="cloud">
            <a:avLst/>
          </a:prstGeom>
          <a:solidFill>
            <a:srgbClr val="FFFFFF"/>
          </a:solidFill>
          <a:ln w="1524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Up Arrow 24"/>
          <p:cNvSpPr/>
          <p:nvPr/>
        </p:nvSpPr>
        <p:spPr>
          <a:xfrm>
            <a:off x="9171432" y="3730750"/>
            <a:ext cx="438912" cy="566928"/>
          </a:xfrm>
          <a:prstGeom prst="upArrow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own Arrow 25"/>
          <p:cNvSpPr/>
          <p:nvPr/>
        </p:nvSpPr>
        <p:spPr>
          <a:xfrm>
            <a:off x="8586216" y="3730750"/>
            <a:ext cx="438912" cy="566928"/>
          </a:xfrm>
          <a:prstGeom prst="downArrow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4944" y="6236208"/>
            <a:ext cx="7181087" cy="320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2.7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61/90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61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Créer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un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dépôt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Docker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Un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dépôt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regroupe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les tags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d’une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image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Nom stable pour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l’équipe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Visibilité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publique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ou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privée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selon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besoin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loud 23"/>
          <p:cNvSpPr/>
          <p:nvPr/>
        </p:nvSpPr>
        <p:spPr>
          <a:xfrm>
            <a:off x="8247888" y="2587751"/>
            <a:ext cx="1737360" cy="1042415"/>
          </a:xfrm>
          <a:prstGeom prst="cloud">
            <a:avLst/>
          </a:prstGeom>
          <a:solidFill>
            <a:srgbClr val="FFFFFF"/>
          </a:solidFill>
          <a:ln w="1524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Up Arrow 24"/>
          <p:cNvSpPr/>
          <p:nvPr/>
        </p:nvSpPr>
        <p:spPr>
          <a:xfrm>
            <a:off x="9171432" y="3730750"/>
            <a:ext cx="438912" cy="566928"/>
          </a:xfrm>
          <a:prstGeom prst="upArrow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own Arrow 25"/>
          <p:cNvSpPr/>
          <p:nvPr/>
        </p:nvSpPr>
        <p:spPr>
          <a:xfrm>
            <a:off x="8586216" y="3730750"/>
            <a:ext cx="438912" cy="566928"/>
          </a:xfrm>
          <a:prstGeom prst="downArrow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4944" y="6236208"/>
            <a:ext cx="7300772" cy="320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2.7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62/90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62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login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authentifie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la 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Docker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Connecte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terminal au compte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Autorise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push et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accès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privé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À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protéger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sur les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postes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partagés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5803D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login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7420457" cy="320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2.7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63/90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63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push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publie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une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Docker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Envoie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l’image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vers le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registre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Nécessite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un tag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complet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Rend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l’image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disponible à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l’équipe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5803D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push user/app:1.0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7540142" cy="320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2.7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64/90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64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pull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depuis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Docker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Docker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Télécharge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image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publiée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Utilise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tag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demandé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Permet un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déploiement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reproductible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5803D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pull nginx:latest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7659827" cy="320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2.7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65/90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65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Images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officielles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Docker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Maintenues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par des sources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reconnues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Bon point de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départ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Lire la documentation avant usage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loud 23"/>
          <p:cNvSpPr/>
          <p:nvPr/>
        </p:nvSpPr>
        <p:spPr>
          <a:xfrm>
            <a:off x="8247888" y="2587751"/>
            <a:ext cx="1737360" cy="1042415"/>
          </a:xfrm>
          <a:prstGeom prst="cloud">
            <a:avLst/>
          </a:prstGeom>
          <a:solidFill>
            <a:srgbClr val="FFFFFF"/>
          </a:solidFill>
          <a:ln w="1524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Up Arrow 24"/>
          <p:cNvSpPr/>
          <p:nvPr/>
        </p:nvSpPr>
        <p:spPr>
          <a:xfrm>
            <a:off x="9171432" y="3730750"/>
            <a:ext cx="438912" cy="566928"/>
          </a:xfrm>
          <a:prstGeom prst="upArrow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own Arrow 25"/>
          <p:cNvSpPr/>
          <p:nvPr/>
        </p:nvSpPr>
        <p:spPr>
          <a:xfrm>
            <a:off x="8586216" y="3730750"/>
            <a:ext cx="438912" cy="566928"/>
          </a:xfrm>
          <a:prstGeom prst="downArrow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4944" y="6236208"/>
            <a:ext cx="7779511" cy="320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2.7 Docker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66/90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66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Bonnes pratiques de publication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Docker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Publier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des tags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versionnés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Ne jamais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pousser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 secrets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Ajouter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une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description utile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636008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50976" y="4800600"/>
            <a:ext cx="283464" cy="28346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" y="4873752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00600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Scanner avant diffusion</a:t>
            </a:r>
          </a:p>
        </p:txBody>
      </p:sp>
      <p:sp>
        <p:nvSpPr>
          <p:cNvPr id="26" name="Oval 25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loud 26"/>
          <p:cNvSpPr/>
          <p:nvPr/>
        </p:nvSpPr>
        <p:spPr>
          <a:xfrm>
            <a:off x="8247888" y="2587751"/>
            <a:ext cx="1737360" cy="1042415"/>
          </a:xfrm>
          <a:prstGeom prst="cloud">
            <a:avLst/>
          </a:prstGeom>
          <a:solidFill>
            <a:srgbClr val="FFFFFF"/>
          </a:solidFill>
          <a:ln w="1524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Up Arrow 27"/>
          <p:cNvSpPr/>
          <p:nvPr/>
        </p:nvSpPr>
        <p:spPr>
          <a:xfrm>
            <a:off x="9171432" y="3730750"/>
            <a:ext cx="438912" cy="566928"/>
          </a:xfrm>
          <a:prstGeom prst="upArrow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Down Arrow 28"/>
          <p:cNvSpPr/>
          <p:nvPr/>
        </p:nvSpPr>
        <p:spPr>
          <a:xfrm>
            <a:off x="8586216" y="3730750"/>
            <a:ext cx="438912" cy="566928"/>
          </a:xfrm>
          <a:prstGeom prst="downArrow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4944" y="6236208"/>
            <a:ext cx="7899196" cy="320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 dirty="0">
                <a:solidFill>
                  <a:schemeClr val="tx1"/>
                </a:solidFill>
                <a:latin typeface="Aptos"/>
              </a:rPr>
              <a:t>2.8 Stockage sur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548640"/>
            <a:ext cx="5669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latin typeface="Aptos"/>
              </a:rPr>
              <a:t>67/90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67</a:t>
            </a:r>
          </a:p>
        </p:txBody>
      </p:sp>
      <p:sp>
        <p:nvSpPr>
          <p:cNvPr id="6" name="Oval 5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987552"/>
            <a:ext cx="7315200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5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Problème</a:t>
            </a:r>
            <a:r>
              <a:rPr sz="35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de la </a:t>
            </a:r>
            <a:r>
              <a:rPr sz="35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persistance</a:t>
            </a:r>
            <a:r>
              <a:rPr sz="35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des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100008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latin typeface="Aptos"/>
              </a:rPr>
              <a:t>Stockage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450592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50976" y="2615184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0976" y="2688336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15184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Un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peut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être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supprimé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9808" y="3246120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950976" y="3410712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0976" y="3483864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10712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Les données internes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peuvent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disparaître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9808" y="4041648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950976" y="4206240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0976" y="4279392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06240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Le stockage doit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être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séparé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9808" y="5001768"/>
            <a:ext cx="4389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latin typeface="Aptos"/>
              </a:rPr>
              <a:t>Cours Docker • débutant à intermédiaire</a:t>
            </a:r>
          </a:p>
        </p:txBody>
      </p:sp>
      <p:sp>
        <p:nvSpPr>
          <p:cNvPr id="22" name="Oval 21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Can 22"/>
          <p:cNvSpPr/>
          <p:nvPr/>
        </p:nvSpPr>
        <p:spPr>
          <a:xfrm>
            <a:off x="8613648" y="2606039"/>
            <a:ext cx="1051560" cy="1627632"/>
          </a:xfrm>
          <a:prstGeom prst="can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4" name="Cube 23"/>
          <p:cNvSpPr/>
          <p:nvPr/>
        </p:nvSpPr>
        <p:spPr>
          <a:xfrm>
            <a:off x="8229600" y="3182111"/>
            <a:ext cx="566928" cy="566928"/>
          </a:xfrm>
          <a:prstGeom prst="cub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94944" y="6236208"/>
            <a:ext cx="8018881" cy="320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68/90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68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Volumes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Stockage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Stockage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géré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par Docker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Indépendant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du cycle du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Bon choix pour les données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applicatives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an 23"/>
          <p:cNvSpPr/>
          <p:nvPr/>
        </p:nvSpPr>
        <p:spPr>
          <a:xfrm>
            <a:off x="8613648" y="2606039"/>
            <a:ext cx="1051560" cy="1627632"/>
          </a:xfrm>
          <a:prstGeom prst="can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ube 24"/>
          <p:cNvSpPr/>
          <p:nvPr/>
        </p:nvSpPr>
        <p:spPr>
          <a:xfrm>
            <a:off x="8229600" y="3182111"/>
            <a:ext cx="566928" cy="566928"/>
          </a:xfrm>
          <a:prstGeom prst="cub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8138566" cy="320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69/90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69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Bind mounts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Stockage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Montent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un dossier de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l’hôte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Très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utiles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en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développement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Dépendent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du chemin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an 23"/>
          <p:cNvSpPr/>
          <p:nvPr/>
        </p:nvSpPr>
        <p:spPr>
          <a:xfrm>
            <a:off x="8613648" y="2606039"/>
            <a:ext cx="1051560" cy="1627632"/>
          </a:xfrm>
          <a:prstGeom prst="can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ube 24"/>
          <p:cNvSpPr/>
          <p:nvPr/>
        </p:nvSpPr>
        <p:spPr>
          <a:xfrm>
            <a:off x="8229600" y="3182111"/>
            <a:ext cx="566928" cy="566928"/>
          </a:xfrm>
          <a:prstGeom prst="cub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8258251" cy="320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70/90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70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Différences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volume vs bind 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Stockage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Volume :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géré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par Docker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Bind mount : chemin de la machine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Choisir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selon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portabilité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et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contrôle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an 23"/>
          <p:cNvSpPr/>
          <p:nvPr/>
        </p:nvSpPr>
        <p:spPr>
          <a:xfrm>
            <a:off x="8613648" y="2606039"/>
            <a:ext cx="1051560" cy="1627632"/>
          </a:xfrm>
          <a:prstGeom prst="can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ube 24"/>
          <p:cNvSpPr/>
          <p:nvPr/>
        </p:nvSpPr>
        <p:spPr>
          <a:xfrm>
            <a:off x="8229600" y="3182111"/>
            <a:ext cx="566928" cy="566928"/>
          </a:xfrm>
          <a:prstGeom prst="cub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8377935" cy="320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71/90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71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Créer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un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Stockage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Prépare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un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espace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persistant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Nom simple à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réutiliser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Peut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être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partagé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par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plusieurs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D97706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volume create app_data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8497620" cy="320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72/90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72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Lister les volumes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Stockage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Affiche les volumes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existants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Aide à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vérifier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ressources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Utile avant un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nettoyage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D97706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volume 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8617305" cy="320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73/90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73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Utiliser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un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Stockage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Monte le volume dans le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Garde les données après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arrêt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Sépare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état et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exécution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D97706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Consolas"/>
              </a:rPr>
              <a:t>docker run -v app_data:/data nginx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8736990" cy="320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74/90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74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Inspecter un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Stockage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Affiche le point de montage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Montre le driver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utilisé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Aide à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diagnostiquer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stockage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D97706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volume inspect app_data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8856675" cy="320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75/90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75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Supprimer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un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Stockage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Efface un stockage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inutilisé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À faire avec prudence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Peut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supprimer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des données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importantes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D97706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volume rm app_data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8976360" cy="320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2.8 Stockage sur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76/90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76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Cas pratiques de stockage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Stockage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Base de données locale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Dossier de code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en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développement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Cache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partagé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entre builds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an 23"/>
          <p:cNvSpPr/>
          <p:nvPr/>
        </p:nvSpPr>
        <p:spPr>
          <a:xfrm>
            <a:off x="8613648" y="2606039"/>
            <a:ext cx="1051560" cy="1627632"/>
          </a:xfrm>
          <a:prstGeom prst="can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ube 24"/>
          <p:cNvSpPr/>
          <p:nvPr/>
        </p:nvSpPr>
        <p:spPr>
          <a:xfrm>
            <a:off x="8229600" y="3182111"/>
            <a:ext cx="566928" cy="566928"/>
          </a:xfrm>
          <a:prstGeom prst="cub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9096044" cy="320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2.9 Docker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548640"/>
            <a:ext cx="5669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chemeClr val="tx2">
                    <a:lumMod val="75000"/>
                  </a:schemeClr>
                </a:solidFill>
                <a:latin typeface="Aptos"/>
              </a:rPr>
              <a:t>77/90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77</a:t>
            </a:r>
          </a:p>
        </p:txBody>
      </p:sp>
      <p:sp>
        <p:nvSpPr>
          <p:cNvPr id="6" name="Oval 5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987552"/>
            <a:ext cx="731520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900" b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Qu’est-ce que Docker Compose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011680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2">
                    <a:lumMod val="75000"/>
                  </a:schemeClr>
                </a:solidFill>
                <a:latin typeface="Aptos"/>
              </a:rPr>
              <a:t>Docker Compose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450592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50976" y="2615184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0976" y="2688336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15184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Outil pour décrire plusieurs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246120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950976" y="3410712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0976" y="3483864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10712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Utilise un fichier YAML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41648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950976" y="4206240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0976" y="4279392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06240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Pilote l’ensemble avec une seule CLI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001768"/>
            <a:ext cx="4389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chemeClr val="tx2">
                    <a:lumMod val="75000"/>
                  </a:schemeClr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2" name="Oval 21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23" name="Connector 22"/>
          <p:cNvCxnSpPr/>
          <p:nvPr/>
        </p:nvCxnSpPr>
        <p:spPr>
          <a:xfrm flipH="1">
            <a:off x="8462772" y="2747771"/>
            <a:ext cx="658368" cy="1024128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121140" y="2747771"/>
            <a:ext cx="658368" cy="1024128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62772" y="3771899"/>
            <a:ext cx="1316736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791956" y="2528315"/>
            <a:ext cx="658368" cy="438912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133588" y="3552443"/>
            <a:ext cx="65836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450324" y="3552443"/>
            <a:ext cx="65836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94944" y="6236208"/>
            <a:ext cx="9215729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78/90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78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Pourquoi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Docker 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Docker Compose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Évite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les longues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commandes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répétées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Regroupe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configuration et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dépendances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Facilite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 travail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en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équipe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H="1">
            <a:off x="8462772" y="2747771"/>
            <a:ext cx="658368" cy="1024128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21140" y="2747771"/>
            <a:ext cx="658368" cy="1024128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462772" y="3771899"/>
            <a:ext cx="1316736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91956" y="2528315"/>
            <a:ext cx="658368" cy="438912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33588" y="3552443"/>
            <a:ext cx="65836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50324" y="3552443"/>
            <a:ext cx="65836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4944" y="6236208"/>
            <a:ext cx="9335414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79/90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79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Fichier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compose.yaml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Docker Compose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Fichier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central du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projet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Décrit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services, réseaux et volumes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Versionnable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avec le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H="1">
            <a:off x="8462772" y="2747771"/>
            <a:ext cx="658368" cy="1024128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21140" y="2747771"/>
            <a:ext cx="658368" cy="1024128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462772" y="3771899"/>
            <a:ext cx="1316736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91956" y="2528315"/>
            <a:ext cx="658368" cy="438912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33588" y="3552443"/>
            <a:ext cx="65836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50324" y="3552443"/>
            <a:ext cx="65836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4944" y="6236208"/>
            <a:ext cx="9455099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chemeClr val="tx2">
                    <a:lumMod val="75000"/>
                  </a:schemeClr>
                </a:solidFill>
                <a:latin typeface="Aptos"/>
              </a:rPr>
              <a:t>80/90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80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Structure du fichier 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2">
                    <a:lumMod val="75000"/>
                  </a:schemeClr>
                </a:solidFill>
                <a:latin typeface="Aptos"/>
              </a:rPr>
              <a:t>Docker Compose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services pour les conteneurs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chemeClr val="bg1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networks pour la communication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volumes pour les données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chemeClr val="tx2">
                    <a:lumMod val="75000"/>
                  </a:schemeClr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24" name="Connector 23"/>
          <p:cNvCxnSpPr/>
          <p:nvPr/>
        </p:nvCxnSpPr>
        <p:spPr>
          <a:xfrm flipH="1">
            <a:off x="8462772" y="2747771"/>
            <a:ext cx="658368" cy="1024128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21140" y="2747771"/>
            <a:ext cx="658368" cy="1024128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462772" y="3771899"/>
            <a:ext cx="1316736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91956" y="2528315"/>
            <a:ext cx="658368" cy="438912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133588" y="3552443"/>
            <a:ext cx="65836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450324" y="3552443"/>
            <a:ext cx="65836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94944" y="6236208"/>
            <a:ext cx="9574784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chemeClr val="tx2">
                    <a:lumMod val="75000"/>
                  </a:schemeClr>
                </a:solidFill>
                <a:latin typeface="Aptos"/>
              </a:rPr>
              <a:t>81/90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81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2">
                    <a:lumMod val="75000"/>
                  </a:schemeClr>
                </a:solidFill>
                <a:latin typeface="Aptos"/>
              </a:rPr>
              <a:t>Docker Compose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Un service décrit un type de conteneur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Peut définir image, build et 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Peut dépendre d’autres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chemeClr val="tx2">
                    <a:lumMod val="75000"/>
                  </a:schemeClr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24" name="Connector 23"/>
          <p:cNvCxnSpPr/>
          <p:nvPr/>
        </p:nvCxnSpPr>
        <p:spPr>
          <a:xfrm flipH="1">
            <a:off x="8462772" y="2747771"/>
            <a:ext cx="658368" cy="1024128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21140" y="2747771"/>
            <a:ext cx="658368" cy="1024128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462772" y="3771899"/>
            <a:ext cx="1316736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91956" y="2528315"/>
            <a:ext cx="658368" cy="438912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133588" y="3552443"/>
            <a:ext cx="65836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450324" y="3552443"/>
            <a:ext cx="65836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94944" y="6236208"/>
            <a:ext cx="9694468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82/90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>
                <a:solidFill>
                  <a:srgbClr val="E6EEF8"/>
                </a:solidFill>
                <a:latin typeface="Aptos Display"/>
              </a:rPr>
              <a:t>82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Aptos Display"/>
              </a:rPr>
              <a:t>Networks dans 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Docker Compose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Aptos"/>
              </a:rPr>
              <a:t>Compose crée un réseau par projet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Aptos"/>
              </a:rPr>
              <a:t>Les services se joignent par nom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Aptos"/>
              </a:rPr>
              <a:t>Les réseaux peuvent être personnalisés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H="1">
            <a:off x="8462772" y="2747771"/>
            <a:ext cx="658368" cy="1024128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21140" y="2747771"/>
            <a:ext cx="658368" cy="1024128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462772" y="3771899"/>
            <a:ext cx="1316736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91956" y="2528315"/>
            <a:ext cx="658368" cy="438912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33588" y="3552443"/>
            <a:ext cx="65836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50324" y="3552443"/>
            <a:ext cx="65836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4944" y="6236208"/>
            <a:ext cx="9814153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83/90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83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Volumes dans 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Docker Compose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Déclarent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les données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persistantes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Se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montent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dans les 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Rendent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l’environnement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reproductible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H="1">
            <a:off x="8462772" y="2747771"/>
            <a:ext cx="658368" cy="1024128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21140" y="2747771"/>
            <a:ext cx="658368" cy="1024128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462772" y="3771899"/>
            <a:ext cx="1316736" cy="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91956" y="2528315"/>
            <a:ext cx="658368" cy="438912"/>
          </a:xfrm>
          <a:prstGeom prst="roundRect">
            <a:avLst/>
          </a:prstGeom>
          <a:solidFill>
            <a:srgbClr val="47556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33588" y="3552443"/>
            <a:ext cx="65836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50324" y="3552443"/>
            <a:ext cx="65836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4944" y="6236208"/>
            <a:ext cx="9933838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84/90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84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compose build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construit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les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Docker Compose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Aptos"/>
              </a:rPr>
              <a:t>Construit les services avec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Aptos"/>
              </a:rPr>
              <a:t>Utilise les Dockerfile du projet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Aptos"/>
              </a:rPr>
              <a:t>Prépare un lancement cohérent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475569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compose 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10053523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85/90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85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compose up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démarre</a:t>
            </a:r>
            <a:r>
              <a:rPr sz="32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 le </a:t>
            </a:r>
            <a:r>
              <a:rPr sz="3200" b="1" dirty="0" err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projet</a:t>
            </a:r>
            <a:endParaRPr sz="3200" b="1" dirty="0">
              <a:solidFill>
                <a:schemeClr val="tx2">
                  <a:lumMod val="75000"/>
                </a:schemeClr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Docker Compose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Lance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tous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les services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nécessaires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Crée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réseaux et volumes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manquants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Affiche les logs par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défaut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475569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compose 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10173208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86/90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86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Aptos Display"/>
              </a:rPr>
              <a:t>docker compose down arrête le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Docker Compose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Arrête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les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Supprime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les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du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projet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Garde les volumes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sauf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option contraire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475569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compose 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10292892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87/90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87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Aptos Display"/>
              </a:rPr>
              <a:t>docker compose ps affiche les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Docker Compose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Liste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l’état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des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conteneurs</a:t>
            </a:r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 Compose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Montre ports et noms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Aide au diagnostic </a:t>
            </a:r>
            <a:r>
              <a:rPr sz="1800" b="0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rapide</a:t>
            </a:r>
            <a:endParaRPr sz="18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94A3B8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475569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Consolas"/>
              </a:rPr>
              <a:t>docker compose 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Aptos"/>
              </a:rPr>
              <a:t>Une seule commande à retenir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10412577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75083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2.9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chemeClr val="tx2">
                    <a:lumMod val="75000"/>
                  </a:schemeClr>
                </a:solidFill>
                <a:latin typeface="Aptos"/>
              </a:rPr>
              <a:t>88/90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88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docker compose logs lit les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2">
                    <a:lumMod val="75000"/>
                  </a:schemeClr>
                </a:solidFill>
                <a:latin typeface="Aptos"/>
              </a:rPr>
              <a:t>Docker Compose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chemeClr val="bg1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Regroupe les sorties des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chemeClr val="bg1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Permet de suivre un service précis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chemeClr val="bg1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Très utile pendant le debug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00600"/>
            <a:ext cx="4389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chemeClr val="tx2">
                    <a:lumMod val="75000"/>
                  </a:schemeClr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93392"/>
            <a:ext cx="4498848" cy="2999232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903720" y="1901952"/>
            <a:ext cx="4498848" cy="299923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903720" y="1901952"/>
            <a:ext cx="4498848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7086600" y="206654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7324344" y="2066544"/>
            <a:ext cx="100584" cy="10058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7562088" y="2066544"/>
            <a:ext cx="100584" cy="100584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51592" y="2057400"/>
            <a:ext cx="566928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dirty="0">
                <a:solidFill>
                  <a:schemeClr val="bg1"/>
                </a:solidFill>
                <a:latin typeface="Aptos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834640"/>
            <a:ext cx="22860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dirty="0">
                <a:solidFill>
                  <a:schemeClr val="bg1"/>
                </a:solidFill>
                <a:latin typeface="Consolas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2834640"/>
            <a:ext cx="353872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chemeClr val="bg1"/>
                </a:solidFill>
                <a:latin typeface="Consolas"/>
              </a:rPr>
              <a:t>docker compose logs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2904" y="4114800"/>
            <a:ext cx="32004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Aptos"/>
              </a:rPr>
              <a:t>Une </a:t>
            </a:r>
            <a:r>
              <a:rPr sz="1000" b="1" dirty="0" err="1">
                <a:solidFill>
                  <a:schemeClr val="bg1"/>
                </a:solidFill>
                <a:latin typeface="Aptos"/>
              </a:rPr>
              <a:t>seule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1000" b="1" dirty="0" err="1">
                <a:solidFill>
                  <a:schemeClr val="bg1"/>
                </a:solidFill>
                <a:latin typeface="Aptos"/>
              </a:rPr>
              <a:t>commande</a:t>
            </a:r>
            <a:r>
              <a:rPr sz="1000" b="1" dirty="0">
                <a:solidFill>
                  <a:schemeClr val="bg1"/>
                </a:solidFill>
                <a:latin typeface="Aptos"/>
              </a:rPr>
              <a:t> à </a:t>
            </a:r>
            <a:r>
              <a:rPr sz="1000" b="1" dirty="0" err="1">
                <a:solidFill>
                  <a:schemeClr val="bg1"/>
                </a:solidFill>
                <a:latin typeface="Aptos"/>
              </a:rPr>
              <a:t>retenir</a:t>
            </a:r>
            <a:endParaRPr sz="10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232904" y="3877056"/>
            <a:ext cx="1298448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94944" y="6236208"/>
            <a:ext cx="10532262" cy="320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38912" y="384048"/>
            <a:ext cx="11301984" cy="6053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2.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548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Aptos"/>
              </a:rPr>
              <a:t>89/90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 dirty="0">
                <a:solidFill>
                  <a:schemeClr val="tx2">
                    <a:lumMod val="75000"/>
                  </a:schemeClr>
                </a:solidFill>
                <a:latin typeface="Aptos Display"/>
              </a:rPr>
              <a:t>89</a:t>
            </a:r>
          </a:p>
        </p:txBody>
      </p:sp>
      <p:sp>
        <p:nvSpPr>
          <p:cNvPr id="7" name="Oval 6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914400"/>
            <a:ext cx="662940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Aptos Display"/>
              </a:rPr>
              <a:t>Synthèse des bonnes pratiques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9385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Aptos"/>
              </a:rPr>
              <a:t>Vue d’ensemble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249424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2414016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487168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14016"/>
            <a:ext cx="5010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Aptos"/>
              </a:rPr>
              <a:t>Images petites et versionnées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976" y="3209544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282696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09544"/>
            <a:ext cx="5010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Aptos"/>
              </a:rPr>
              <a:t>Données stockées hors conteneur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40480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976" y="4005072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78224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5010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Aptos"/>
              </a:rPr>
              <a:t>Commandes automatisées avec Compose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636008"/>
            <a:ext cx="583387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50976" y="4800600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" y="4873752"/>
            <a:ext cx="283464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00600"/>
            <a:ext cx="50109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11827"/>
                </a:solidFill>
                <a:latin typeface="Aptos"/>
              </a:rPr>
              <a:t>Secrets jamais dans les images</a:t>
            </a:r>
          </a:p>
        </p:txBody>
      </p:sp>
      <p:sp>
        <p:nvSpPr>
          <p:cNvPr id="26" name="Oval 25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47888" y="2724911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549640" y="3118103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851392" y="3511295"/>
            <a:ext cx="141732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D9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4944" y="6236208"/>
            <a:ext cx="10651947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94944" y="493776"/>
            <a:ext cx="2487168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41148" rIns="128016" bIns="18288" rtlCol="0" anchor="ctr"/>
          <a:lstStyle/>
          <a:p>
            <a:pPr algn="ctr"/>
            <a:r>
              <a:rPr sz="900" b="1" dirty="0">
                <a:solidFill>
                  <a:schemeClr val="bg1"/>
                </a:solidFill>
                <a:latin typeface="Aptos"/>
              </a:rPr>
              <a:t>2.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548640"/>
            <a:ext cx="5669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chemeClr val="tx2">
                    <a:lumMod val="75000"/>
                  </a:schemeClr>
                </a:solidFill>
                <a:latin typeface="Aptos"/>
              </a:rPr>
              <a:t>90/90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877824"/>
            <a:ext cx="292608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400" b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90</a:t>
            </a:r>
          </a:p>
        </p:txBody>
      </p:sp>
      <p:sp>
        <p:nvSpPr>
          <p:cNvPr id="6" name="Oval 5"/>
          <p:cNvSpPr/>
          <p:nvPr/>
        </p:nvSpPr>
        <p:spPr>
          <a:xfrm>
            <a:off x="10588752" y="126187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987552"/>
            <a:ext cx="731520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900" b="1">
                <a:solidFill>
                  <a:schemeClr val="tx2">
                    <a:lumMod val="75000"/>
                  </a:schemeClr>
                </a:solidFill>
                <a:latin typeface="Aptos Display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011680"/>
            <a:ext cx="47548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chemeClr val="tx2">
                    <a:lumMod val="75000"/>
                  </a:schemeClr>
                </a:solidFill>
                <a:latin typeface="Aptos"/>
              </a:rPr>
              <a:t>Vue d’ensemble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450592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50976" y="2615184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0976" y="2688336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15184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Docker standardise l’exécution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246120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950976" y="3410712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0976" y="3483864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chemeClr val="bg1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10712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Les conteneurs rendent les tests rapides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41648"/>
            <a:ext cx="6263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950976" y="4206240"/>
            <a:ext cx="283464" cy="2834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0976" y="4279392"/>
            <a:ext cx="283464" cy="923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chemeClr val="bg1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06240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chemeClr val="tx2">
                    <a:lumMod val="75000"/>
                  </a:schemeClr>
                </a:solidFill>
                <a:latin typeface="Aptos"/>
              </a:rPr>
              <a:t>Compose simplifie les applications multi-services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001768"/>
            <a:ext cx="4389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chemeClr val="tx2">
                    <a:lumMod val="75000"/>
                  </a:schemeClr>
                </a:solidFill>
                <a:latin typeface="Aptos"/>
              </a:rPr>
              <a:t>Cours Docker • débutant à intermédiaire</a:t>
            </a:r>
          </a:p>
        </p:txBody>
      </p:sp>
      <p:sp>
        <p:nvSpPr>
          <p:cNvPr id="22" name="Oval 21"/>
          <p:cNvSpPr/>
          <p:nvPr/>
        </p:nvSpPr>
        <p:spPr>
          <a:xfrm>
            <a:off x="7589520" y="1856231"/>
            <a:ext cx="3063240" cy="3063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47888" y="2724911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549640" y="3118103"/>
            <a:ext cx="14173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51392" y="3511295"/>
            <a:ext cx="1417320" cy="8229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94944" y="6236208"/>
            <a:ext cx="10771632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3460</Words>
  <Application>Microsoft Office PowerPoint</Application>
  <PresentationFormat>Grand écran</PresentationFormat>
  <Paragraphs>1229</Paragraphs>
  <Slides>90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90</vt:i4>
      </vt:variant>
    </vt:vector>
  </HeadingPairs>
  <TitlesOfParts>
    <vt:vector size="96" baseType="lpstr">
      <vt:lpstr>Aptos</vt:lpstr>
      <vt:lpstr>Aptos Display</vt:lpstr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- Concepts, utilisation et bonnes pratiques</dc:title>
  <dc:subject>Présentation premium pour cours Docker</dc:subject>
  <dc:creator>OpenAI Codex</dc:creator>
  <cp:keywords>Docker, DevOps, conteneurisation, Docker Compose, cours</cp:keywords>
  <dc:description>generated using python-pptx</dc:description>
  <cp:lastModifiedBy>Yaye khady Gueye</cp:lastModifiedBy>
  <cp:revision>6</cp:revision>
  <dcterms:created xsi:type="dcterms:W3CDTF">2013-01-27T09:14:16Z</dcterms:created>
  <dcterms:modified xsi:type="dcterms:W3CDTF">2026-05-07T14:49:30Z</dcterms:modified>
  <cp:category/>
</cp:coreProperties>
</file>