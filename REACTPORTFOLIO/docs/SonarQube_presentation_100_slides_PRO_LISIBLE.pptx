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cs.sonarsource.com/sonarqube-server/10.8/analyzing-source-code/analysis-overview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ocs.sonarsource.com/sonarqube-server/2025.3/user-guide/security-hotspots/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ocs.sonarsource.com/sonarqube-server/10.8/core-concepts/clean-as-you-code/introduction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ocs.sonarsource.com/sonarqube-server/quality-standards-administration/managing-quality-profiles/understanding-quality-profiles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ocs.sonarsource.com/sonarqube-server/2026.1/quality-standards-administration/managing-quality-gates/introduction-to-quality-gates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docs.sonarsource.com/sonarqube-server/user-guide/issues/solution-overview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ocs.sonarsource.com/sonarqube-server/2026.1/analyzing-source-code/languages/overview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docs.sonarsource.com/sonarqube-server/10.8/core-concepts/clean-as-you-code/introduction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docs.sonarsource.com/sonarqube-server/10.7/core-concepts/clean-as-you-code/overview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docs.sonarsource.com/sonarqube-server/2026.1/quality-standards-administration/managing-quality-gates/introduction-to-quality-gates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docs.sonarsource.com/sonarqube-server/server-installation/server-components-overview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docs.sonarsource.com/sonarqube-server/10.8/analyzing-source-code/analysis-overview/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docs.sonarsource.com/sonarqube-server/analyzing-source-code/overview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docs.sonarsource.com/sonarqube-server/analyzing-source-code/scanners/sonarscanner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docs.sonarsource.com/sonarqube-server/server-installation/server-components-overview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docs.sonarsource.com/sonarqube-server/analyzing-source-code/overview" TargetMode="Externa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docs.sonarsource.com/sonarqube-server/analyzing-source-code/overview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docs.sonarsource.com/sonarqube-server/user-guide/applications" TargetMode="Externa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docs.sonarsource.com/sonarqube-server/2026.1/analyzing-source-code/languages/overview" TargetMode="Externa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docs.sonarsource.com/sonarqube-server/2026.1/instance-administration/analysis-functions/analysis-scope/introduction" TargetMode="Externa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docs.sonarsource.com/sonarqube-server/2026.1/project-administration/adjusting-analysis/setting-analysis-scope/excluding-files-based-on-patterns" TargetMode="Externa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docs.sonarsource.com/sonarqube-server/quality-standards-administration/managing-rules/rules" TargetMode="Externa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docs.sonarsource.com/sonarqube-server/10.8/core-concepts/clean-as-you-code/introduction" TargetMode="Externa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docs.sonarsource.com/sonarqube-server/10.7/core-concepts/clean-as-you-code/overview" TargetMode="Externa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docs.sonarsource.com/sonarqube-server/user-guide/issues/solution-overview" TargetMode="Externa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docs.sonarsource.com/sonarqube-server/analyzing-source-code/ci-integration/overview" TargetMode="Externa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docs.sonarsource.com/sonarqube-server/2026.1/analyzing-source-code/branch-analysis/introduction" TargetMode="Externa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docs.sonarsource.com/sonarqube-server/2026.1/quality-standards-administration/managing-quality-gates/introduction-to-quality-gates" TargetMode="Externa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docs.sonarsource.com/sonarqube-server/quality-standards-administration/managing-rules/rules" TargetMode="Externa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docs.sonarsource.com/sonarqube-server/instance-administration/analysis-functions/instance-mode/instance-mode-overview" TargetMode="Externa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docs.sonarsource.com/sonarqube-server/instance-administration/analysis-functions/instance-mode/instance-mode-overview" TargetMode="Externa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docs.sonarsource.com/sonarqube-server/quality-standards-administration/managing-rules/rules" TargetMode="Externa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docs.sonarsource.com/sonarqube-server/quality-standards-administration/managing-quality-profiles/understanding-quality-profiles" TargetMode="Externa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docs.sonarsource.com/sonarqube-server/quality-standards-administration/managing-quality-profiles/understanding-quality-profiles" TargetMode="Externa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docs.sonarsource.com/sonarqube-server/user-guide/issues/solution-overview" TargetMode="Externa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docs.sonarsource.com/sonarqube-server/user-guide/issues/solution-overview" TargetMode="Externa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docs.sonarsource.com/sonarqube-server/quality-standards-administration/managing-rules/security-related-rules" TargetMode="Externa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docs.sonarsource.com/sonarqube-server/2025.3/user-guide/security-hotspots/" TargetMode="Externa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hyperlink" Target="https://docs.sonarsource.com/sonarqube-server/latest/advanced-security/analyzing-projects-for-dependencies/" TargetMode="Externa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s://docs.sonarsource.com/sonarqube-server/2025.3/user-guide/security-hotspots/" TargetMode="Externa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hyperlink" Target="https://docs.sonarsource.com/sonarqube-server/2026.1/instance-administration/analysis-functions/setting-new-code-definition-at-global-level" TargetMode="Externa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hyperlink" Target="https://docs.sonarsource.com/sonarqube-server/2026.1/instance-administration/analysis-functions/setting-new-code-definition-at-global-level" TargetMode="Externa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hyperlink" Target="https://docs.sonarsource.com/sonarqube-server/2026.1/quality-standards-administration/managing-quality-gates/introduction-to-quality-gates" TargetMode="Externa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hyperlink" Target="https://docs.sonarsource.com/sonarqube-server/2026.1/quality-standards-administration/managing-quality-gates/introduction-to-quality-gates" TargetMode="Externa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hyperlink" Target="https://docs.sonarsource.com/sonarqube-server/2026.1/quality-standards-administration/managing-quality-gates/introduction-to-quality-gates" TargetMode="Externa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hyperlink" Target="https://docs.sonarsource.com/sonarqube-server/2026.1/analyzing-source-code/branch-analysis/introduction" TargetMode="Externa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hyperlink" Target="https://docs.sonarsource.com/sonarqube-server/2026.1/analyzing-source-code/pull-request-analysis/introduction" TargetMode="Externa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hyperlink" Target="https://docs.sonarsource.com/sonarqube-server/2026.1/analyzing-source-code/pull-request-analysis/introduction" TargetMode="Externa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hyperlink" Target="https://docs.sonarsource.com/sonarqube-server/server-installation/server-components-overview" TargetMode="Externa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hyperlink" Target="https://docs.sonarsource.com/sonarqube-server/10.8/analyzing-source-code/analysis-overview/" TargetMode="Externa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hyperlink" Target="https://docs.sonarsource.com/sonarqube-server/10.8/analyzing-source-code/analysis-overview/" TargetMode="Externa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hyperlink" Target="https://docs.sonarsource.com/sonarqube-server/latest/analyzing-source-code/analysis-parameters/" TargetMode="Externa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hyperlink" Target="https://docs.sonarsource.com/sonarqube-server/10.8/analyzing-source-code/analysis-overview/" TargetMode="Externa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hyperlink" Target="https://docs.sonarsource.com/sonarqube-server/server-installation/server-components-overview" TargetMode="Externa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hyperlink" Target="https://docs.sonarsource.com/sonarqube-server/server-installation/server-components-overview" TargetMode="Externa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hyperlink" Target="https://docs.sonarsource.com/sonarqube-server/server-installation/server-components-overview" TargetMode="Externa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hyperlink" Target="https://docs.sonarsource.com/sonarqube-server/server-installation/installing-the-database" TargetMode="Externa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hyperlink" Target="https://docs.sonarsource.com/sonarqube-server/2026.1/instance-administration/user-management/user-permissions" TargetMode="Externa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hyperlink" Target="https://docs.sonarsource.com/sonarqube-server/server-installation/server-components-overview" TargetMode="Externa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hyperlink" Target="https://docs.sonarsource.com/sonarqube-server/server-installation/reference-architectures/up-to-10m-loc" TargetMode="Externa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hyperlink" Target="https://docs.sonarsource.com/sonarqube-server/server-installation/server-components-overview" TargetMode="Externa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hyperlink" Target="https://docs.sonarsource.com/sonarqube-server/extension-guide/web-api" TargetMode="Externa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hyperlink" Target="https://docs.sonarsource.com/sonarqube-server/latest/project-administration/webhooks/" TargetMode="Externa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hyperlink" Target="https://docs.sonarsource.com/sonarqube-server/10.8/core-concepts/clean-as-you-code/introduction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cs.sonarsource.com/sonarqube-server/2026.1/instance-administration/analysis-functions/setting-new-code-definition-at-global-level" TargetMode="External"/><Relationship Id="rId4" Type="http://schemas.openxmlformats.org/officeDocument/2006/relationships/hyperlink" Target="https://docs.sonarsource.com/sonarqube-server/10.7/core-concepts/clean-as-you-code/overview" TargetMode="Externa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hyperlink" Target="https://docs.sonarsource.com/sonarqube-server/quality-standards-administration/managing-rules/rules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sonarsource.com/sonarqube-server/quality-standards-administration/managing-rules/security-related-rules" TargetMode="External"/><Relationship Id="rId5" Type="http://schemas.openxmlformats.org/officeDocument/2006/relationships/hyperlink" Target="https://docs.sonarsource.com/sonarqube-server/2025.3/user-guide/security-hotspots/" TargetMode="External"/><Relationship Id="rId4" Type="http://schemas.openxmlformats.org/officeDocument/2006/relationships/hyperlink" Target="https://docs.sonarsource.com/sonarqube-server/user-guide/issues/solution-overview" TargetMode="Externa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sonarsource.com/sonarqube-server/instance-administration/analysis-functions/instance-mode/instance-mode-overview" TargetMode="External"/><Relationship Id="rId5" Type="http://schemas.openxmlformats.org/officeDocument/2006/relationships/hyperlink" Target="https://docs.sonarsource.com/sonarqube-server/quality-standards-administration/managing-quality-profiles/understanding-quality-profiles" TargetMode="External"/><Relationship Id="rId4" Type="http://schemas.openxmlformats.org/officeDocument/2006/relationships/hyperlink" Target="https://docs.sonarsource.com/sonarqube-server/2026.1/quality-standards-administration/managing-quality-gates/introduction-to-quality-gates" TargetMode="Externa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sonarsource.com/sonarqube-server/2026.1/analyzing-source-code/branch-analysis/introduction" TargetMode="External"/><Relationship Id="rId3" Type="http://schemas.openxmlformats.org/officeDocument/2006/relationships/image" Target="../media/image90.png"/><Relationship Id="rId7" Type="http://schemas.openxmlformats.org/officeDocument/2006/relationships/hyperlink" Target="https://docs.sonarsource.com/sonarqube-server/2026.1/analyzing-source-code/pull-request-analysis/introduction" TargetMode="External"/><Relationship Id="rId12" Type="http://schemas.openxmlformats.org/officeDocument/2006/relationships/hyperlink" Target="https://docs.sonarsource.com/sonarqube-server/latest/analyzing-source-code/analysis-parameters/" TargetMode="External"/><Relationship Id="rId2" Type="http://schemas.openxmlformats.org/officeDocument/2006/relationships/hyperlink" Target="https://docs.sonarsource.com/sonarqube-server/10.8/analyzing-source-code/analysis-overview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sonarsource.com/sonarqube-server/analyzing-source-code/scanners/sonarscanner" TargetMode="External"/><Relationship Id="rId11" Type="http://schemas.openxmlformats.org/officeDocument/2006/relationships/hyperlink" Target="https://docs.sonarsource.com/sonarqube-server/server-installation/reference-architectures/up-to-10m-loc" TargetMode="External"/><Relationship Id="rId5" Type="http://schemas.openxmlformats.org/officeDocument/2006/relationships/hyperlink" Target="https://docs.sonarsource.com/sonarqube-server/analyzing-source-code/ci-integration/overview" TargetMode="External"/><Relationship Id="rId10" Type="http://schemas.openxmlformats.org/officeDocument/2006/relationships/hyperlink" Target="https://docs.sonarsource.com/sonarqube-server/server-installation/installing-the-database" TargetMode="External"/><Relationship Id="rId4" Type="http://schemas.openxmlformats.org/officeDocument/2006/relationships/hyperlink" Target="https://docs.sonarsource.com/sonarqube-server/analyzing-source-code/overview" TargetMode="External"/><Relationship Id="rId9" Type="http://schemas.openxmlformats.org/officeDocument/2006/relationships/hyperlink" Target="https://docs.sonarsource.com/sonarqube-server/server-installation/server-components-overview" TargetMode="Externa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sonarsource.com/sonarqube-server/user-guide/applications" TargetMode="External"/><Relationship Id="rId3" Type="http://schemas.openxmlformats.org/officeDocument/2006/relationships/image" Target="../media/image91.png"/><Relationship Id="rId7" Type="http://schemas.openxmlformats.org/officeDocument/2006/relationships/hyperlink" Target="https://docs.sonarsource.com/sonarqube-server/2026.1/project-administration/setting-project-permissions" TargetMode="External"/><Relationship Id="rId2" Type="http://schemas.openxmlformats.org/officeDocument/2006/relationships/hyperlink" Target="https://docs.sonarsource.com/sonarqube-server/server-update-and-maintenance/update/release-cycle-mode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sonarsource.com/sonarqube-server/2026.1/instance-administration/user-management/user-permissions" TargetMode="External"/><Relationship Id="rId5" Type="http://schemas.openxmlformats.org/officeDocument/2006/relationships/hyperlink" Target="https://docs.sonarsource.com/sonarqube-server/2026.1/analyzing-source-code/languages/overview" TargetMode="External"/><Relationship Id="rId10" Type="http://schemas.openxmlformats.org/officeDocument/2006/relationships/hyperlink" Target="https://docs.sonarsource.com/sonarqube-server/latest/advanced-security/analyzing-projects-for-dependencies/" TargetMode="External"/><Relationship Id="rId4" Type="http://schemas.openxmlformats.org/officeDocument/2006/relationships/hyperlink" Target="https://docs.sonarsource.com/sonarqube-server/extension-guide/web-api" TargetMode="External"/><Relationship Id="rId9" Type="http://schemas.openxmlformats.org/officeDocument/2006/relationships/hyperlink" Target="https://docs.sonarsource.com/sonarqube-server/latest/advanced-security/introduc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02920" y="548640"/>
            <a:ext cx="1417320" cy="329184"/>
          </a:xfrm>
          <a:prstGeom prst="roundRect">
            <a:avLst/>
          </a:prstGeom>
          <a:solidFill>
            <a:srgbClr val="00A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6656" y="612648"/>
            <a:ext cx="109728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100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5212080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800" b="1">
                <a:solidFill>
                  <a:srgbClr val="00A4A6"/>
                </a:solidFill>
                <a:latin typeface="Aptos"/>
              </a:rPr>
              <a:t>4. SonarQube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737360"/>
            <a:ext cx="539496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ptos"/>
              </a:rPr>
              <a:t>SonarQube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61488"/>
            <a:ext cx="507492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Présentation professionnelle complète : problématique, présentation, concepts, architecture et références officielles.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86200"/>
            <a:ext cx="4754880" cy="12344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Structure conforme au plan demandé.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Une diapo = un concept.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Visuels et graphiques générés dans le deck.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99632"/>
            <a:ext cx="539496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Sources officielles SonarSource/SonarQube consultées le 08/05/2026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69880" y="6144768"/>
            <a:ext cx="1234440" cy="384048"/>
          </a:xfrm>
          <a:prstGeom prst="roundRect">
            <a:avLst/>
          </a:prstGeom>
          <a:solidFill>
            <a:srgbClr val="00A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001/100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A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A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 SonarQube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Fil directeur de la présentation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On part du problème, puis on descend vers les concepts et l'architecture.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Pourquoi utiliser SonarQube dans une équipe logicielle.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Ce que SonarQube apporte concrètement.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concepts indispensables, puis les composants techniques.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 SonarQube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002/100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A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A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 SonarQube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Règle de lecture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Chaque diapo isole un seul concept pour rester claire et mémorisable.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 titre = un concept.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 message clé = l'idée à retenir.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 visuel = un raccourci de compréhension.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 SonarQube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003/100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Dette invisible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risque majeur du code n'est pas toujours visible à la lecture rapide.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défauts se cachent dans les branches peu testées.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duplications et complexités augmentent sans alerte.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dette devient coûteuse quand elle est découverte tard.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004/100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Feedback tardif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Plus une issue est détectée tard, plus elle bloque de personnes.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Après le merge, le contexte de développement est déjà perdu.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En recette ou production, la correction devient plus risquée.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L'analyse automatique rapproche le feedback du commit.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https://docs.sonarsource.com/sonarqube-server/10.8/analyzing-source-code/analysis-overview/</a:t>
            </a:r>
          </a:p>
        </p:txBody>
      </p:sp>
      <p:pic>
        <p:nvPicPr>
          <p:cNvPr id="10" name="Picture 9" descr="visual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Analysis Overview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005/100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Coût de remédiation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Corriger une issue demande un effort estimé, souvent sous-estimé dans les plannings.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SonarQube associe un coût de correction aux issues.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Ce coût rend la dette technique visible et pilotable.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aide à prioriser les corrections à fort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006/100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Sécurité trop tardive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 contrôle de sécurité en fin de projet arrive souvent trop tard pour être simple.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vulnérabilités doivent être repérées avant l'intégration.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hotspots demandent une revue contextualisée.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sécurité devient un geste de développement continu.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https://docs.sonarsource.com/sonarqube-server/2025.3/user-guide/security-hotspots/</a:t>
            </a:r>
          </a:p>
        </p:txBody>
      </p:sp>
      <p:pic>
        <p:nvPicPr>
          <p:cNvPr id="10" name="Picture 9" descr="visual_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Security Hotspots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007/100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Legacy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 gros existant rend irréaliste une remise à zéro immédiate de toute la 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code ancien contient souvent beaucoup de dette.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Tout corriger d'un coup bloque la livraison métier.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stratégie efficace consiste à ne plus ajouter de dette.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https://docs.sonarsource.com/sonarqube-server/10.8/core-concepts/clean-as-you-code/introduction</a:t>
            </a:r>
          </a:p>
        </p:txBody>
      </p:sp>
      <p:pic>
        <p:nvPicPr>
          <p:cNvPr id="10" name="Picture 9" descr="visual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Clean as You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008/100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Standards dispersés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Sans référentiel commun, chaque équipe applique sa propre définition du code acceptable.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conventions changent selon les projets et langages.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revues humaines deviennent inégales.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 profil qualité centralise les règles attendues.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https://docs.sonarsource.com/sonarqube-server/quality-standards-administration/managing-quality-profiles/understanding-quality-profiles</a:t>
            </a:r>
          </a:p>
        </p:txBody>
      </p:sp>
      <p:pic>
        <p:nvPicPr>
          <p:cNvPr id="10" name="Picture 9" descr="visual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Quality Profiles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009/100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Mesures subjectives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Dire qu'un code est propre ne suffit pas : il faut des mesures répétables.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métriques quantifient couverture, duplications, issues et complexité.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mesures suivent l'évolution d'un projet dans le temps.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quality gate transforme les mesures en décision.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010/100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Risque de livraison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release peut être fonctionnelle tout en restant fragile, risquée ou difficile à maintenir.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qualité logicielle inclut fiabilité, sécurité et maintenabilité.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tests ne couvrent pas toutes les faiblesses structurelles.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SonarQube ajoute un contrôle qualité automatisé au pipeline.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https://docs.sonarsource.com/sonarqube-server/2026.1/quality-standards-administration/managing-quality-gates/introduction-to-quality-gates</a:t>
            </a:r>
          </a:p>
        </p:txBody>
      </p:sp>
      <p:pic>
        <p:nvPicPr>
          <p:cNvPr id="10" name="Picture 9" descr="visual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Quality 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011/100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Responsabilité floue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Quand une issue n'a pas de propriétaire, elle reste souvent ouverte.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SonarQube peut assigner une nouvelle issue au dernier committeur de la ligne.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développeur traite le problème pendant que le contexte est frais.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qualité devient une responsabilité distribuée.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https://docs.sonarsource.com/sonarqube-server/user-guide/issues/solution-overview</a:t>
            </a:r>
          </a:p>
        </p:txBody>
      </p:sp>
      <p:pic>
        <p:nvPicPr>
          <p:cNvPr id="10" name="Picture 9" descr="visual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Issues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012/100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Audit difficile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Sans historique central, il est difficile d'expliquer l'évolution de la qualité.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snapshots conservent l'état d'un projet à chaque analyse.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L'activité montre l'évolution des mesures dans le temps.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événements aident à relier changements et résultats.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013/100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Échelle multi-langages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organisation moderne doit contrôler plusieurs langages avec une logique homogène.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SonarQube couvre de nombreux langages selon l'édition.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analyseurs transforment les spécificités langage en règles.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métriques rendent les résultats comparables.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https://docs.sonarsource.com/sonarqube-server/2026.1/analyzing-source-code/languages/overview</a:t>
            </a:r>
          </a:p>
        </p:txBody>
      </p:sp>
      <p:pic>
        <p:nvPicPr>
          <p:cNvPr id="10" name="Picture 9" descr="visual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Supported Languages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014/100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Dette contre valeur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dette technique consomme du temps qui devrait servir à livrer de la valeur.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sprints de nettoyage arrivent souvent trop tard.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Nettoyer le nouveau code évite d'alimenter le stock.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backlog qualité devient pilotable par indicateurs.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https://docs.sonarsource.com/sonarqube-server/10.8/core-concepts/clean-as-you-code/introduction</a:t>
            </a:r>
          </a:p>
        </p:txBody>
      </p:sp>
      <p:pic>
        <p:nvPicPr>
          <p:cNvPr id="10" name="Picture 9" descr="visual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Clean as You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015/100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Besoin central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Il faut un contrôle automatique, continu, partagé et compréhensible par tous.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Automatique : pas dépendant de la mémoire humaine.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Continu : exécuté à chaque changement pertinent.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Partagé : mêmes règles pour l'équipe et le projet.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https://docs.sonarsource.com/sonarqube-server/10.7/core-concepts/clean-as-you-code/overview</a:t>
            </a:r>
          </a:p>
        </p:txBody>
      </p:sp>
      <p:pic>
        <p:nvPicPr>
          <p:cNvPr id="10" name="Picture 9" descr="visual_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Processus Clean as You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016/100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Réponse attendue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SonarQube répond au problème en liant analyse, règles, métriques et décision de livraison.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règles détectent les problèmes.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métriques objectivent l'état du code.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quality gate dit si le code peut avancer.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https://docs.sonarsource.com/sonarqube-server/2026.1/quality-standards-administration/managing-quality-gates/introduction-to-quality-gates</a:t>
            </a:r>
          </a:p>
        </p:txBody>
      </p:sp>
      <p:pic>
        <p:nvPicPr>
          <p:cNvPr id="10" name="Picture 9" descr="visual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Quality 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017/100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Nature du produit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SonarQube Server est une solution d'analyse et de revue automatisée du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reçoit les résultats produits par les scanners.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calcule mesures, issues, statuts et tendances.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expose ces résultats dans une interface web et via API.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https://docs.sonarsource.com/sonarqube-server/server-installation/server-components-overview</a:t>
            </a:r>
          </a:p>
        </p:txBody>
      </p:sp>
      <p:pic>
        <p:nvPicPr>
          <p:cNvPr id="10" name="Picture 9" descr="visual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Server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018/100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Place dans le SDLC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SonarQube se place entre le code source et la décision de merge ou de release.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scanner s'exécute dans le build ou la CI.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serveur calcule la qualité et conserve l'historique.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plateforme DevOps affiche le résultat aux reviewers.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https://docs.sonarsource.com/sonarqube-server/10.8/analyzing-source-code/analysis-overview/</a:t>
            </a:r>
          </a:p>
        </p:txBody>
      </p:sp>
      <p:pic>
        <p:nvPicPr>
          <p:cNvPr id="10" name="Picture 9" descr="visual_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Analysis Overview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019/100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Analyse statique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L'analyse statique examine le code sans exécuter l'application.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détecte des patterns de défauts dans les fichiers source.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complète les tests, qui valident surtout des comportements exécutés.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est adaptée à une exécution fréquente dans la CI.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https://docs.sonarsource.com/sonarqube-server/analyzing-source-code/overview</a:t>
            </a:r>
          </a:p>
        </p:txBody>
      </p:sp>
      <p:pic>
        <p:nvPicPr>
          <p:cNvPr id="10" name="Picture 9" descr="visual_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Project Analysis Setup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020/100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Automated code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revue automatisée accélère l'identification des écarts de qualité.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règles remplacent les contrôles répétitifs de revue humaine.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reviewers se concentrent sur l'architecture et le métier.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feedback est reproductible à chaque analyse.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021/100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SonarScanner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scanner est le programme qui lance l'analyse sur le host CI/CD.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inspecte le dépôt local checkouté par la CI.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envoie un rapport d'analyse au serveur SonarQube.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existe des variantes Maven, Gradle, .NET, NPM, Python et CLI.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https://docs.sonarsource.com/sonarqube-server/analyzing-source-code/scanners/sonarscanner</a:t>
            </a:r>
          </a:p>
        </p:txBody>
      </p:sp>
      <p:pic>
        <p:nvPicPr>
          <p:cNvPr id="10" name="Picture 9" descr="visual_0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Scanner CLI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022/100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Serveur SonarQube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serveur centralise l'interface, le traitement des rapports et les données de qualité.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process Web sert l'interface et l'API.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Compute Engine traite les rapports d'analyse.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Elasticsearch accélère la recherche et l'affichage.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https://docs.sonarsource.com/sonarqube-server/server-installation/server-components-overview</a:t>
            </a:r>
          </a:p>
        </p:txBody>
      </p:sp>
      <p:pic>
        <p:nvPicPr>
          <p:cNvPr id="10" name="Picture 9" descr="visual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Server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023/100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Projet SonarQube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 projet représente le code d'un dépôt ou d'un composant dans SonarQube.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porte les mesures, les issues et l'historique.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possède ses réglages d'analyse et son quality gate.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peut être créé depuis l'UI ou par la première analyse.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https://docs.sonarsource.com/sonarqube-server/analyzing-source-code/overview</a:t>
            </a:r>
          </a:p>
        </p:txBody>
      </p:sp>
      <p:pic>
        <p:nvPicPr>
          <p:cNvPr id="10" name="Picture 9" descr="visual_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Project Analysis Setup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024/100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Onboarding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L'onboarding relie un dépôt, un scanner, un token et un quality gate pour produire la première analyse.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projet peut être créé dans l'interface ou par la première analyse.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token d'analyse authentifie le scanner auprès du serveur.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première analyse crée la baseline de départ du suivi qualité.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https://docs.sonarsource.com/sonarqube-server/analyzing-source-code/overview</a:t>
            </a:r>
          </a:p>
        </p:txBody>
      </p:sp>
      <p:pic>
        <p:nvPicPr>
          <p:cNvPr id="10" name="Picture 9" descr="visual_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Project Analysis Setup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025/100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application agrège plusieurs projets qui partagent le même cycle de vie.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fournit une homepage, des issues et des mesures consolidées.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applique un quality gate à l'ensemble livré ensemble.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diffère du portfolio, plus orienté vue exécutive multi-projets.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https://docs.sonarsource.com/sonarqube-server/user-guide/applications</a:t>
            </a:r>
          </a:p>
        </p:txBody>
      </p:sp>
      <p:pic>
        <p:nvPicPr>
          <p:cNvPr id="10" name="Picture 9" descr="visual_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Applications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026/100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Tableau de bord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L'interface transforme les résultats d'analyse en lecture rapide de l'état du projet.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Vue d'ensemble du quality gate et des principales métriques.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Navigation vers les issues, mesures, hotspots et activité.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Support de la décision pour développeurs et responsables.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027/100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Langages supportés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SonarQube analyse des langages variés via des analyseurs spécialisés.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support dépend de l'édition et des versions de langage.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analyseurs appliquent les règles adaptées au langage.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résultats remontent dans un modèle qualité commun.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https://docs.sonarsource.com/sonarqube-server/2026.1/analyzing-source-code/languages/overview</a:t>
            </a:r>
          </a:p>
        </p:txBody>
      </p:sp>
      <p:pic>
        <p:nvPicPr>
          <p:cNvPr id="10" name="Picture 9" descr="visual_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Supported Languages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028/100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Analysis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périmètre d'analyse détermine quels fichiers sont considérés comme sources ou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scanner doit distinguer code source et code de test.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Des exclusions peuvent retirer certains chemins du périmètre.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paramètres CI/CD peuvent prendre le pas sur les réglages UI.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https://docs.sonarsource.com/sonarqube-server/2026.1/instance-administration/analysis-functions/analysis-scope/introduction</a:t>
            </a:r>
          </a:p>
        </p:txBody>
      </p:sp>
      <p:pic>
        <p:nvPicPr>
          <p:cNvPr id="10" name="Picture 9" descr="visual_0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Analysis Scope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029/100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File exclusions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exclusions évitent d'analyser des fichiers qui fausseraient les résultats.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Elles peuvent viser le code source, les tests, la couverture ou les duplications.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patterns se basent sur les chemins du projet.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 réglage projet peut remplacer un réglage global équivalent.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https://docs.sonarsource.com/sonarqube-server/2026.1/project-administration/adjusting-analysis/setting-analysis-scope/excluding-files-based-on-patterns</a:t>
            </a:r>
          </a:p>
        </p:txBody>
      </p:sp>
      <p:pic>
        <p:nvPicPr>
          <p:cNvPr id="10" name="Picture 9" descr="visual_0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File Exclusions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030/100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Modèle qualité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SonarQube structure la qualité autour de sécurité, fiabilité et maintenabilité.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sécurité vise les risques exploitables ou sensibles.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fiabilité vise les comportements incorrects ou instables.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maintenabilité vise la facilité de compréhension et d'évolution.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https://docs.sonarsource.com/sonarqube-server/quality-standards-administration/managing-rules/rules</a:t>
            </a:r>
          </a:p>
        </p:txBody>
      </p:sp>
      <p:pic>
        <p:nvPicPr>
          <p:cNvPr id="10" name="Picture 9" descr="visual_0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031/100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Clean as You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méthode consiste à exiger que tout nouveau code respecte le standard qualité.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On évite d'ajouter de nouvelles issues au code existant.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On améliore progressivement la base en touchant le code.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quality gate cible principalement le nouveau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https://docs.sonarsource.com/sonarqube-server/10.8/core-concepts/clean-as-you-code/introduction</a:t>
            </a:r>
          </a:p>
        </p:txBody>
      </p:sp>
      <p:pic>
        <p:nvPicPr>
          <p:cNvPr id="10" name="Picture 9" descr="visual_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Clean as You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032/100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Standard qualité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standard combine un quality profile et un quality 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quality profile choisit les règles actives.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quality gate fixe les seuils à respecter.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new code definition détermine la zone évaluée comme nouvelle.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https://docs.sonarsource.com/sonarqube-server/10.7/core-concepts/clean-as-you-code/overview</a:t>
            </a:r>
          </a:p>
        </p:txBody>
      </p:sp>
      <p:pic>
        <p:nvPicPr>
          <p:cNvPr id="10" name="Picture 9" descr="visual_0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Processus Clean as You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033/100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Rôles utilisateurs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SonarQube sert plusieurs profils : développeurs, tech leads, sécurité et administrateurs.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développeurs corrigent les issues de leur code.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leads suivent les tendances et standards.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administrateurs pilotent profils, gates et permissions.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https://docs.sonarsource.com/sonarqube-server/user-guide/issues/solution-overview</a:t>
            </a:r>
          </a:p>
        </p:txBody>
      </p:sp>
      <p:pic>
        <p:nvPicPr>
          <p:cNvPr id="10" name="Picture 9" descr="visual_0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Issues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034/100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Intégration DevOps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SonarQube s'intègre aux pipelines et plateformes de revue pour bloquer ou signaler les risques.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Support des pipelines CI courants.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Possibilité de faire échouer le job si le quality gate échoue.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Décoration des pull requests selon la plateforme.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https://docs.sonarsource.com/sonarqube-server/analyzing-source-code/ci-integration/overview</a:t>
            </a:r>
          </a:p>
        </p:txBody>
      </p:sp>
      <p:pic>
        <p:nvPicPr>
          <p:cNvPr id="10" name="Picture 9" descr="visual_0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CI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035/100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Connected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SonarQube for IDE peut se connecter au serveur pour aligner l'IDE sur les règles du projet.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développeur reçoit des retours avant même le commit.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règles locales suivent le quality profile serveur.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feedback précoce réduit les corrections de dernière minute.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036/100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Éditions et capacités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capacités disponibles varient selon l'édition SonarQube Server.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Certaines analyses de branches et PR dépendent des éditions supérieures.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fonctions enterprise ajoutent des options de gouvernance et sécurité.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documentation officielle précise les prérequis par fonctionnalité.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https://docs.sonarsource.com/sonarqube-server/2026.1/analyzing-source-code/branch-analysis/introduction</a:t>
            </a:r>
          </a:p>
        </p:txBody>
      </p:sp>
      <p:pic>
        <p:nvPicPr>
          <p:cNvPr id="10" name="Picture 9" descr="visual_0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Branch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037/100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Ce que SonarQube n'est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SonarQube ne remplace ni les tests, ni la revue d'architecture, ni l'expertise humaine.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détecte des patterns et calcule des indicateurs.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ne prouve pas que l'application répond au besoin métier.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guide la décision, mais l'équipe garde le jugement final.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038/100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Valeur principale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valeur de SonarQube est de rendre la qualité visible au moment où l'équipe peut encore agir.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Des résultats compréhensibles pour les développeurs.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Des seuils clairs pour décider de merger ou non.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 historique pour mesurer l'amélioration.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https://docs.sonarsource.com/sonarqube-server/2026.1/quality-standards-administration/managing-quality-gates/introduction-to-quality-gates</a:t>
            </a:r>
          </a:p>
        </p:txBody>
      </p:sp>
      <p:pic>
        <p:nvPicPr>
          <p:cNvPr id="10" name="Picture 9" descr="visual_0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Quality 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039/100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Glossaire comme système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termes SonarQube forment une chaîne : règle, issue, métrique, mesure, 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Une règle cassée crée une issue.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issues alimentent des métriques et mesures.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quality gate décide si le niveau est acceptable.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040/100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Software qualities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trois qualités logicielles principales sont sécurité, fiabilité et maintenabilité.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Elles donnent plusieurs angles de lecture du même code.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En MQR, une règle peut impacter plusieurs qualités.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ratings synthétisent l'impact observé.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https://docs.sonarsource.com/sonarqube-server/quality-standards-administration/managing-rules/rules</a:t>
            </a:r>
          </a:p>
        </p:txBody>
      </p:sp>
      <p:pic>
        <p:nvPicPr>
          <p:cNvPr id="10" name="Picture 9" descr="visual_0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041/100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MQR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mode Multi-Quality Rule mesure l'impact d'une règle sur une ou plusieurs qualités.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Chaque qualité peut recevoir sa propre sévérité.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lecture est plus nuancée que le type unique historique.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nouvelles instances l'utilisent par défaut selon la documentation.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https://docs.sonarsource.com/sonarqube-server/instance-administration/analysis-functions/instance-mode/instance-mode-overview</a:t>
            </a:r>
          </a:p>
        </p:txBody>
      </p:sp>
      <p:pic>
        <p:nvPicPr>
          <p:cNvPr id="10" name="Picture 9" descr="visual_0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Instance Mode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042/100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Standard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mode Standard classe les issues en bugs, vulnerabilities, code smells et hotspots.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Chaque règle porte un type et une sévérité principale.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correspond au vocabulaire historique de SonarQube.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reste pertinent pour les équipes déjà organisées autour de ces types.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https://docs.sonarsource.com/sonarqube-server/instance-administration/analysis-functions/instance-mode/instance-mode-overview</a:t>
            </a:r>
          </a:p>
        </p:txBody>
      </p:sp>
      <p:pic>
        <p:nvPicPr>
          <p:cNvPr id="10" name="Picture 9" descr="visual_0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Instance Mode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043/100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règle est une pratique ou un standard de codage vérifié pendant l'analyse.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analyseurs exécutent les règles sur le code source.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Une règle cassée lève une issue ou un hotspot.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règles actives sont choisies par le quality profile.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https://docs.sonarsource.com/sonarqube-server/quality-standards-administration/managing-rules/rules</a:t>
            </a:r>
          </a:p>
        </p:txBody>
      </p:sp>
      <p:pic>
        <p:nvPicPr>
          <p:cNvPr id="10" name="Picture 9" descr="visual_0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044/100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Quality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 quality profile définit les règles appliquées à un langage donné.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Chaque projet a un profil par langage analysé.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profil Sonar way est fourni à l'installation.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profils personnalisés adaptent les exigences de l'organisation.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https://docs.sonarsource.com/sonarqube-server/quality-standards-administration/managing-quality-profiles/understanding-quality-profiles</a:t>
            </a:r>
          </a:p>
        </p:txBody>
      </p:sp>
      <p:pic>
        <p:nvPicPr>
          <p:cNvPr id="10" name="Picture 9" descr="visual_0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Quality Profiles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045/100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Sonar way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 way est le profil intégré conçu comme point de départ général.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est fourni par SonarSource.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vise des règles applicables à la majorité des projets.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peut être complété par des profils personnalisés.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https://docs.sonarsource.com/sonarqube-server/quality-standards-administration/managing-quality-profiles/understanding-quality-profiles</a:t>
            </a:r>
          </a:p>
        </p:txBody>
      </p:sp>
      <p:pic>
        <p:nvPicPr>
          <p:cNvPr id="10" name="Picture 9" descr="visual_0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Quality Profiles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046/100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Issue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issue est un problème dans le code levé par une règle.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porte une localisation, une sévérité et un statut.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peut être assignée, commentée, acceptée ou marquée faux positif.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est le niveau d'action principal pour les développeurs.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https://docs.sonarsource.com/sonarqube-server/user-guide/issues/solution-overview</a:t>
            </a:r>
          </a:p>
        </p:txBody>
      </p:sp>
      <p:pic>
        <p:nvPicPr>
          <p:cNvPr id="10" name="Picture 9" descr="visual_0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Issues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047/100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Issue 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issue localise le problème là où le développeur doit regarder.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localisation primaire affiche le message principal.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localisations secondaires expliquent le contexte.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 flow peut montrer le chemin d'une donnée jusqu'au sink.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048/100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Issue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cycle de vie d'une issue suit son état depuis la création jusqu'à la correction ou l'acceptation.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Une nouvelle issue est ouverte ou assignée selon l'analyse.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L'équipe peut l'accepter, la corriger ou la marquer faux positif.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analyses suivantes confirment sa correction.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https://docs.sonarsource.com/sonarqube-server/user-guide/issues/solution-overview</a:t>
            </a:r>
          </a:p>
        </p:txBody>
      </p:sp>
      <p:pic>
        <p:nvPicPr>
          <p:cNvPr id="10" name="Picture 9" descr="visual_0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Issues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049/100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Severity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sévérité indique l'impact attendu d'une issue ou d'une règle.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En MQR : Blocker, High, Medium, Low, Info.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En Standard : Blocker, Critical, Major, Minor, Info.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sert à prioriser et à calculer certains ratings.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050/100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 bug est une issue de fiabilité dans le vocabulaire Standard Experience.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signale un code probablement incorrect.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En MQR, l'équivalent est une issue de fiabilité.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L'objectif est de réduire les risques de panne ou comportement faux.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051/100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Code smell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 code smell est une issue de maintenabilité dans le vocabulaire Standard Experience.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ne casse pas forcément le programme immédiatement.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rend le code plus difficile à comprendre, réparer ou évoluer.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En MQR, l'équivalent est une issue de maintenabilité.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052/100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Vulnerability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vulnerability est une issue de sécurité qui doit être corrigée.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correspond à un problème qui impacte la sécurité applicative.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En MQR, l'équivalent est une issue de sécurité.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règles sécurité peuvent utiliser l'analyse de flux de données.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https://docs.sonarsource.com/sonarqube-server/quality-standards-administration/managing-rules/security-related-rules</a:t>
            </a:r>
          </a:p>
        </p:txBody>
      </p:sp>
      <p:pic>
        <p:nvPicPr>
          <p:cNvPr id="10" name="Picture 9" descr="visual_0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Security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053/100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Security hotspot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 hotspot est du code sensible qui exige une revue humaine avant décision.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peut être sûr selon le contexte applicatif.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peut aussi révéler un code à corriger.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différence clé avec une vulnérabilité est le besoin de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https://docs.sonarsource.com/sonarqube-server/2025.3/user-guide/security-hotspots/</a:t>
            </a:r>
          </a:p>
        </p:txBody>
      </p:sp>
      <p:pic>
        <p:nvPicPr>
          <p:cNvPr id="10" name="Picture 9" descr="visual_0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Security Hotspots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054/100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Dependency analysis SCA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SCA analyse les dépendances open source pour repérer risques de sécurité et licences.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Fonction Advanced Security disponible comme add-on à partir de l'édition Enterprise.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identifie vulnérabilités, risques de licence et informations SBOM.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risques de dépendances se corrigent souvent par mise à jour ou remplacement.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https://docs.sonarsource.com/sonarqube-server/latest/advanced-security/analyzing-projects-for-dependencies/</a:t>
            </a:r>
          </a:p>
        </p:txBody>
      </p:sp>
      <p:pic>
        <p:nvPicPr>
          <p:cNvPr id="10" name="Picture 9" descr="visual_0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Dependency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055/100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Hotspot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 hotspot suit un cycle de revue dédié : à revoir, reconnu, corrigé ou sûr.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statut initial est To review.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revue évalue le risque réel et les protections existantes.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résultat peut être Fixed ou Safe.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https://docs.sonarsource.com/sonarqube-server/2025.3/user-guide/security-hotspots/</a:t>
            </a:r>
          </a:p>
        </p:txBody>
      </p:sp>
      <p:pic>
        <p:nvPicPr>
          <p:cNvPr id="10" name="Picture 9" descr="visual_0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Security Hotspots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056/100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Remediation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remediation cost est le temps estimé pour corriger des issues.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est exprimé comme effort de correction.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est utilisé pour calculer la dette technique.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rend les problèmes maintenabilité comparables.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057/100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Technical debt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dette technique est le temps estimé pour corriger les issues de maintenabilité.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agrège les coûts de remédiation des code smells ou issues de maintenabilité.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se lit en minutes, heures ou jours selon l'affichage.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aide à mesurer le poids futur des compromis actuels.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058/100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Technical debt 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ratio de dette compare le coût de correction au coût estimé de développement.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donne un pourcentage de dette par rapport à la taille du code.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alimente la note de maintenabilité.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permet de comparer des projets de tailles différentes.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059/100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Measure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measure est la valeur d'une métrique pour un projet ou fichier à un instant donné.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Exemple : 125 lignes de code sur un fichier.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Exemple : 30,5 % de duplications sur un projet.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mesure varie au fil des analyses.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060/100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metric est un type de mesure : couverture, complexité, nombre d'issues, etc.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peut être quantitative ou qualitative.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peut porter sur le nouveau code ou le code global.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sert de base aux conditions de quality gate.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061/100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Overall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L'overall code désigne tout le code analysé : ancien et nouveau.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donne la santé globale de la base.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peut contenir un stock historique de dette.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Son amélioration est progressive avec Clean as You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062/100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New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new code est le code ajouté ou modifié par rapport à une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C'est la zone prioritaire de Clean as You Code.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En pull request, il correspond aux changements de la PR.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Sur branche, il dépend de la new code definition.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063/100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New code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new code definition est le réglage qui détermine ce qui est considéré comme nouveau.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peut dépendre d'une version, d'une période ou d'une branche de référence.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existe aux niveaux global, projet ou branche selon les capacités.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conditionne le périmètre du quality gate sur nouveau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https://docs.sonarsource.com/sonarqube-server/2026.1/instance-administration/analysis-functions/setting-new-code-definition-at-global-level</a:t>
            </a:r>
          </a:p>
        </p:txBody>
      </p:sp>
      <p:pic>
        <p:nvPicPr>
          <p:cNvPr id="10" name="Picture 9" descr="visual_0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New Code Definition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064/100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Baseline for new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baseline est le point de comparaison qui sépare ancien code et nouveau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réglage global s'applique par défaut aux nouveaux projets.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 projet peut définir sa propre baseline.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baseline doit correspondre au rythme de livraison de l'équipe.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https://docs.sonarsource.com/sonarqube-server/2026.1/instance-administration/analysis-functions/setting-new-code-definition-at-global-level</a:t>
            </a:r>
          </a:p>
        </p:txBody>
      </p:sp>
      <p:pic>
        <p:nvPicPr>
          <p:cNvPr id="10" name="Picture 9" descr="visual_0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New Code Definition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065/100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Quality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 quality gate est un ensemble de conditions qui décide si le code passe ou échoue.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répond à la question : le projet est-il prêt à être livré ?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combine métrique, opérateur et seuil.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peut être remonté à la CI ou à la pull request.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https://docs.sonarsource.com/sonarqube-server/2026.1/quality-standards-administration/managing-quality-gates/introduction-to-quality-gates</a:t>
            </a:r>
          </a:p>
        </p:txBody>
      </p:sp>
      <p:pic>
        <p:nvPicPr>
          <p:cNvPr id="10" name="Picture 9" descr="visual_0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Quality 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066/100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Sonar way quality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 way est le quality gate intégré recommandé pour protéger le nouveau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est activé par défaut et en lecture seule.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exige notamment zéro nouvelle issue.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impose revue des hotspots, couverture et duplications sur nouveau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https://docs.sonarsource.com/sonarqube-server/2026.1/quality-standards-administration/managing-quality-gates/introduction-to-quality-gates</a:t>
            </a:r>
          </a:p>
        </p:txBody>
      </p:sp>
      <p:pic>
        <p:nvPicPr>
          <p:cNvPr id="10" name="Picture 9" descr="visual_0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Quality 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067/100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condition de quality gate associe une métrique, un opérateur et une valeur d'erreur.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Exemple : issues blocker &gt; 0 signifie échec.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conditions peuvent viser nouveau code ou code global.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En pull request, seules les conditions sur nouveau code s'appliquent.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https://docs.sonarsource.com/sonarqube-server/2026.1/quality-standards-administration/managing-quality-gates/introduction-to-quality-gates</a:t>
            </a:r>
          </a:p>
        </p:txBody>
      </p:sp>
      <p:pic>
        <p:nvPicPr>
          <p:cNvPr id="10" name="Picture 9" descr="visual_0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Quality 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068/100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coverage indique quelle part du code exécutable est couverte par les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combine lignes couvertes et conditions évaluées.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couverture sur nouveau code est une condition fréquente.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Sonar way utilise un seuil de 80 % sur nouveau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069/100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Duplications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duplications mesurent les blocs ou lignes de code répétés.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Elles augmentent le coût de changement.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Elles favorisent des corrections partielles et incohérentes.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Sonar way limite la duplication sur nouveau code à 3 %.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070/100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Lines of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LOC représente les lignes de code analysées et sert à contextualiser plusieurs indicateurs.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taille influence la lecture des tendances.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ratio de dette utilise la taille du code.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éditions SonarQube peuvent dépendre du volume de LOC.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071/100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Cyclomatic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complexité cyclomatique compte les chemins possibles dans le flux d'exécution.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augmente avec les branches comme if, loops et switch.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aide à repérer des fonctions difficiles à tester.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reste une mesure quantitative de 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072/100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Cognitive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complexité cognitive estime la difficulté humaine à comprendre le flux du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complète la complexité cyclomatique.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pénalise les structures imbriquées et difficiles à lire.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se rapproche de la perception développeur de la maintenabilité.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073/100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Snapshot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 snapshot est l'état des mesures et issues d'un projet à un moment d'analyse.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 snapshot est généré à chaque analyse.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alimente l'historique et l'activité du projet.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snapshots anciens sont conservés de manière sélective.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074/100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Project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L'historique montre comment la santé du projet évolue dans le temps.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conserve des analyses précédentes sans tout garder indéfiniment.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permet de supprimer un mauvais snapshot hors dernière analyse.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évite de gonfler inutilement la base de données.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075/100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Branch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L'analyse de branche évalue une branche sans passer nécessairement par une pull request.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s'applique aux branches longues ou de fonctionnalité selon le besoin.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quality gate du projet s'applique à la branche.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new code peut être défini au niveau branche.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https://docs.sonarsource.com/sonarqube-server/2026.1/analyzing-source-code/branch-analysis/introduction</a:t>
            </a:r>
          </a:p>
        </p:txBody>
      </p:sp>
      <p:pic>
        <p:nvPicPr>
          <p:cNvPr id="10" name="Picture 9" descr="visual_0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Branch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076/100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Pull request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L'analyse de pull request se concentre sur les changements introduits par la PR.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s'exécute quand une PR est ouverte ou mise à jour.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résultats portent sur le nouveau code de la PR.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quality gate aide à garder les merges propres.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https://docs.sonarsource.com/sonarqube-server/2026.1/analyzing-source-code/pull-request-analysis/introduction</a:t>
            </a:r>
          </a:p>
        </p:txBody>
      </p:sp>
      <p:pic>
        <p:nvPicPr>
          <p:cNvPr id="10" name="Picture 9" descr="visual_0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Pull Request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077/100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Pull request decoration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décoration affiche les résultats SonarQube directement dans la plateforme DevOps.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reviewers voient le statut du quality gate sans changer d'outil.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annotations peuvent signaler les problèmes dans la PR.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L'équipe peut bloquer le merge si le gate échoue.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https://docs.sonarsource.com/sonarqube-server/2026.1/analyzing-source-code/pull-request-analysis/introduction</a:t>
            </a:r>
          </a:p>
        </p:txBody>
      </p:sp>
      <p:pic>
        <p:nvPicPr>
          <p:cNvPr id="10" name="Picture 9" descr="visual_0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Pull Request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078/100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External issue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external issue est détectée par un outil tiers puis importée dans SonarQube.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permet de centraliser certains résultats externes.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ne remplace pas les règles natives Sonar.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aide à unifier le reporting qualité.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079/100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Architecture logique globale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L'architecture relie scanner, serveur, moteur de calcul, index et base de données.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scanner produit un rapport depuis le code checkouté.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serveur traite le rapport de manière asynchrone.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données persistantes et indexées alimentent l'UI.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https://docs.sonarsource.com/sonarqube-server/server-installation/server-components-overview</a:t>
            </a:r>
          </a:p>
        </p:txBody>
      </p:sp>
      <p:pic>
        <p:nvPicPr>
          <p:cNvPr id="10" name="Picture 9" descr="visual_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Server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080/100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CI/CD host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host CI/CD est l'endroit où le scanner s'exécute sur le dépôt local.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pipeline clone le dépôt et checkout la branche.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build peut être exécuté avant l'analyse pour les langages compilés.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scanner lit fichiers et métadonnées SCM.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https://docs.sonarsource.com/sonarqube-server/10.8/analyzing-source-code/analysis-overview/</a:t>
            </a:r>
          </a:p>
        </p:txBody>
      </p:sp>
      <p:pic>
        <p:nvPicPr>
          <p:cNvPr id="10" name="Picture 9" descr="visual_0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Analysis Overview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081/100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Scanner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scanner bootstrappe le moteur et les analyseurs nécessaires depuis le serveur.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récupère une version compatible avec SonarQube Server.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télécharge seulement les analyseurs nécessaires aux langages détectés.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cache accélère les analyses suivantes.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https://docs.sonarsource.com/sonarqube-server/10.8/analyzing-source-code/analysis-overview/</a:t>
            </a:r>
          </a:p>
        </p:txBody>
      </p:sp>
      <p:pic>
        <p:nvPicPr>
          <p:cNvPr id="10" name="Picture 9" descr="visual_0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Analysis Overview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082/100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Analysis 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analysis parameters configurent l'analyse via des propriétés sonar.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Ils peuvent venir de l'UI, de fichiers de configuration ou de la ligne de commande.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ligne de commande a la priorité la plus élevée.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clés importantes incluent sonar.projectKey, sonar.host.url et sonar.token.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https://docs.sonarsource.com/sonarqube-server/latest/analyzing-source-code/analysis-parameters/</a:t>
            </a:r>
          </a:p>
        </p:txBody>
      </p:sp>
      <p:pic>
        <p:nvPicPr>
          <p:cNvPr id="10" name="Picture 9" descr="visual_0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Analysis Parameters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083/100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Rapport d'analyse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rapport transporte les résultats du scanner vers le serveur pour calcul.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contient issues, mesures et informations utiles à l'analyse.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serveur calcule le quality gate après réception.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résultat peut être renvoyé à la CI.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https://docs.sonarsource.com/sonarqube-server/10.8/analyzing-source-code/analysis-overview/</a:t>
            </a:r>
          </a:p>
        </p:txBody>
      </p:sp>
      <p:pic>
        <p:nvPicPr>
          <p:cNvPr id="10" name="Picture 9" descr="visual_0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Analysis Overview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084/100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Web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process Web sert l'interface utilisateur et les API SonarQube.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donne accès aux projets, issues, mesures et paramètres.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participe à la cohérence des écritures avec les données indexées.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peut reconstruire les index Elasticsearch en reprise.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https://docs.sonarsource.com/sonarqube-server/server-installation/server-components-overview</a:t>
            </a:r>
          </a:p>
        </p:txBody>
      </p:sp>
      <p:pic>
        <p:nvPicPr>
          <p:cNvPr id="10" name="Picture 9" descr="visual_0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Server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085/100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Compute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Compute Engine traite les rapports d'analyse et enregistre les résultats.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consomme la file de jobs alimentée par les scanners.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calcule mesures, issues, nouveaux problèmes et quality gate.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sauvegarde les résultats dans la base SonarQube.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https://docs.sonarsource.com/sonarqube-server/server-installation/server-components-overview</a:t>
            </a:r>
          </a:p>
        </p:txBody>
      </p:sp>
      <p:pic>
        <p:nvPicPr>
          <p:cNvPr id="10" name="Picture 9" descr="visual_0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Server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086/100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Elasticsearch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Elasticsearch maintient une copie indexée de la base pour accélérer l'accès.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sert notamment la recherche et certaines vues de l'interface.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est cohérent avec la base via Web et Compute Engine.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index peuvent être reconstruits depuis les données persistantes.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https://docs.sonarsource.com/sonarqube-server/server-installation/server-components-overview</a:t>
            </a:r>
          </a:p>
        </p:txBody>
      </p:sp>
      <p:pic>
        <p:nvPicPr>
          <p:cNvPr id="10" name="Picture 9" descr="visual_0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Server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087/100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Base de données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base SonarQube conserve les métriques, issues, configurations et files de jobs.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PostgreSQL, Microsoft SQL Server et Oracle sont supportés.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H2 est utile pour tests et essais, pas pour la production.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production recommande une base séparée avec faible latence.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https://docs.sonarsource.com/sonarqube-server/server-installation/installing-the-database</a:t>
            </a:r>
          </a:p>
        </p:txBody>
      </p:sp>
      <p:pic>
        <p:nvPicPr>
          <p:cNvPr id="10" name="Picture 9" descr="visual_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088/100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modèle de permissions contrôle qui voit, administre et lance les analyses.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permissions globales couvrent système, quality gates, profiles et analyses.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permissions projet couvrent browse, source code, issues, hotspots et administration.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templates appliquent des droits par défaut aux nouveaux projets.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https://docs.sonarsource.com/sonarqube-server/2026.1/instance-administration/user-management/user-permissions</a:t>
            </a:r>
          </a:p>
        </p:txBody>
      </p:sp>
      <p:pic>
        <p:nvPicPr>
          <p:cNvPr id="10" name="Picture 9" descr="visual_0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Permissions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089/100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Process Sonar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process Sonar supervise la disponibilité des processus Java principaux.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orchestre Web, Compute Engine et Elasticsearch.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contribue au démarrage et à la supervision locale.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fait partie du modèle mono-instance standard.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https://docs.sonarsource.com/sonarqube-server/server-installation/server-components-overview</a:t>
            </a:r>
          </a:p>
        </p:txBody>
      </p:sp>
      <p:pic>
        <p:nvPicPr>
          <p:cNvPr id="10" name="Picture 9" descr="visual_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Server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090/100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Reference architecture 10M LOC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L'architecture officielle jusqu'à 10M LOC sépare serveur, proxy, base et CI.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VM dédiée avec SonarQube Server et proxy HTTPS.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Base PostgreSQL sur host séparé.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Intégration CI, authentification, monitoring et notifications.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https://docs.sonarsource.com/sonarqube-server/server-installation/reference-architectures/up-to-10m-loc</a:t>
            </a:r>
          </a:p>
        </p:txBody>
      </p:sp>
      <p:pic>
        <p:nvPicPr>
          <p:cNvPr id="10" name="Picture 9" descr="visual_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Reference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091/100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Data Center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Data Center Edition vise la haute disponibilité avec cluster applicatif et noeuds de recherche.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s'adresse aux environnements où la disponibilité est critique.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documentation décrit les exigences spécifiques de cluster.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sépare davantage les responsabilités d'exécution.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https://docs.sonarsource.com/sonarqube-server/server-installation/server-components-overview</a:t>
            </a:r>
          </a:p>
        </p:txBody>
      </p:sp>
      <p:pic>
        <p:nvPicPr>
          <p:cNvPr id="10" name="Picture 9" descr="visual_0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Server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092/100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Web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Web API permet d'intégrer SonarQube à des outils externes et automatisations.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endpoints sont documentés dans l'interface SonarQube Server.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L'authentification recommandée utilise un token bearer.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L'API v2 remplace progressivement certains endpoints.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https://docs.sonarsource.com/sonarqube-server/extension-guide/web-api</a:t>
            </a:r>
          </a:p>
        </p:txBody>
      </p:sp>
      <p:pic>
        <p:nvPicPr>
          <p:cNvPr id="10" name="Picture 9" descr="visual_0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Web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093/100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Webhooks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webhooks notifient des systèmes externes quand une analyse est terminée.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Ils envoient une requête HTTP(S) POST avec un payload JSON.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Ils peuvent être configurés aux niveaux global et projet.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Ils transmettent notamment le statut de quality gate.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https://docs.sonarsource.com/sonarqube-server/latest/project-administration/webhooks/</a:t>
            </a:r>
          </a:p>
        </p:txBody>
      </p:sp>
      <p:pic>
        <p:nvPicPr>
          <p:cNvPr id="10" name="Picture 9" descr="visual_0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Webhooks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094/100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Référence : glossaire officiel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source centrale pour les définitions de concepts SonarQube.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Bug, code smell, issue, measure, metric, new code.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Quality gate, quality profile, remediation cost, rule, snapshot.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Security hotspot, vulnerability, technical debt.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892040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2"/>
              </a:rPr>
              <a:t>Glossaire officiel: https://docs.sonarsource.com/sonarqube-server/glossary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095/100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Référence : Clean as You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pages officielles qui expliquent la méthode et le processus.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Principe : le nouveau code doit respecter le standard qualité.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Processus : profile, gate, new code definition, analyse fréquente.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Bénéfices : réduction de la dette et amélioration continue.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https://docs.sonarsource.com/sonarqube-server/10.8/core-concepts/clean-as-you-code/introduction</a:t>
            </a:r>
          </a:p>
        </p:txBody>
      </p:sp>
      <p:pic>
        <p:nvPicPr>
          <p:cNvPr id="10" name="Picture 9" descr="visual_0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892040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2"/>
              </a:rPr>
              <a:t>Clean as You Code: https://docs.sonarsource.com/sonarqube-server/10.8/core-concepts/clean-as-you-code/introduction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48072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4"/>
              </a:rPr>
              <a:t>Processus Clean as You Code: https://docs.sonarsource.com/sonarqube-server/10.7/core-concepts/clean-as-you-code/overview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04104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5"/>
              </a:rPr>
              <a:t>New Code Definition: https://docs.sonarsource.com/sonarqube-server/2026.1/instance-administration/analysis-functions/setting-new-code-definition-at-global-level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Clean as You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096/100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Référence : règles et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pages officielles pour comprendre comment les problèmes sont détectés et suivis.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Rules : typologie, MQR, Standard Experience, sévérités.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Issues : identification, assignation et cycle de vie.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Security : vulnérabilités, hotspots et règles de sécurité.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https://docs.sonarsource.com/sonarqube-server/quality-standards-administration/managing-rules/rules</a:t>
            </a:r>
          </a:p>
        </p:txBody>
      </p:sp>
      <p:pic>
        <p:nvPicPr>
          <p:cNvPr id="10" name="Picture 9" descr="visual_0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892040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2"/>
              </a:rPr>
              <a:t>Rules: https://docs.sonarsource.com/sonarqube-server/quality-standards-administration/managing-rules/rules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48072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4"/>
              </a:rPr>
              <a:t>Issues: https://docs.sonarsource.com/sonarqube-server/user-guide/issues/solution-overview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04104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5"/>
              </a:rPr>
              <a:t>Security Hotspots: https://docs.sonarsource.com/sonarqube-server/2025.3/user-guide/security-hotspots/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0136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6"/>
              </a:rPr>
              <a:t>Security Rules: https://docs.sonarsource.com/sonarqube-server/quality-standards-administration/managing-rules/security-related-rules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097/100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Référence : métriques et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pages officielles pour les mesures, profils et gates.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Metrics : définitions de couverture, dette, duplications, complexité.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Quality Gates : conditions, Sonar way et calcul en branches/PR.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Quality Profiles : règles actives par langage.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892040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2"/>
              </a:rPr>
              <a:t>Metrics: https://docs.sonarsource.com/sonarqube-server/user-guide/code-metrics/metrics-definition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48072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4"/>
              </a:rPr>
              <a:t>Quality Gates: https://docs.sonarsource.com/sonarqube-server/2026.1/quality-standards-administration/managing-quality-gates/introduction-to-quality-gates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04104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5"/>
              </a:rPr>
              <a:t>Quality Profiles: https://docs.sonarsource.com/sonarqube-server/quality-standards-administration/managing-quality-profiles/understanding-quality-profiles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0136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6"/>
              </a:rPr>
              <a:t>Instance Mode: https://docs.sonarsource.com/sonarqube-server/instance-administration/analysis-functions/instance-mode/instance-mode-overview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098/100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Référence : analyse et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pages officielles pour comprendre le chemin technique du code au résultat.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Project analysis setup et analysis overview.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Scanners, CI integration, pull request et branch analysis.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Server components, database et reference architecture.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https://docs.sonarsource.com/sonarqube-server/10.8/analyzing-source-code/analysis-overview/</a:t>
            </a:r>
          </a:p>
        </p:txBody>
      </p:sp>
      <p:pic>
        <p:nvPicPr>
          <p:cNvPr id="10" name="Picture 9" descr="visual_0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892040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4"/>
              </a:rPr>
              <a:t>Project Analysis Setup: https://docs.sonarsource.com/sonarqube-server/analyzing-source-code/overview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48072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2"/>
              </a:rPr>
              <a:t>Analysis Overview: https://docs.sonarsource.com/sonarqube-server/10.8/analyzing-source-code/analysis-overview/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04104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5"/>
              </a:rPr>
              <a:t>CI Integration: https://docs.sonarsource.com/sonarqube-server/analyzing-source-code/ci-integration/overview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0136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6"/>
              </a:rPr>
              <a:t>Scanner CLI: https://docs.sonarsource.com/sonarqube-server/analyzing-source-code/scanners/sonarscanner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16168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7"/>
              </a:rPr>
              <a:t>Pull Request Analysis: https://docs.sonarsource.com/sonarqube-server/2026.1/analyzing-source-code/pull-request-analysis/introduction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892040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8"/>
              </a:rPr>
              <a:t>Branch Analysis: https://docs.sonarsource.com/sonarqube-server/2026.1/analyzing-source-code/branch-analysis/introduction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148072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9"/>
              </a:rPr>
              <a:t>Server Components: https://docs.sonarsource.com/sonarqube-server/server-installation/server-components-overview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404104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10"/>
              </a:rPr>
              <a:t>Database: https://docs.sonarsource.com/sonarqube-server/server-installation/installing-the-database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660136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11"/>
              </a:rPr>
              <a:t>Reference Architecture: https://docs.sonarsource.com/sonarqube-server/server-installation/reference-architectures/up-to-10m-loc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916168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12"/>
              </a:rPr>
              <a:t>Analysis Parameters: https://docs.sonarsource.com/sonarqube-server/latest/analyzing-source-code/analysis-parameters/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Analysis Overview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099/100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Référence : maintenance et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pages officielles pour les versions, le support et les intégrations programmatiques.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Release cycle : nouvelle version tous les deux mois et LTA annuelle.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Web API : accès aux fonctionnalités depuis des applications.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Sources officielles consultées le 08/05/2026.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https://docs.sonarsource.com/sonarqube-server/server-update-and-maintenance/update/release-cycle-model</a:t>
            </a:r>
          </a:p>
        </p:txBody>
      </p:sp>
      <p:pic>
        <p:nvPicPr>
          <p:cNvPr id="10" name="Picture 9" descr="visual_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892040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2"/>
              </a:rPr>
              <a:t>Release Cycle: https://docs.sonarsource.com/sonarqube-server/server-update-and-maintenance/update/release-cycle-model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48072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4"/>
              </a:rPr>
              <a:t>Web API: https://docs.sonarsource.com/sonarqube-server/extension-guide/web-api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04104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5"/>
              </a:rPr>
              <a:t>Supported Languages: https://docs.sonarsource.com/sonarqube-server/2026.1/analyzing-source-code/languages/overview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0136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6"/>
              </a:rPr>
              <a:t>Permissions: https://docs.sonarsource.com/sonarqube-server/2026.1/instance-administration/user-management/user-permissions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16168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7"/>
              </a:rPr>
              <a:t>Project Permissions: https://docs.sonarsource.com/sonarqube-server/2026.1/project-administration/setting-project-permissions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892040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8"/>
              </a:rPr>
              <a:t>Applications: https://docs.sonarsource.com/sonarqube-server/user-guide/applications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148072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9"/>
              </a:rPr>
              <a:t>Advanced Security: https://docs.sonarsource.com/sonarqube-server/latest/advanced-security/introduction/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404104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10"/>
              </a:rPr>
              <a:t>Dependency Analysis: https://docs.sonarsource.com/sonarqube-server/latest/advanced-security/analyzing-projects-for-dependencies/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Release Cycle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100/100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8061</Words>
  <Application>Microsoft Office PowerPoint</Application>
  <PresentationFormat>Grand écran</PresentationFormat>
  <Paragraphs>1128</Paragraphs>
  <Slides>100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100</vt:i4>
      </vt:variant>
    </vt:vector>
  </HeadingPairs>
  <TitlesOfParts>
    <vt:vector size="104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Yaye khady Gueye</cp:lastModifiedBy>
  <cp:revision>2</cp:revision>
  <dcterms:created xsi:type="dcterms:W3CDTF">2013-01-27T09:14:16Z</dcterms:created>
  <dcterms:modified xsi:type="dcterms:W3CDTF">2026-05-08T08:37:59Z</dcterms:modified>
  <cp:category/>
</cp:coreProperties>
</file>