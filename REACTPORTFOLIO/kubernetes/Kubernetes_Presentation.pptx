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Kubernetes</a:t>
            </a:r>
          </a:p>
          <a:p>
            <a:pPr algn="ctr">
              <a:spcBef>
                <a:spcPts val="1600"/>
              </a:spcBef>
              <a:defRPr sz="2000">
                <a:solidFill>
                  <a:srgbClr val="94A3B8"/>
                </a:solidFill>
              </a:defRPr>
            </a:pPr>
            <a:r>
              <a:t>Orchestration de conteneurs</a:t>
            </a:r>
            <a:br/>
            <a:r>
              <a:t>Projet fil rouge - Portfolio React Express</a:t>
            </a:r>
            <a:br/>
            <a:r>
              <a:t>Groupe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5.1  Problematique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5.2  Presentation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5.3  Concepts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5.4  Architecture d'un cluster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5.5  Communication (interne / externe)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5.6  Installation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5.7  Commandes de 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09728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Problematique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Limites de Docker 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Pas de haute disponibilite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Pas de scaling automatique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Deploiement mono-serveur uniquement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Mises a jour avec temps d'arret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Secrets en clair dans les fichiers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Pas de self-healing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Ce que Kubernetes resout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Probleme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Docker Compose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Kubernetes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Crash conteneur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Intervention manuelle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Auto-restart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Scalabilite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Manuelle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HPA automatique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Haute dispo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ReplicaSets multi-noeuds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Mise a jour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Downtime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Rolling update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Secrets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 clair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Objets chiffres + RBAC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09728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Qu'est-ce que Kubernetes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Plateforme open-source d'orchestration de conteneurs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Cree par Google, open-source depuis 2014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Maintenu par la CNCF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Automatise deploiement, scaling et gestion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Standard cloud-native de l'industrie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Fonctionnalites 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Self-healing : redemarrage et remplacement auto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Auto-scaling : HPA, VPA, Cluster Autoscaler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Service Discovery + Load Balancing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Rolling Updates + Rollback instantane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Configuration declarative (YAML)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Extensible via CRDs et Operators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09728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Concepts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Machine (physique ou VM) dans le cluster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Master Node (Control Plane) :</a:t>
            </a:r>
          </a:p>
          <a:p>
            <a:pPr>
              <a:spcAft>
                <a:spcPts val="1000"/>
              </a:spcAft>
              <a:defRPr sz="1700">
                <a:solidFill>
                  <a:srgbClr val="94A3B8"/>
                </a:solidFill>
              </a:defRPr>
            </a:pPr>
            <a:r>
              <a:t>   API Server, Scheduler, Controller Manager, etcd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Worker Node :</a:t>
            </a:r>
          </a:p>
          <a:p>
            <a:pPr>
              <a:spcAft>
                <a:spcPts val="1000"/>
              </a:spcAft>
              <a:defRPr sz="1700">
                <a:solidFill>
                  <a:srgbClr val="94A3B8"/>
                </a:solidFill>
              </a:defRPr>
            </a:pPr>
            <a:r>
              <a:t>   kubelet, kube-proxy, Container Runtime, Pods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Plus petite unite deployable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Contient 1+ conteneurs (meme reseau/stockage)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Adresse IP unique dans le cluster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Ephemere : peut etre detruit/recree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ReplicaSet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ReplicaSet : maintient N pods actifs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Deployment : gere ReplicaSet + updates</a:t>
            </a:r>
          </a:p>
          <a:p>
            <a:pPr>
              <a:spcAft>
                <a:spcPts val="1000"/>
              </a:spcAft>
              <a:defRPr sz="1700">
                <a:solidFill>
                  <a:srgbClr val="94A3B8"/>
                </a:solidFill>
              </a:defRPr>
            </a:pPr>
            <a:r>
              <a:t>   - Rolling updates (zero downtime)</a:t>
            </a:r>
          </a:p>
          <a:p>
            <a:pPr>
              <a:spcAft>
                <a:spcPts val="1000"/>
              </a:spcAft>
              <a:defRPr sz="1700">
                <a:solidFill>
                  <a:srgbClr val="94A3B8"/>
                </a:solidFill>
              </a:defRPr>
            </a:pPr>
            <a:r>
              <a:t>   - Historique des revisions</a:t>
            </a:r>
          </a:p>
          <a:p>
            <a:pPr>
              <a:spcAft>
                <a:spcPts val="1000"/>
              </a:spcAft>
              <a:defRPr sz="1700">
                <a:solidFill>
                  <a:srgbClr val="94A3B8"/>
                </a:solidFill>
              </a:defRPr>
            </a:pPr>
            <a:r>
              <a:t>   - Rollback en 1 commande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Notre projet : 2 replicas frontend + 2 backend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IP stable pour un ensemble de pods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ClusterIP : interne au cluster (defaut)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NodePort : port sur chaque noeud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LoadBalancer : IP publique cloud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DNS : backend-service.portfolio.svc.cluster.local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Ingress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Routage HTTP/HTTPS externe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Routage par path ou hostname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Terminaison TLS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Necessite un Ingress Controller (nginx)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portfolio.local/     -&gt; frontend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portfolio.local/api  -&gt; backend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ConfigMap, Secret, Volume, StatefulSet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ConfigMap : config non-sensible (PORT, NODE_ENV)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Secret : donnees sensibles (MONGO_URI, passwords)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PersistentVolume : stockage durable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PersistentVolumeClaim : demande de stockage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StatefulSet : apps stateful (MongoDB)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09728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Control Plane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5303520"/>
          </a:xfrm>
          <a:prstGeom prst="roundRect">
            <a:avLst/>
          </a:prstGeom>
          <a:solidFill>
            <a:srgbClr val="131325"/>
          </a:solidFill>
          <a:ln w="1270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CONTROL PLANE (Master)</a:t>
            </a:r>
            <a:br/>
            <a:r>
              <a:t>======================</a:t>
            </a:r>
            <a:br/>
            <a:br/>
            <a:r>
              <a:t>┌─────────────┐  ┌────────────┐  ┌───────────────────┐  ┌────────┐</a:t>
            </a:r>
            <a:br/>
            <a:r>
              <a:t>│  API Server │  │  Scheduler │  │ Controller Manager │  │  etcd  │</a:t>
            </a:r>
            <a:br/>
            <a:r>
              <a:t>│             │  │            │  │                   │  │        │</a:t>
            </a:r>
            <a:br/>
            <a:r>
              <a:t>│ Expose API  │  │ Place pods │  │ Boucle controle   │  │ State  │</a:t>
            </a:r>
            <a:br/>
            <a:r>
              <a:t>│ Valide obj  │  │ sur noeuds │  │ Maintient desired │  │ store  │</a:t>
            </a:r>
            <a:br/>
            <a:r>
              <a:t>└─────────────┘  └────────────┘  └───────────────────┘  └────────┘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Architecture du projet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5303520"/>
          </a:xfrm>
          <a:prstGeom prst="roundRect">
            <a:avLst/>
          </a:prstGeom>
          <a:solidFill>
            <a:srgbClr val="131325"/>
          </a:solidFill>
          <a:ln w="1270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           Namespace: portfolio</a:t>
            </a:r>
            <a:br/>
            <a:r>
              <a:t>           ======================</a:t>
            </a:r>
            <a:br/>
            <a:br/>
            <a:r>
              <a:t>Internet --&gt; Ingress (nginx)</a:t>
            </a:r>
            <a:br/>
            <a:r>
              <a:t>                 |</a:t>
            </a:r>
            <a:br/>
            <a:r>
              <a:t>         +-------+--------+</a:t>
            </a:r>
            <a:br/>
            <a:r>
              <a:t>         |                |</a:t>
            </a:r>
            <a:br/>
            <a:r>
              <a:t>         v                v</a:t>
            </a:r>
            <a:br/>
            <a:r>
              <a:t>  frontend-service   backend-service</a:t>
            </a:r>
            <a:br/>
            <a:r>
              <a:t>      :80                :5000</a:t>
            </a:r>
            <a:br/>
            <a:r>
              <a:t>         |                |</a:t>
            </a:r>
            <a:br/>
            <a:r>
              <a:t>    +----+----+      +----+----+</a:t>
            </a:r>
            <a:br/>
            <a:r>
              <a:t>    |         |      |         |</a:t>
            </a:r>
            <a:br/>
            <a:r>
              <a:t>   Pod F1   Pod F2  Pod B1   Pod B2 --&gt; mongo-service:27017</a:t>
            </a:r>
            <a:br/>
            <a:r>
              <a:t>                                              |</a:t>
            </a:r>
            <a:br/>
            <a:r>
              <a:t>  Deployment(2)    Deployment(2)         StatefulSet</a:t>
            </a:r>
            <a:br/>
            <a:r>
              <a:t>                                          + PVC 2Gi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09728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Communication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Communication interne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DNS CoreDNS : &lt;service&gt;.&lt;namespace&gt;.svc.cluster.local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Pod-to-Pod : IP unique, CNI plugin (Calico, Flannel)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Pod-to-Service : ClusterIP + kube-proxy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Notre projet :</a:t>
            </a:r>
          </a:p>
          <a:p>
            <a:pPr>
              <a:spcAft>
                <a:spcPts val="1000"/>
              </a:spcAft>
              <a:defRPr sz="1700">
                <a:solidFill>
                  <a:srgbClr val="94A3B8"/>
                </a:solidFill>
              </a:defRPr>
            </a:pPr>
            <a:r>
              <a:t>   Frontend -&gt; backend-service:5000</a:t>
            </a:r>
          </a:p>
          <a:p>
            <a:pPr>
              <a:spcAft>
                <a:spcPts val="1000"/>
              </a:spcAft>
              <a:defRPr sz="1700">
                <a:solidFill>
                  <a:srgbClr val="94A3B8"/>
                </a:solidFill>
              </a:defRPr>
            </a:pPr>
            <a:r>
              <a:t>   Backend -&gt; mongo-service:27017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Communication externe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NodePort : port statique sur chaque noeud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LoadBalancer : cloud provider (AWS ELB, GCP LB)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Ingress : routage HTTP L7 (notre choix)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NetworkPolicy : securite reseau</a:t>
            </a:r>
          </a:p>
          <a:p>
            <a:pPr>
              <a:spcAft>
                <a:spcPts val="1000"/>
              </a:spcAft>
              <a:defRPr sz="1700">
                <a:solidFill>
                  <a:srgbClr val="94A3B8"/>
                </a:solidFill>
              </a:defRPr>
            </a:pPr>
            <a:r>
              <a:t>   MongoDB accessible UNIQUEMENT par le backend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09728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Installation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Options locales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Docker Desktop : Settings &gt; Kubernetes &gt; Enable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Minikube : minikube start --driver=docker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Kind : kind create cluster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kubectl : choco install kubernetes-cli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Ingress : minikube addons enable ingress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Deployer le projet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5303520"/>
          </a:xfrm>
          <a:prstGeom prst="roundRect">
            <a:avLst/>
          </a:prstGeom>
          <a:solidFill>
            <a:srgbClr val="131325"/>
          </a:solidFill>
          <a:ln w="1270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# Build images</a:t>
            </a:r>
            <a:br/>
            <a:r>
              <a:t>docker build -t portfolio-frontend ./reactportfolio</a:t>
            </a:r>
            <a:br/>
            <a:r>
              <a:t>docker build -t portfolio-backend "./EXPRESSJS PORTFOLIO"</a:t>
            </a:r>
            <a:br/>
            <a:br/>
            <a:r>
              <a:t># Charger dans Minikube</a:t>
            </a:r>
            <a:br/>
            <a:r>
              <a:t>minikube image load portfolio-frontend:latest</a:t>
            </a:r>
            <a:br/>
            <a:r>
              <a:t>minikube image load portfolio-backend:latest</a:t>
            </a:r>
            <a:br/>
            <a:br/>
            <a:r>
              <a:t># Deployer</a:t>
            </a:r>
            <a:br/>
            <a:r>
              <a:t>cd kubernetes</a:t>
            </a:r>
            <a:br/>
            <a:r>
              <a:t>./deploy.sh up</a:t>
            </a:r>
            <a:br/>
            <a:br/>
            <a:r>
              <a:t># Ajouter dans /etc/hosts</a:t>
            </a:r>
            <a:br/>
            <a:r>
              <a:t>127.0.0.1 portfolio.local</a:t>
            </a:r>
            <a:br/>
            <a:br/>
            <a:r>
              <a:t># Acceder : http://portfolio.local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09728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5.7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Commandes de base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Commandes essentielles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5303520"/>
          </a:xfrm>
          <a:prstGeom prst="roundRect">
            <a:avLst/>
          </a:prstGeom>
          <a:solidFill>
            <a:srgbClr val="131325"/>
          </a:solidFill>
          <a:ln w="1270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kubectl get nodes                           # Noeuds du cluster</a:t>
            </a:r>
            <a:br/>
            <a:r>
              <a:t>kubectl get pods -n portfolio               # Pods du namespace</a:t>
            </a:r>
            <a:br/>
            <a:r>
              <a:t>kubectl get svc -n portfolio                # Services</a:t>
            </a:r>
            <a:br/>
            <a:r>
              <a:t>kubectl get all -n portfolio                # Tout</a:t>
            </a:r>
            <a:br/>
            <a:br/>
            <a:r>
              <a:t>kubectl describe pod &lt;name&gt; -n portfolio    # Details</a:t>
            </a:r>
            <a:br/>
            <a:r>
              <a:t>kubectl logs -f &lt;pod&gt; -n portfolio          # Logs temps reel</a:t>
            </a:r>
            <a:br/>
            <a:r>
              <a:t>kubectl exec -it &lt;pod&gt; -n portfolio -- sh   # Shell dans pod</a:t>
            </a:r>
            <a:br/>
            <a:br/>
            <a:r>
              <a:t>kubectl scale deployment backend --replicas=4 -n portfolio</a:t>
            </a:r>
            <a:br/>
            <a:r>
              <a:t>kubectl rollout status deployment/backend -n portfolio</a:t>
            </a:r>
            <a:br/>
            <a:r>
              <a:t>kubectl rollout undo deployment/backend -n portfolio</a:t>
            </a:r>
            <a:br/>
            <a:br/>
            <a:r>
              <a:t>kubectl port-forward svc/frontend-service 3000:80 -n portfolio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09728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Ce qui est deploye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Namespace : portfolio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Frontend : 2 pods (Deployment + Service + HPA)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Backend : 2 pods (Deployment + Service + HPA)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MongoDB : StatefulSet + PVC 2Gi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Ingress nginx : portfolio.local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NetworkPolicy : acces mongo restreint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Demo 1 : Self-healing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kubectl delete pod -l app=backend -n portfolio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-&gt; Le pod est recree automatiquement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-&gt; Zero intervention, l'app reste disponible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-&gt; Le ReplicaSet maintient toujours 2 pods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Demo 2 : Scaling + Rolling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# Scaler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kubectl scale deployment backend --replicas=4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# Update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kubectl set image deployment/backend backend=v2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-&gt; Mise a jour progressive, zero downtime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Docker Compose -&gt; Kubernetes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Docker Compose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Kubernetes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Fichier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services.frontend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Deployment + Service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frontend-deployment.yaml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services.mongo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StatefulSet + Headless Svc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mongo-statefulset.yaml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volumes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PV + PVC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mongo-pv.yaml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ConfigMap + Secret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configmap/secret.yaml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ports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Ingress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ingress.yaml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(aucun)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HPA auto-scaling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hpa.yaml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09728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5.9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kubernetes.io/docs/ - Documentation officielle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kubernetes.io/docs/reference/kubectl/cheatsheet/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gateway-api.sigs.k8s.io/ - Gateway API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minikube.sigs.k8s.io - Minikube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helm.sh - Helm (package manager)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killercoda.com/kubernetes - Tutoriels interactifs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Merci !</a:t>
            </a:r>
          </a:p>
          <a:p>
            <a:pPr algn="ctr">
              <a:spcBef>
                <a:spcPts val="1600"/>
              </a:spcBef>
              <a:defRPr sz="2000">
                <a:solidFill>
                  <a:srgbClr val="94A3B8"/>
                </a:solidFill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