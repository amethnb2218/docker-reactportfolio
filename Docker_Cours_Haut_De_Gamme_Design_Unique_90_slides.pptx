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Vue d’ensemble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20903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188720"/>
            <a:ext cx="66751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F172A"/>
                </a:solidFill>
                <a:latin typeface="Aptos Display"/>
              </a:rPr>
              <a:t>Docker : concepts, utilisation et bonnes pratiques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78608"/>
            <a:ext cx="5577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Support de cours progressif • débutant à intermédiaire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794760"/>
            <a:ext cx="1664208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074EA6"/>
                </a:solidFill>
                <a:latin typeface="Aptos"/>
              </a:rPr>
              <a:t>Comprendre les conteneurs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87751" y="3794760"/>
            <a:ext cx="1664208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074EA6"/>
                </a:solidFill>
                <a:latin typeface="Aptos"/>
              </a:rPr>
              <a:t>Lancer des applications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1" y="3794760"/>
            <a:ext cx="1664208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074EA6"/>
                </a:solidFill>
                <a:latin typeface="Aptos"/>
              </a:rPr>
              <a:t>Travailler proprement en équipe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ARCHITECTURE MODERNE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44968" y="2450592"/>
            <a:ext cx="493776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66760" y="2450592"/>
            <a:ext cx="493776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88552" y="2450592"/>
            <a:ext cx="493776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10344" y="2450592"/>
            <a:ext cx="493776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55864" y="2944368"/>
            <a:ext cx="493776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77656" y="2944368"/>
            <a:ext cx="493776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99448" y="2944368"/>
            <a:ext cx="493776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66760" y="3438144"/>
            <a:ext cx="493776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88552" y="3438144"/>
            <a:ext cx="493776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16952" y="4334256"/>
            <a:ext cx="2971800" cy="512064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44968" y="4498848"/>
            <a:ext cx="272491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Vue d’ensemble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41807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Objectifs de la 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Identifier les bons usages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Manipuler images et conteneurs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Préparer des projets reproductibles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VUE D’ENSEMBLE</a:t>
            </a:r>
          </a:p>
        </p:txBody>
      </p:sp>
      <p:sp>
        <p:nvSpPr>
          <p:cNvPr id="32" name="Oval 31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Vue d’ensemble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6271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en trois briques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Image : modèle de départ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Conteneur : application lancée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Engine : moteur d’exécution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VUE D’ENSEMBLE</a:t>
            </a:r>
          </a:p>
        </p:txBody>
      </p:sp>
      <p:sp>
        <p:nvSpPr>
          <p:cNvPr id="32" name="Oval 31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Pourquoi Docker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83615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Problèmes avant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Applications installées à la main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Dépendances dispersées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Corrections lentes et risquées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AVANT 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71576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52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DEV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95944" y="303580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95944" y="341985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TEST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2715768"/>
            <a:ext cx="841248" cy="1115568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36992" y="4270248"/>
            <a:ext cx="2523744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17536" y="4517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environnements différents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Pourquoi Docker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0452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Limites des installations classiques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Chaque serveur devient unique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Mises à jour manuelles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Retour arrière compliqué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AVANT 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71576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52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DEV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95944" y="303580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95944" y="341985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TEST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2715768"/>
            <a:ext cx="841248" cy="1115568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36992" y="4270248"/>
            <a:ext cx="2523744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17536" y="4517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environnements différents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Pourquoi Docker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2542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Environnements incohérents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Développement, test et production diffèrent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Versions parfois incompatibles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Erreurs difficiles à reproduire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AVANT 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71576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52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DEV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95944" y="303580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95944" y="341985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TEST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2715768"/>
            <a:ext cx="841248" cy="1115568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36992" y="4270248"/>
            <a:ext cx="2523744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17536" y="4517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environnements différents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Pourquoi Docker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4632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« It works on my machine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 poste local cache le vrai problème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La production n’a pas les mêmes réglages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 diagnostic prend du temps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AVANT 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71576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52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DEV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95944" y="303580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95944" y="341985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TEST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2715768"/>
            <a:ext cx="841248" cy="1115568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36992" y="4270248"/>
            <a:ext cx="2523744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17536" y="4517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environnements différents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Pourquoi Docker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67231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Besoin de portabilité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Emballer l’application avec ses dépendances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Déplacer le même paquet partout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Réduire les surprises au déploiement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AVANT 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71576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52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DEV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95944" y="303580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95944" y="341985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TEST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2715768"/>
            <a:ext cx="841248" cy="1115568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36992" y="4270248"/>
            <a:ext cx="2523744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17536" y="4517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environnements différents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Pourquoi Docker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8813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09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Besoin de rapidité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Installer moins de choses à la main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Démarrer en quelques secondes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Tester plus souvent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AVANT 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71576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52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DEV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95944" y="303580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95944" y="341985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TEST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2715768"/>
            <a:ext cx="841248" cy="1115568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36992" y="4270248"/>
            <a:ext cx="2523744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17536" y="4517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environnements différents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Pourquoi Docker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20904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Besoin de standardisation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Même format pour livrer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Mêmes commandes pour exécuter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Pipeline CI/CD plus simple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AVANT 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71576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52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DEV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95944" y="3035808"/>
            <a:ext cx="841248" cy="111556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95944" y="341985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74EA6"/>
                </a:solidFill>
                <a:latin typeface="Aptos"/>
              </a:rPr>
              <a:t>TEST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2715768"/>
            <a:ext cx="841248" cy="1115568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309981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36992" y="4270248"/>
            <a:ext cx="2523744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17536" y="45171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environnements différents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Conteneurisation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2.2 Conteneurisation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32994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Définition de la conteneurisation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Isoler une application dans un conteneur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Inclure ses dépendances utiles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Partager le noyau de la machine hôte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CONTENEURS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99248" y="2304288"/>
            <a:ext cx="2971800" cy="2834640"/>
          </a:xfrm>
          <a:prstGeom prst="roundRect">
            <a:avLst/>
          </a:prstGeom>
          <a:solidFill>
            <a:srgbClr val="F0F6FF"/>
          </a:solidFill>
          <a:ln w="1778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73568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8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23375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23375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73183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73183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73568" y="4361688"/>
            <a:ext cx="2103120" cy="29260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3568" y="4453128"/>
            <a:ext cx="21031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Conteneurisation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2.2 Conteneurisation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45084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Conteneur vs machine virtuelle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Une VM embarque un OS complet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Un conteneur partage le noyau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 conteneur est souvent plus léger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COMPARER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2340864"/>
            <a:ext cx="1316736" cy="2615184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2596896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4EA6"/>
                </a:solidFill>
                <a:latin typeface="Aptos"/>
              </a:rPr>
              <a:t>VM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36992" y="3035808"/>
            <a:ext cx="804672" cy="201168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36992" y="3364992"/>
            <a:ext cx="804672" cy="201168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36992" y="3694176"/>
            <a:ext cx="804672" cy="201168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36992" y="4023360"/>
            <a:ext cx="804672" cy="201168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509760" y="2340864"/>
            <a:ext cx="1316736" cy="2615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0" y="2596896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4EA6"/>
                </a:solidFill>
                <a:latin typeface="Aptos"/>
              </a:rPr>
              <a:t>Conteneur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65792" y="3035808"/>
            <a:ext cx="804672" cy="201168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65792" y="3364992"/>
            <a:ext cx="804672" cy="201168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Conteneurisation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2.2 Conteneurisation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57175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Processus séparés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Système de fichiers isolé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Ressources contrôlables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CONTENEURS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99248" y="2304288"/>
            <a:ext cx="2971800" cy="2834640"/>
          </a:xfrm>
          <a:prstGeom prst="roundRect">
            <a:avLst/>
          </a:prstGeom>
          <a:solidFill>
            <a:srgbClr val="F0F6FF"/>
          </a:solidFill>
          <a:ln w="1778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73568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8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23375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23375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73183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73183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73568" y="4361688"/>
            <a:ext cx="2103120" cy="29260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3568" y="4453128"/>
            <a:ext cx="21031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Conteneurisation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2.2 Conteneurisation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69265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Légèreté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Pas d’OS complet par application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Images souvent petites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Moins de mémoire utilisée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CONTENEURS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99248" y="2304288"/>
            <a:ext cx="2971800" cy="2834640"/>
          </a:xfrm>
          <a:prstGeom prst="roundRect">
            <a:avLst/>
          </a:prstGeom>
          <a:solidFill>
            <a:srgbClr val="F0F6FF"/>
          </a:solidFill>
          <a:ln w="1778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73568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8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23375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23375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73183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73183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73568" y="4361688"/>
            <a:ext cx="2103120" cy="29260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3568" y="4453128"/>
            <a:ext cx="21031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Conteneurisation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2.2 Conteneurisation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81356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Démarrage rapide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Lancement en secondes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Cycle test plus court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Redémarrage simple après incident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CONTENEURS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99248" y="2304288"/>
            <a:ext cx="2971800" cy="2834640"/>
          </a:xfrm>
          <a:prstGeom prst="roundRect">
            <a:avLst/>
          </a:prstGeom>
          <a:solidFill>
            <a:srgbClr val="F0F6FF"/>
          </a:solidFill>
          <a:ln w="1778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73568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8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23375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23375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73183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73183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73568" y="4361688"/>
            <a:ext cx="2103120" cy="29260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3568" y="4453128"/>
            <a:ext cx="21031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Conteneurisation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2.2 Conteneurisation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934463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Cas d’usage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API web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Base de données de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Jobs batch et outils CLI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" y="503377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3232" y="499262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2688" y="519379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25322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517550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Environnements de formation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CONTENEURS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99248" y="2304288"/>
            <a:ext cx="2971800" cy="2834640"/>
          </a:xfrm>
          <a:prstGeom prst="roundRect">
            <a:avLst/>
          </a:prstGeom>
          <a:solidFill>
            <a:srgbClr val="F0F6FF"/>
          </a:solidFill>
          <a:ln w="1778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73568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23375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23375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73183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73183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73568" y="4361688"/>
            <a:ext cx="2103120" cy="29260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4453128"/>
            <a:ext cx="21031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Conteneurisation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2.2 Conteneurisation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05536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Avantages clés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Portabilité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Reproductibilité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Déploiements plus prévisibles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" y="503377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3232" y="499262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2688" y="519379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25322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517550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Meilleure isolation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CONTENEURS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99248" y="2304288"/>
            <a:ext cx="2971800" cy="2834640"/>
          </a:xfrm>
          <a:prstGeom prst="roundRect">
            <a:avLst/>
          </a:prstGeom>
          <a:solidFill>
            <a:srgbClr val="F0F6FF"/>
          </a:solidFill>
          <a:ln w="1778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73568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23375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23375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73183" y="2852928"/>
            <a:ext cx="585216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73183" y="3310128"/>
            <a:ext cx="5852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73568" y="4361688"/>
            <a:ext cx="2103120" cy="29260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4453128"/>
            <a:ext cx="21031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noyau partagé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2.3 Installation de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17627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Moteur principal de Docker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Gère images, conteneurs et réseaux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Expose une API et une CLI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32" name="Oval 31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2.3 Installation de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29717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19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Desktop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Application graphique pour poste de travail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Inclut Docker Engine et Compose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Pratique sur Windows et macOS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32" name="Oval 31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2.3 Installation de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41808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Installation Linux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Installer depuis le dépôt officiel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Activer le service Docker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Ajouter l’utilisateur au groupe si besoin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32" name="Oval 31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2.3 Installation de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53898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Installation Windows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Installer Docker Desktop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Activer WSL 2 si demandé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Redémarrer puis tester la CLI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32" name="Oval 31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2.3 Installation de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65988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Installation macOS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Installer Docker Desktop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Choisir la version Intel ou Apple Silicon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Lancer Docker avant la CLI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32" name="Oval 31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2.3 Installation de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78079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Vérification de l’installation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Contrôler que le service répond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Lancer un conteneur de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Valider les droits utilisateur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32" name="Oval 31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2.3 Installation de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290169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Commande docker --version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Affiche la version installée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Confirme que la CLI est disponible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Premier test rapide après installation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--version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02260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pull télécharge une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Récupère une image depuis un registre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Prépare un futur lancement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Utilise Docker Hub par défaut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pull nginx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14350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run lance un conteneur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Crée un conteneur depuis une image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Démarre le processus principal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Télécharge l’image si elle manque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run nginx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26440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run -it ouvre un mode interactif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Connecte le terminal au conteneur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Utile pour explorer ou déboguer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Souvent utilisé avec une image Linux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run -it ubuntu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38531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run -p publie un 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Relie un port local au conteneur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Rend un service accessible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Format courant : hôte:conteneur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run -p 8080:80 nginx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50621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29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run -d lance en arrière-plan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Détache le conteneur du terminal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Retourne un identifiant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Pratique pour les services longs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run -d nginx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62712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run -v monte un stockage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Connecte un volume ou un dossier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Conserve les données importantes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Sépare données et conteneur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docker run -v data:/app/data nginx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74802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ps liste les conteneurs actifs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Affiche les conteneurs en cours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Montre ports, noms et statuts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Très utile pour diagnostiquer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ps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868927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ps -a liste tout l’historique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Inclut les conteneurs arrêtés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Aide à comprendre les échecs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Permet de retrouver un ancien conteneur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ps -a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398983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inspect affiche les détails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Retourne la configuration complète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Montre réseau, volumes et variables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Sortie détaillée en JSON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inspect &lt;conteneur&gt;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11073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logs lit la sortie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Affiche les logs du conteneur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Aide au diagnostic rapide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Suit la sortie de l’application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logs &lt;conteneur&gt;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23164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exec exécute dans un conteneur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Lance une commande dans un conteneur actif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Utile pour vérifier l’état interne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À utiliser avec prudence en production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exec -it &lt;conteneur&gt; sh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35254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stop arrête proprement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Demande l’arrêt du processus principal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Laisse le conteneur exister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Évite de tuer brutalement le service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stop &lt;conteneur&gt;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47344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rm supprime un conteneur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Supprime un conteneur arrêté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Libère de l’espace et de la liste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Ne supprime pas l’image utilisée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rm &lt;conteneur&gt;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59435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images liste les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Affiche les images locales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Montre tags, tailles et identifiants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Aide à nettoyer le poste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images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Commandes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71525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39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rmi supprime une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Supprime une image locale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Possible si aucun conteneur ne l’utilise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Libère de l’espace disque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rmi &lt;image&gt;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2.5 Réseaux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83616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Réseau par défaut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Docker crée un réseau automatiquement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conteneurs peuvent sortir vers Internet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La configuration suffit pour les tests simples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RÉSEAU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202168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17152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02168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217152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02168" y="3447288"/>
            <a:ext cx="2029968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988552" y="2276856"/>
            <a:ext cx="457200" cy="457200"/>
          </a:xfrm>
          <a:prstGeom prst="ellipse">
            <a:avLst/>
          </a:prstGeom>
          <a:solidFill>
            <a:srgbClr val="0B63CE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73568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03536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88552" y="4178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2.5 Réseaux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495706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Driver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Réseau local isolé sur l’hôte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Mode par défaut le plus courant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Idéal pour relier plusieurs conteneurs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RÉSEAU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202168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17152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02168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217152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02168" y="3447288"/>
            <a:ext cx="2029968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988552" y="2276856"/>
            <a:ext cx="457200" cy="457200"/>
          </a:xfrm>
          <a:prstGeom prst="ellipse">
            <a:avLst/>
          </a:prstGeom>
          <a:solidFill>
            <a:srgbClr val="0B63CE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73568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03536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88552" y="4178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2.5 Réseaux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507796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Driver 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 conteneur partage le réseau de l’hôte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Moins d’isolation réseau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Utile pour certains besoins de performance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RÉSEAU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202168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17152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02168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217152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02168" y="3447288"/>
            <a:ext cx="2029968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988552" y="2276856"/>
            <a:ext cx="457200" cy="457200"/>
          </a:xfrm>
          <a:prstGeom prst="ellipse">
            <a:avLst/>
          </a:prstGeom>
          <a:solidFill>
            <a:srgbClr val="0B63CE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73568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03536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88552" y="4178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2.5 Réseaux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519887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Autres drivers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overlay pour plusieurs hôtes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macvlan pour une IP dédiée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none pour couper le réseau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RÉSEAU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202168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17152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02168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217152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02168" y="3447288"/>
            <a:ext cx="2029968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988552" y="2276856"/>
            <a:ext cx="457200" cy="457200"/>
          </a:xfrm>
          <a:prstGeom prst="ellipse">
            <a:avLst/>
          </a:prstGeom>
          <a:solidFill>
            <a:srgbClr val="0B63CE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73568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03536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88552" y="4178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2.5 Réseaux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531977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Réseau personnalisé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Nommer son réseau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Mieux isoler les applications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Faciliter la communication par nom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RÉSEAU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202168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17152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02168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217152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02168" y="3447288"/>
            <a:ext cx="2029968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988552" y="2276856"/>
            <a:ext cx="457200" cy="457200"/>
          </a:xfrm>
          <a:prstGeom prst="ellipse">
            <a:avLst/>
          </a:prstGeom>
          <a:solidFill>
            <a:srgbClr val="0B63CE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73568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03536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88552" y="4178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2.5 Réseaux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544068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Communication entre conteneurs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services partagent un réseau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Ils s’appellent par nom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ports internes restent simples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RÉSEAU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202168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17152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02168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217152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02168" y="3447288"/>
            <a:ext cx="2029968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988552" y="2276856"/>
            <a:ext cx="457200" cy="457200"/>
          </a:xfrm>
          <a:prstGeom prst="ellipse">
            <a:avLst/>
          </a:prstGeom>
          <a:solidFill>
            <a:srgbClr val="0B63CE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73568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03536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88552" y="4178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2.5 Réseaux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556158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DNS intégré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Docker résout les noms de conteneurs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Pas besoin d’IP fixes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noms restent plus lisibles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RÉSEAU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202168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17152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02168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217152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02168" y="3447288"/>
            <a:ext cx="2029968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988552" y="2276856"/>
            <a:ext cx="457200" cy="457200"/>
          </a:xfrm>
          <a:prstGeom prst="ellipse">
            <a:avLst/>
          </a:prstGeom>
          <a:solidFill>
            <a:srgbClr val="0B63CE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73568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03536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88552" y="4178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2.5 Réseaux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568248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Cas pratiques réseau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API reliée à une base de données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Proxy devant plusieurs services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Environnement de test isolé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RÉSEAU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202168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17152" y="2505456"/>
            <a:ext cx="1014984" cy="941832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02168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217152" y="3447288"/>
            <a:ext cx="1014984" cy="96012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02168" y="3447288"/>
            <a:ext cx="2029968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988552" y="2276856"/>
            <a:ext cx="457200" cy="457200"/>
          </a:xfrm>
          <a:prstGeom prst="ellipse">
            <a:avLst/>
          </a:prstGeom>
          <a:solidFill>
            <a:srgbClr val="0B63CE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73568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03536" y="321868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88552" y="4178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580339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Qu’est-ce qu’une image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Modèle immuable d’un conteneur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Contient application et dépendances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Se partage via un registre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592429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49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Structure en couches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Chaque étape ajoute une couche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couches sont mises en cache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couches communes sont réutilisées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04520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Fichier texte de construction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Décrit l’image étape par étape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Rend la création reproductible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16610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Instructions Dockerfile essentielles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FROM choisit l’image de 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RUN exécute une étape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COPY ajoute des fichiers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" y="503377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3232" y="499262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2688" y="519379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25322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517550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CMD définit le démarrage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28700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Processus de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Docker lit le Dockerfile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Construit les couches dans l’ordre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Produit une image locale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40791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Moteur de construction des images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Utilise le cache pour accélérer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Supporte des builds plus avancés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52881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Multi-stage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Sépare compilation et exécution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Copie seulement le résultat utile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Réduit fortement la taille finale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64972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Optimisation des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Choisir une base adaptée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Réduire les fichiers inutiles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Regrouper les étapes cohérentes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77062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Taguer une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Donne un nom lisible à l’image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Ajoute une version claire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Facilite push, pull et rollback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2.6 Images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689152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Bonnes pratiques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Éviter les secrets dans l’image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Utiliser des tags explicites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Scanner les vulnérabilités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" y="503377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3232" y="499262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2688" y="519379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25322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517550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Documenter le démarrage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IMAGE DOCKER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99831" y="2505456"/>
            <a:ext cx="2834640" cy="310896"/>
          </a:xfrm>
          <a:prstGeom prst="roundRect">
            <a:avLst/>
          </a:prstGeom>
          <a:solidFill>
            <a:srgbClr val="0B63CE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99831" y="2592324"/>
            <a:ext cx="28346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app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27848" y="2944368"/>
            <a:ext cx="2578608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7848" y="3031236"/>
            <a:ext cx="257860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deps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55863" y="3383280"/>
            <a:ext cx="2322576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55863" y="3470148"/>
            <a:ext cx="232257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runtime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80" y="3822192"/>
            <a:ext cx="2066543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80" y="3909060"/>
            <a:ext cx="2066543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11896" y="4261104"/>
            <a:ext cx="1810512" cy="310896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11896" y="4347972"/>
            <a:ext cx="1810512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base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01243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Qu’est-ce que Docker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Plateforme de partage d’images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Permet de publier et télécharger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Très utilisée par la communauté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REGISTRE</a:t>
            </a:r>
          </a:p>
        </p:txBody>
      </p:sp>
      <p:sp>
        <p:nvSpPr>
          <p:cNvPr id="32" name="Cloud 31"/>
          <p:cNvSpPr/>
          <p:nvPr/>
        </p:nvSpPr>
        <p:spPr>
          <a:xfrm>
            <a:off x="8174736" y="2377440"/>
            <a:ext cx="2029968" cy="1143000"/>
          </a:xfrm>
          <a:prstGeom prst="cloud">
            <a:avLst/>
          </a:prstGeom>
          <a:solidFill>
            <a:srgbClr val="F0F6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5904" y="283464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74EA6"/>
                </a:solidFill>
                <a:latin typeface="Aptos"/>
              </a:rPr>
              <a:t>HUB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882128" y="4041648"/>
            <a:ext cx="822960" cy="310896"/>
          </a:xfrm>
          <a:prstGeom prst="righ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9248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pull</a:t>
            </a:r>
          </a:p>
        </p:txBody>
      </p:sp>
      <p:sp>
        <p:nvSpPr>
          <p:cNvPr id="36" name="Left Arrow 35"/>
          <p:cNvSpPr/>
          <p:nvPr/>
        </p:nvSpPr>
        <p:spPr>
          <a:xfrm>
            <a:off x="9939528" y="4041648"/>
            <a:ext cx="822960" cy="310896"/>
          </a:xfrm>
          <a:prstGeom prst="lef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push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13333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59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Registre 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Images accessibles depuis Internet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Pratique pour les projets ouverts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À éviter pour les contenus sensibles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REGISTRE</a:t>
            </a:r>
          </a:p>
        </p:txBody>
      </p:sp>
      <p:sp>
        <p:nvSpPr>
          <p:cNvPr id="32" name="Cloud 31"/>
          <p:cNvSpPr/>
          <p:nvPr/>
        </p:nvSpPr>
        <p:spPr>
          <a:xfrm>
            <a:off x="8174736" y="2377440"/>
            <a:ext cx="2029968" cy="1143000"/>
          </a:xfrm>
          <a:prstGeom prst="cloud">
            <a:avLst/>
          </a:prstGeom>
          <a:solidFill>
            <a:srgbClr val="F0F6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5904" y="283464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74EA6"/>
                </a:solidFill>
                <a:latin typeface="Aptos"/>
              </a:rPr>
              <a:t>HUB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882128" y="4041648"/>
            <a:ext cx="822960" cy="310896"/>
          </a:xfrm>
          <a:prstGeom prst="righ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9248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pull</a:t>
            </a:r>
          </a:p>
        </p:txBody>
      </p:sp>
      <p:sp>
        <p:nvSpPr>
          <p:cNvPr id="36" name="Left Arrow 35"/>
          <p:cNvSpPr/>
          <p:nvPr/>
        </p:nvSpPr>
        <p:spPr>
          <a:xfrm>
            <a:off x="9939528" y="4041648"/>
            <a:ext cx="822960" cy="310896"/>
          </a:xfrm>
          <a:prstGeom prst="lef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push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25424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Créer un compte Docker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Compte nécessaire pour publier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Identifiant utilisé dans les noms d’images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Accès aux dépôts personnels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REGISTRE</a:t>
            </a:r>
          </a:p>
        </p:txBody>
      </p:sp>
      <p:sp>
        <p:nvSpPr>
          <p:cNvPr id="32" name="Cloud 31"/>
          <p:cNvSpPr/>
          <p:nvPr/>
        </p:nvSpPr>
        <p:spPr>
          <a:xfrm>
            <a:off x="8174736" y="2377440"/>
            <a:ext cx="2029968" cy="1143000"/>
          </a:xfrm>
          <a:prstGeom prst="cloud">
            <a:avLst/>
          </a:prstGeom>
          <a:solidFill>
            <a:srgbClr val="F0F6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5904" y="283464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74EA6"/>
                </a:solidFill>
                <a:latin typeface="Aptos"/>
              </a:rPr>
              <a:t>HUB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882128" y="4041648"/>
            <a:ext cx="822960" cy="310896"/>
          </a:xfrm>
          <a:prstGeom prst="righ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9248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pull</a:t>
            </a:r>
          </a:p>
        </p:txBody>
      </p:sp>
      <p:sp>
        <p:nvSpPr>
          <p:cNvPr id="36" name="Left Arrow 35"/>
          <p:cNvSpPr/>
          <p:nvPr/>
        </p:nvSpPr>
        <p:spPr>
          <a:xfrm>
            <a:off x="9939528" y="4041648"/>
            <a:ext cx="822960" cy="310896"/>
          </a:xfrm>
          <a:prstGeom prst="lef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push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37514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Créer un dépôt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Un dépôt regroupe les tags d’une image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Nom stable pour l’équipe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Visibilité publique ou privée selon besoin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REGISTRE</a:t>
            </a:r>
          </a:p>
        </p:txBody>
      </p:sp>
      <p:sp>
        <p:nvSpPr>
          <p:cNvPr id="32" name="Cloud 31"/>
          <p:cNvSpPr/>
          <p:nvPr/>
        </p:nvSpPr>
        <p:spPr>
          <a:xfrm>
            <a:off x="8174736" y="2377440"/>
            <a:ext cx="2029968" cy="1143000"/>
          </a:xfrm>
          <a:prstGeom prst="cloud">
            <a:avLst/>
          </a:prstGeom>
          <a:solidFill>
            <a:srgbClr val="F0F6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5904" y="283464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74EA6"/>
                </a:solidFill>
                <a:latin typeface="Aptos"/>
              </a:rPr>
              <a:t>HUB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882128" y="4041648"/>
            <a:ext cx="822960" cy="310896"/>
          </a:xfrm>
          <a:prstGeom prst="righ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9248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pull</a:t>
            </a:r>
          </a:p>
        </p:txBody>
      </p:sp>
      <p:sp>
        <p:nvSpPr>
          <p:cNvPr id="36" name="Left Arrow 35"/>
          <p:cNvSpPr/>
          <p:nvPr/>
        </p:nvSpPr>
        <p:spPr>
          <a:xfrm>
            <a:off x="9939528" y="4041648"/>
            <a:ext cx="822960" cy="310896"/>
          </a:xfrm>
          <a:prstGeom prst="lef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push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49604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login authentifie la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Connecte le terminal au compte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Autorise push et accès privé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À protéger sur les postes partagés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login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61695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push publie une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Envoie l’image vers le registre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Nécessite un tag complet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Rend l’image disponible à l’équipe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push user/app:1.0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737855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pull depuis Docker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Télécharge une image publiée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Utilise le tag demandé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Permet un déploiement reproductible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pull nginx:latest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85876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Images officielles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Maintenues par des sources reconnues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Bon point de départ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Lire la documentation avant usage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REGISTRE</a:t>
            </a:r>
          </a:p>
        </p:txBody>
      </p:sp>
      <p:sp>
        <p:nvSpPr>
          <p:cNvPr id="32" name="Cloud 31"/>
          <p:cNvSpPr/>
          <p:nvPr/>
        </p:nvSpPr>
        <p:spPr>
          <a:xfrm>
            <a:off x="8174736" y="2377440"/>
            <a:ext cx="2029968" cy="1143000"/>
          </a:xfrm>
          <a:prstGeom prst="cloud">
            <a:avLst/>
          </a:prstGeom>
          <a:solidFill>
            <a:srgbClr val="F0F6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5904" y="283464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74EA6"/>
                </a:solidFill>
                <a:latin typeface="Aptos"/>
              </a:rPr>
              <a:t>HUB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882128" y="4041648"/>
            <a:ext cx="822960" cy="310896"/>
          </a:xfrm>
          <a:prstGeom prst="righ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9248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pull</a:t>
            </a:r>
          </a:p>
        </p:txBody>
      </p:sp>
      <p:sp>
        <p:nvSpPr>
          <p:cNvPr id="36" name="Left Arrow 35"/>
          <p:cNvSpPr/>
          <p:nvPr/>
        </p:nvSpPr>
        <p:spPr>
          <a:xfrm>
            <a:off x="9939528" y="4041648"/>
            <a:ext cx="822960" cy="310896"/>
          </a:xfrm>
          <a:prstGeom prst="lef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push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2.7 Docker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797966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Bonnes pratiques de publication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Publier des tags versionnés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Ne jamais pousser de secrets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Ajouter une description utile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" y="503377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3232" y="499262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2688" y="519379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25322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517550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Scanner avant diffusion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REGISTRE</a:t>
            </a:r>
          </a:p>
        </p:txBody>
      </p:sp>
      <p:sp>
        <p:nvSpPr>
          <p:cNvPr id="37" name="Cloud 36"/>
          <p:cNvSpPr/>
          <p:nvPr/>
        </p:nvSpPr>
        <p:spPr>
          <a:xfrm>
            <a:off x="8174736" y="2377440"/>
            <a:ext cx="2029968" cy="1143000"/>
          </a:xfrm>
          <a:prstGeom prst="cloud">
            <a:avLst/>
          </a:prstGeom>
          <a:solidFill>
            <a:srgbClr val="F0F6FF"/>
          </a:solidFill>
          <a:ln w="1778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283464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74EA6"/>
                </a:solidFill>
                <a:latin typeface="Aptos"/>
              </a:rPr>
              <a:t>HUB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882128" y="4041648"/>
            <a:ext cx="822960" cy="310896"/>
          </a:xfrm>
          <a:prstGeom prst="righ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9248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pull</a:t>
            </a:r>
          </a:p>
        </p:txBody>
      </p:sp>
      <p:sp>
        <p:nvSpPr>
          <p:cNvPr id="41" name="Left Arrow 40"/>
          <p:cNvSpPr/>
          <p:nvPr/>
        </p:nvSpPr>
        <p:spPr>
          <a:xfrm>
            <a:off x="9939528" y="4041648"/>
            <a:ext cx="822960" cy="310896"/>
          </a:xfrm>
          <a:prstGeom prst="leftArrow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9216" y="4480560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push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10056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Problème de la persistance des données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Un conteneur peut être supprimé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données internes peuvent disparaître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 stockage doit être séparé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PERSISTANCE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2715768"/>
            <a:ext cx="118872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1729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conteneur</a:t>
            </a:r>
          </a:p>
        </p:txBody>
      </p:sp>
      <p:sp>
        <p:nvSpPr>
          <p:cNvPr id="34" name="Can 33"/>
          <p:cNvSpPr/>
          <p:nvPr/>
        </p:nvSpPr>
        <p:spPr>
          <a:xfrm>
            <a:off x="9482328" y="2596896"/>
            <a:ext cx="1024128" cy="1444752"/>
          </a:xfrm>
          <a:prstGeom prst="can">
            <a:avLst/>
          </a:prstGeom>
          <a:solidFill>
            <a:srgbClr val="F0F6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961120" y="3310128"/>
            <a:ext cx="521208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482328" y="4261104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volume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22147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Volumes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Stockage géré par Docker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Indépendant du cycle du conteneur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Bon choix pour les données applicatives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PERSISTANCE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2715768"/>
            <a:ext cx="118872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1729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conteneur</a:t>
            </a:r>
          </a:p>
        </p:txBody>
      </p:sp>
      <p:sp>
        <p:nvSpPr>
          <p:cNvPr id="34" name="Can 33"/>
          <p:cNvSpPr/>
          <p:nvPr/>
        </p:nvSpPr>
        <p:spPr>
          <a:xfrm>
            <a:off x="9482328" y="2596896"/>
            <a:ext cx="1024128" cy="1444752"/>
          </a:xfrm>
          <a:prstGeom prst="can">
            <a:avLst/>
          </a:prstGeom>
          <a:solidFill>
            <a:srgbClr val="F0F6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961120" y="3310128"/>
            <a:ext cx="521208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482328" y="4261104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volume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34237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69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Bind mounts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Montent un dossier de l’hôte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Très utiles en développement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Dépendent du chemin local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PERSISTANCE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2715768"/>
            <a:ext cx="118872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1729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conteneur</a:t>
            </a:r>
          </a:p>
        </p:txBody>
      </p:sp>
      <p:sp>
        <p:nvSpPr>
          <p:cNvPr id="34" name="Can 33"/>
          <p:cNvSpPr/>
          <p:nvPr/>
        </p:nvSpPr>
        <p:spPr>
          <a:xfrm>
            <a:off x="9482328" y="2596896"/>
            <a:ext cx="1024128" cy="1444752"/>
          </a:xfrm>
          <a:prstGeom prst="can">
            <a:avLst/>
          </a:prstGeom>
          <a:solidFill>
            <a:srgbClr val="F0F6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961120" y="3310128"/>
            <a:ext cx="521208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482328" y="4261104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volume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46328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Différences volume vs bind 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Volume : géré par Docker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Bind mount : chemin de la machine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Choisir selon portabilité et contrôle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PERSISTANCE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2715768"/>
            <a:ext cx="118872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1729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conteneur</a:t>
            </a:r>
          </a:p>
        </p:txBody>
      </p:sp>
      <p:sp>
        <p:nvSpPr>
          <p:cNvPr id="34" name="Can 33"/>
          <p:cNvSpPr/>
          <p:nvPr/>
        </p:nvSpPr>
        <p:spPr>
          <a:xfrm>
            <a:off x="9482328" y="2596896"/>
            <a:ext cx="1024128" cy="1444752"/>
          </a:xfrm>
          <a:prstGeom prst="can">
            <a:avLst/>
          </a:prstGeom>
          <a:solidFill>
            <a:srgbClr val="F0F6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961120" y="3310128"/>
            <a:ext cx="521208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482328" y="4261104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volume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58418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Créer un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Prépare un espace persistant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Nom simple à réutiliser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Peut être partagé par plusieurs conteneurs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volume create app_data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70508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Lister les volumes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Affiche les volumes existants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Aide à vérifier les ressources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Utile avant un nettoyage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volume ls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82599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Utiliser un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Monte le volume dans le conteneur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Garde les données après arrêt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Sépare état et exécution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docker run -v app_data:/data nginx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894689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Inspecter un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Affiche le point de montage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Montre le driver utilisé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Aide à diagnostiquer le stockage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volume inspect app_data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06780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Supprimer un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Efface un stockage inutilisé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À faire avec prudence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Peut supprimer des données importantes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volume rm app_data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2.8 Stockage sur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18870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Cas pratiques de stockage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Base de données locale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Dossier de code en développement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Cache partagé entre builds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PERSISTANCE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2715768"/>
            <a:ext cx="118872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1729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074EA6"/>
                </a:solidFill>
                <a:latin typeface="Aptos"/>
              </a:rPr>
              <a:t>conteneur</a:t>
            </a:r>
          </a:p>
        </p:txBody>
      </p:sp>
      <p:sp>
        <p:nvSpPr>
          <p:cNvPr id="34" name="Can 33"/>
          <p:cNvSpPr/>
          <p:nvPr/>
        </p:nvSpPr>
        <p:spPr>
          <a:xfrm>
            <a:off x="9482328" y="2596896"/>
            <a:ext cx="1024128" cy="1444752"/>
          </a:xfrm>
          <a:prstGeom prst="can">
            <a:avLst/>
          </a:prstGeom>
          <a:solidFill>
            <a:srgbClr val="F0F6FF"/>
          </a:solidFill>
          <a:ln w="1651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961120" y="3310128"/>
            <a:ext cx="521208" cy="0"/>
          </a:xfrm>
          <a:prstGeom prst="line">
            <a:avLst/>
          </a:prstGeom>
          <a:ln w="27940">
            <a:solidFill>
              <a:srgbClr val="0B6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482328" y="4261104"/>
            <a:ext cx="1024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Aptos"/>
              </a:rPr>
              <a:t>volume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30960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Qu’est-ce que Docker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Outil pour décrire plusieurs 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Utilise un fichier YAML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Pilote l’ensemble avec une seule CLI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MULTI-SERVICES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87968" y="2441448"/>
            <a:ext cx="841248" cy="512064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87968" y="2615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072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072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6520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6520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853135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30859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31352" y="3840480"/>
            <a:ext cx="1554480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385048" y="4663440"/>
            <a:ext cx="1682496" cy="292608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85048" y="4754880"/>
            <a:ext cx="168249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>
                <a:solidFill>
                  <a:srgbClr val="074EA6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43051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Pourquoi Docker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Évite les longues commandes répétées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Regroupe configuration et dépendances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Facilite le travail en équipe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MULTI-SERVICES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87968" y="2441448"/>
            <a:ext cx="841248" cy="512064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87968" y="2615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072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072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6520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6520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853135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30859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31352" y="3840480"/>
            <a:ext cx="1554480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385048" y="4663440"/>
            <a:ext cx="1682496" cy="292608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85048" y="4754880"/>
            <a:ext cx="168249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>
                <a:solidFill>
                  <a:srgbClr val="074EA6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55141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79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Fichier compose.yaml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Fichier central du projet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Décrit services, réseaux et volumes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Versionnable avec le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MULTI-SERVICES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87968" y="2441448"/>
            <a:ext cx="841248" cy="512064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87968" y="2615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072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072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6520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6520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853135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30859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31352" y="3840480"/>
            <a:ext cx="1554480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385048" y="4663440"/>
            <a:ext cx="1682496" cy="292608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85048" y="4754880"/>
            <a:ext cx="168249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>
                <a:solidFill>
                  <a:srgbClr val="074EA6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67232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Structure du fichier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services pour les conteneurs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networks pour la communication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volumes pour les données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MULTI-SERVICES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87968" y="2441448"/>
            <a:ext cx="841248" cy="512064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87968" y="2615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072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072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6520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6520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853135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30859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31352" y="3840480"/>
            <a:ext cx="1554480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385048" y="4663440"/>
            <a:ext cx="1682496" cy="292608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85048" y="4754880"/>
            <a:ext cx="168249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>
                <a:solidFill>
                  <a:srgbClr val="074EA6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79322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81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Un service décrit un type de conteneur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Peut définir image, build et 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Peut dépendre d’autres services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MULTI-SERVICES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87968" y="2441448"/>
            <a:ext cx="841248" cy="512064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87968" y="2615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072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072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6520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6520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853135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30859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31352" y="3840480"/>
            <a:ext cx="1554480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385048" y="4663440"/>
            <a:ext cx="1682496" cy="292608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85048" y="4754880"/>
            <a:ext cx="168249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>
                <a:solidFill>
                  <a:srgbClr val="074EA6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9914128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82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Networks dans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Compose crée un réseau par projet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services se joignent par nom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réseaux peuvent être personnalisés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MULTI-SERVICES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87968" y="2441448"/>
            <a:ext cx="841248" cy="512064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87968" y="2615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072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072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6520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6520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853135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30859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31352" y="3840480"/>
            <a:ext cx="1554480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385048" y="4663440"/>
            <a:ext cx="1682496" cy="292608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85048" y="4754880"/>
            <a:ext cx="168249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>
                <a:solidFill>
                  <a:srgbClr val="074EA6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03503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83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Volumes dans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Déclarent les données persistantes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Se montent dans les services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Rendent l’environnement reproductible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MULTI-SERVICES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87968" y="2441448"/>
            <a:ext cx="841248" cy="512064"/>
          </a:xfrm>
          <a:prstGeom prst="roundRect">
            <a:avLst/>
          </a:prstGeom>
          <a:solidFill>
            <a:srgbClr val="0B63CE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87968" y="2615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072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072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65208" y="3584448"/>
            <a:ext cx="841248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65208" y="3758184"/>
            <a:ext cx="841248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74EA6"/>
                </a:solidFill>
                <a:latin typeface="Aptos"/>
              </a:rPr>
              <a:t>db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853135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308592" y="2697480"/>
            <a:ext cx="777240" cy="114300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31352" y="3840480"/>
            <a:ext cx="1554480" cy="0"/>
          </a:xfrm>
          <a:prstGeom prst="line">
            <a:avLst/>
          </a:prstGeom>
          <a:ln w="254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385048" y="4663440"/>
            <a:ext cx="1682496" cy="292608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85048" y="4754880"/>
            <a:ext cx="1682496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>
                <a:solidFill>
                  <a:srgbClr val="074EA6"/>
                </a:solidFill>
                <a:latin typeface="Aptos"/>
              </a:rPr>
              <a:t>compose.yaml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15593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84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compose build construit les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Construit les services avec build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Utilise les Dockerfile du projet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Prépare un lancement cohérent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compose build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27684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85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compose up démarre le projet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Lance tous les services nécessaires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Crée réseaux et volumes manquants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Affiche les logs par défaut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compose up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397744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86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compose down arrête le projet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Arrête les 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Supprime les conteneurs du projet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Garde les volumes sauf option contraire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compose down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518647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87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compose ps affiche les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Liste l’état des conteneurs Compose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Montre ports et noms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Aide au diagnostic rapide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compose ps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2.9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639552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88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docker compose logs lit les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Regroupe les sorties des 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Permet de suivre un service précis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Très utile pendant le debug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COMMANDE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2944" y="2651760"/>
            <a:ext cx="3328416" cy="2121408"/>
          </a:xfrm>
          <a:prstGeom prst="roundRect">
            <a:avLst/>
          </a:prstGeom>
          <a:solidFill>
            <a:srgbClr val="07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651760"/>
            <a:ext cx="3328416" cy="347472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5528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60" y="277977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34198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CEBFF"/>
                </a:solidFill>
                <a:latin typeface="Consolas"/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419856"/>
            <a:ext cx="25054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docker compose logs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Vue d’ensemble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760456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89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Synthèse des bonnes pratiques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Images petites et versionnées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Données stockées hors conteneur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Commandes automatisées avec Compose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" y="503377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3232" y="499262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2688" y="519379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25322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517550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Secrets jamais dans les images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VUE D’ENSEMBLE</a:t>
            </a:r>
          </a:p>
        </p:txBody>
      </p:sp>
      <p:sp>
        <p:nvSpPr>
          <p:cNvPr id="37" name="Oval 36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38912"/>
            <a:ext cx="1993392" cy="310896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2004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Vue d’ensemble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49377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2.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0972"/>
          </a:xfrm>
          <a:prstGeom prst="rect">
            <a:avLst/>
          </a:prstGeom>
          <a:solidFill>
            <a:srgbClr val="D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236208"/>
            <a:ext cx="10881360" cy="31089"/>
          </a:xfrm>
          <a:prstGeom prst="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Docker – Concepts, utilisation et bonnes pratiques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634593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B63CE"/>
                </a:solidFill>
                <a:latin typeface="Aptos"/>
              </a:rPr>
              <a:t>90 /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24128"/>
            <a:ext cx="6217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 Display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47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Aptos"/>
              </a:rPr>
              <a:t>1 slide = 1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" y="256489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52374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272491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8434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70662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Docker standardise l’exécution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" y="338785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34670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54787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730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52958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Les conteneurs rendent les tests rapides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" y="4210812"/>
            <a:ext cx="5715000" cy="658368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4"/>
            <a:ext cx="57150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370832"/>
            <a:ext cx="246888" cy="246888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430267"/>
            <a:ext cx="24688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352544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0F172A"/>
                </a:solidFill>
                <a:latin typeface="Aptos"/>
              </a:rPr>
              <a:t>Compose simplifie les applications multi-services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1271016"/>
            <a:ext cx="4315968" cy="4526280"/>
          </a:xfrm>
          <a:prstGeom prst="roundRect">
            <a:avLst/>
          </a:prstGeom>
          <a:solidFill>
            <a:srgbClr val="C7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207008"/>
            <a:ext cx="43159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0" y="1463040"/>
            <a:ext cx="585216" cy="109728"/>
          </a:xfrm>
          <a:prstGeom prst="roundRect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700784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VUE D’ENSEMBLE</a:t>
            </a:r>
          </a:p>
        </p:txBody>
      </p:sp>
      <p:sp>
        <p:nvSpPr>
          <p:cNvPr id="32" name="Oval 31"/>
          <p:cNvSpPr/>
          <p:nvPr/>
        </p:nvSpPr>
        <p:spPr>
          <a:xfrm>
            <a:off x="8211312" y="2624328"/>
            <a:ext cx="2011680" cy="2011680"/>
          </a:xfrm>
          <a:prstGeom prst="ellipse">
            <a:avLst/>
          </a:prstGeom>
          <a:solidFill>
            <a:srgbClr val="F0F6FF"/>
          </a:solidFill>
          <a:ln w="254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50224" y="3063240"/>
            <a:ext cx="1133856" cy="1133856"/>
          </a:xfrm>
          <a:prstGeom prst="ellipse">
            <a:avLst/>
          </a:prstGeom>
          <a:solidFill>
            <a:srgbClr val="0B6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0224" y="3374136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- Concepts, utilisation et bonnes pratiques</dc:title>
  <dc:subject>Cours Docker haut de gamme avec design unique</dc:subject>
  <dc:creator>OpenAI Codex</dc:creator>
  <cp:keywords>Docker, DevOps, cours, conteneurisation, Compose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